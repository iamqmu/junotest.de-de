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4" r:id="rId11"/>
  </p:sldMasterIdLst>
  <p:notesMasterIdLst>
    <p:notesMasterId r:id="rId15"/>
  </p:notesMasterIdLst>
  <p:sldIdLst>
    <p:sldId id="10356" r:id="rId12"/>
    <p:sldId id="10365" r:id="rId13"/>
    <p:sldId id="10362" r:id="rId14"/>
  </p:sldIdLst>
  <p:sldSz cx="12192000" cy="6858000"/>
  <p:notesSz cx="6858000" cy="9144000"/>
  <p:custDataLst>
    <p:custData r:id="rId3"/>
    <p:custData r:id="rId2"/>
    <p:custData r:id="rId8"/>
    <p:custData r:id="rId1"/>
    <p:custData r:id="rId7"/>
    <p:custData r:id="rId5"/>
    <p:custData r:id="rId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MP Initiative" id="{5B80BB5B-9FD0-4245-BFFA-25367115F8CE}">
          <p14:sldIdLst>
            <p14:sldId id="10356"/>
            <p14:sldId id="10365"/>
            <p14:sldId id="10362"/>
          </p14:sldIdLst>
        </p14:section>
        <p14:section name="Appendix" id="{4EEC3B9D-94C1-47B5-B1D4-CFDBA8532C8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5E5AB-0B24-4433-A6BA-D897511248F2}" v="1" dt="2020-08-06T16:26:37.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07" autoAdjust="0"/>
    <p:restoredTop sz="94825" autoAdjust="0"/>
  </p:normalViewPr>
  <p:slideViewPr>
    <p:cSldViewPr snapToGrid="0">
      <p:cViewPr varScale="1">
        <p:scale>
          <a:sx n="132" d="100"/>
          <a:sy n="132" d="100"/>
        </p:scale>
        <p:origin x="422" y="91"/>
      </p:cViewPr>
      <p:guideLst/>
    </p:cSldViewPr>
  </p:slideViewPr>
  <p:notesTextViewPr>
    <p:cViewPr>
      <p:scale>
        <a:sx n="75" d="100"/>
        <a:sy n="7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2.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customXml" Target="../customXml/item7.xml"/><Relationship Id="rId12" Type="http://schemas.openxmlformats.org/officeDocument/2006/relationships/slide" Target="slides/slide1.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5" Type="http://schemas.openxmlformats.org/officeDocument/2006/relationships/customXml" Target="../customXml/item5.xml"/><Relationship Id="rId15" Type="http://schemas.openxmlformats.org/officeDocument/2006/relationships/notesMaster" Target="notesMasters/notesMaster1.xml"/><Relationship Id="rId10" Type="http://schemas.openxmlformats.org/officeDocument/2006/relationships/customXml" Target="../customXml/item10.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solidFill>
              <a:schemeClr val="tx2">
                <a:alpha val="45000"/>
              </a:schemeClr>
            </a:solidFill>
            <a:ln>
              <a:noFill/>
            </a:ln>
          </c:spPr>
          <c:dPt>
            <c:idx val="0"/>
            <c:bubble3D val="0"/>
            <c:spPr>
              <a:solidFill>
                <a:schemeClr val="tx2">
                  <a:alpha val="60000"/>
                </a:schemeClr>
              </a:solidFill>
              <a:ln w="19050">
                <a:noFill/>
              </a:ln>
              <a:effectLst/>
            </c:spPr>
            <c:extLst>
              <c:ext xmlns:c16="http://schemas.microsoft.com/office/drawing/2014/chart" uri="{C3380CC4-5D6E-409C-BE32-E72D297353CC}">
                <c16:uniqueId val="{00000001-4B1E-4AE5-B43B-7B14773D529A}"/>
              </c:ext>
            </c:extLst>
          </c:dPt>
          <c:dPt>
            <c:idx val="1"/>
            <c:bubble3D val="0"/>
            <c:spPr>
              <a:solidFill>
                <a:schemeClr val="tx2">
                  <a:alpha val="45000"/>
                </a:schemeClr>
              </a:solidFill>
              <a:ln w="19050">
                <a:noFill/>
              </a:ln>
              <a:effectLst/>
            </c:spPr>
            <c:extLst>
              <c:ext xmlns:c16="http://schemas.microsoft.com/office/drawing/2014/chart" uri="{C3380CC4-5D6E-409C-BE32-E72D297353CC}">
                <c16:uniqueId val="{00000003-4B1E-4AE5-B43B-7B14773D529A}"/>
              </c:ext>
            </c:extLst>
          </c:dPt>
          <c:cat>
            <c:strRef>
              <c:f>Sheet1!$A$2:$A$3</c:f>
              <c:strCache>
                <c:ptCount val="2"/>
                <c:pt idx="0">
                  <c:v>a</c:v>
                </c:pt>
                <c:pt idx="1">
                  <c:v>b</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4B1E-4AE5-B43B-7B14773D529A}"/>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A5D-4D73-87A3-D3DA9573A0B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DA5D-4D73-87A3-D3DA9573A0BB}"/>
              </c:ext>
            </c:extLst>
          </c:dPt>
          <c:cat>
            <c:strRef>
              <c:f>Sheet1!$A$2:$A$3</c:f>
              <c:strCache>
                <c:ptCount val="2"/>
                <c:pt idx="0">
                  <c:v>a</c:v>
                </c:pt>
                <c:pt idx="1">
                  <c:v>b</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DA5D-4D73-87A3-D3DA9573A0B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FC7-4796-9029-3F4A90C309E9}"/>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CFC7-4796-9029-3F4A90C309E9}"/>
              </c:ext>
            </c:extLst>
          </c:dPt>
          <c:cat>
            <c:strRef>
              <c:f>Sheet1!$A$2:$A$3</c:f>
              <c:strCache>
                <c:ptCount val="2"/>
                <c:pt idx="0">
                  <c:v>a</c:v>
                </c:pt>
                <c:pt idx="1">
                  <c:v>b</c:v>
                </c:pt>
              </c:strCache>
            </c:strRef>
          </c:cat>
          <c:val>
            <c:numRef>
              <c:f>Sheet1!$B$2:$B$3</c:f>
              <c:numCache>
                <c:formatCode>0%</c:formatCode>
                <c:ptCount val="2"/>
                <c:pt idx="0">
                  <c:v>0.04</c:v>
                </c:pt>
                <c:pt idx="1">
                  <c:v>0.96</c:v>
                </c:pt>
              </c:numCache>
            </c:numRef>
          </c:val>
          <c:extLst>
            <c:ext xmlns:c16="http://schemas.microsoft.com/office/drawing/2014/chart" uri="{C3380CC4-5D6E-409C-BE32-E72D297353CC}">
              <c16:uniqueId val="{00000004-CFC7-4796-9029-3F4A90C309E9}"/>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547B-4674-B462-F272F718F585}"/>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547B-4674-B462-F272F718F585}"/>
              </c:ext>
            </c:extLst>
          </c:dPt>
          <c:cat>
            <c:strRef>
              <c:f>Sheet1!$A$2:$A$3</c:f>
              <c:strCache>
                <c:ptCount val="2"/>
                <c:pt idx="0">
                  <c:v>a</c:v>
                </c:pt>
                <c:pt idx="1">
                  <c:v>b</c:v>
                </c:pt>
              </c:strCache>
            </c:strRef>
          </c:cat>
          <c:val>
            <c:numRef>
              <c:f>Sheet1!$B$2:$B$3</c:f>
              <c:numCache>
                <c:formatCode>0%</c:formatCode>
                <c:ptCount val="2"/>
                <c:pt idx="0">
                  <c:v>0.78</c:v>
                </c:pt>
                <c:pt idx="1">
                  <c:v>0.22</c:v>
                </c:pt>
              </c:numCache>
            </c:numRef>
          </c:val>
          <c:extLst>
            <c:ext xmlns:c16="http://schemas.microsoft.com/office/drawing/2014/chart" uri="{C3380CC4-5D6E-409C-BE32-E72D297353CC}">
              <c16:uniqueId val="{00000004-547B-4674-B462-F272F718F585}"/>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EAE6-4AC5-8567-43A02BC4F778}"/>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EAE6-4AC5-8567-43A02BC4F778}"/>
              </c:ext>
            </c:extLst>
          </c:dPt>
          <c:cat>
            <c:strRef>
              <c:f>Sheet1!$A$2:$A$3</c:f>
              <c:strCache>
                <c:ptCount val="2"/>
                <c:pt idx="0">
                  <c:v>a</c:v>
                </c:pt>
                <c:pt idx="1">
                  <c:v>b</c:v>
                </c:pt>
              </c:strCache>
            </c:strRef>
          </c:cat>
          <c:val>
            <c:numRef>
              <c:f>Sheet1!$B$2:$B$3</c:f>
              <c:numCache>
                <c:formatCode>0%</c:formatCode>
                <c:ptCount val="2"/>
                <c:pt idx="0">
                  <c:v>0.12</c:v>
                </c:pt>
                <c:pt idx="1">
                  <c:v>0.87</c:v>
                </c:pt>
              </c:numCache>
            </c:numRef>
          </c:val>
          <c:extLst>
            <c:ext xmlns:c16="http://schemas.microsoft.com/office/drawing/2014/chart" uri="{C3380CC4-5D6E-409C-BE32-E72D297353CC}">
              <c16:uniqueId val="{00000004-EAE6-4AC5-8567-43A02BC4F778}"/>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46F-4018-AD0F-56D094059B2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346F-4018-AD0F-56D094059B2B}"/>
              </c:ext>
            </c:extLst>
          </c:dPt>
          <c:cat>
            <c:strRef>
              <c:f>Sheet1!$A$2:$A$3</c:f>
              <c:strCache>
                <c:ptCount val="2"/>
                <c:pt idx="0">
                  <c:v>a</c:v>
                </c:pt>
                <c:pt idx="1">
                  <c:v>b</c:v>
                </c:pt>
              </c:strCache>
            </c:strRef>
          </c:cat>
          <c:val>
            <c:numRef>
              <c:f>Sheet1!$B$2:$B$3</c:f>
              <c:numCache>
                <c:formatCode>0%</c:formatCode>
                <c:ptCount val="2"/>
                <c:pt idx="0">
                  <c:v>0.36</c:v>
                </c:pt>
                <c:pt idx="1">
                  <c:v>0.64</c:v>
                </c:pt>
              </c:numCache>
            </c:numRef>
          </c:val>
          <c:extLst>
            <c:ext xmlns:c16="http://schemas.microsoft.com/office/drawing/2014/chart" uri="{C3380CC4-5D6E-409C-BE32-E72D297353CC}">
              <c16:uniqueId val="{00000004-346F-4018-AD0F-56D094059B2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E1783724-F1D5-4069-A81D-695A107C5656}" type="datetimeFigureOut">
              <a:rPr lang="en-GB" smtClean="0"/>
              <a:t>21/09/2021</a:t>
            </a:fl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fld id="{69FB8598-6B8A-4175-8775-AB6212F5BB74}" type="slidenum">
              <a:rPr lang="en-GB" smtClean="0"/>
              <a:t>‹#›</a:t>
            </a:fld>
          </a:p>
        </p:txBody>
      </p:sp>
    </p:spTree>
    <p:extLst>
      <p:ext uri="{BB962C8B-B14F-4D97-AF65-F5344CB8AC3E}">
        <p14:creationId xmlns:p14="http://schemas.microsoft.com/office/powerpoint/2010/main" val="237973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69FB8598-6B8A-4175-8775-AB6212F5BB74}" type="slidenum">
              <a:rPr lang="en-GB" smtClean="0"/>
              <a:t>1</a:t>
            </a:fld>
          </a:p>
        </p:txBody>
      </p:sp>
    </p:spTree>
    <p:extLst>
      <p:ext uri="{BB962C8B-B14F-4D97-AF65-F5344CB8AC3E}">
        <p14:creationId xmlns:p14="http://schemas.microsoft.com/office/powerpoint/2010/main" val="799353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69FB8598-6B8A-4175-8775-AB6212F5BB7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2</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69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sz="40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defRPr>
            </a:pPr>
            <a:r>
              <a:t>© 2018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38EEC551-8CDA-4EB6-89BB-2A86C9F091C8}"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9/21/2021 8:06 PM</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3</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8869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1" name="Picture 10" descr="one man and two women with hard hats reviewing a Surface computer">
            <a:extLst>
              <a:ext uri="{FF2B5EF4-FFF2-40B4-BE49-F238E27FC236}">
                <a16:creationId xmlns:a16="http://schemas.microsoft.com/office/drawing/2014/main" id="{FAB940D2-B7A4-4B18-8019-C9398E7C10E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241111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0" name="Picture 9" descr="A person standing in front of a store&#10;&#10;Description automatically generated with medium confidence">
            <a:extLst>
              <a:ext uri="{FF2B5EF4-FFF2-40B4-BE49-F238E27FC236}">
                <a16:creationId xmlns:a16="http://schemas.microsoft.com/office/drawing/2014/main" id="{DC7875BD-5569-4A66-B1C7-70317E4628C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079026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dark 3">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8" name="Picture 7" descr="A skyscraper in a city">
            <a:extLst>
              <a:ext uri="{FF2B5EF4-FFF2-40B4-BE49-F238E27FC236}">
                <a16:creationId xmlns:a16="http://schemas.microsoft.com/office/drawing/2014/main" id="{FC97B996-A6FB-4266-A219-62C631414F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7718627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13" name="Picture 12" descr="one man and two women with hard hats reviewing a Surface computer">
            <a:extLst>
              <a:ext uri="{FF2B5EF4-FFF2-40B4-BE49-F238E27FC236}">
                <a16:creationId xmlns:a16="http://schemas.microsoft.com/office/drawing/2014/main" id="{A6BAEDD7-9476-4425-A65F-0E9362C545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42356895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quare photo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person standing in front of a store&#10;&#10;Description automatically generated with medium confidence">
            <a:extLst>
              <a:ext uri="{FF2B5EF4-FFF2-40B4-BE49-F238E27FC236}">
                <a16:creationId xmlns:a16="http://schemas.microsoft.com/office/drawing/2014/main" id="{4A164AC0-2974-4B5E-B9A2-D29FCC6188A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976145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quare photo light 3">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skyscraper in a city">
            <a:extLst>
              <a:ext uri="{FF2B5EF4-FFF2-40B4-BE49-F238E27FC236}">
                <a16:creationId xmlns:a16="http://schemas.microsoft.com/office/drawing/2014/main" id="{016A01A7-5F39-4405-B933-742946D002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35362095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graphic frame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A large glass building with a person walking and another on their cell phone cropped within the Dynamics 365 graphic frame.">
            <a:extLst>
              <a:ext uri="{FF2B5EF4-FFF2-40B4-BE49-F238E27FC236}">
                <a16:creationId xmlns:a16="http://schemas.microsoft.com/office/drawing/2014/main" id="{4D0B5F5C-746A-482A-8923-0B8CBE123F8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1467790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graphic frame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Colorful shipping containers cropped within the Dynamics 365 graphic frame.">
            <a:extLst>
              <a:ext uri="{FF2B5EF4-FFF2-40B4-BE49-F238E27FC236}">
                <a16:creationId xmlns:a16="http://schemas.microsoft.com/office/drawing/2014/main" id="{ABAE2B50-363A-4435-A660-CD199CF2D9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244685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graphic frame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3" name="Picture 2" descr="A large glass building with a person walking and another on their cell phone cropped within the Dynamics 365 graphic frame.">
            <a:extLst>
              <a:ext uri="{FF2B5EF4-FFF2-40B4-BE49-F238E27FC236}">
                <a16:creationId xmlns:a16="http://schemas.microsoft.com/office/drawing/2014/main" id="{322A0B64-4E71-4D02-A514-1446454104D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7085053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graphic frame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Colorful shipping containers cropped within the Dynamics 365 graphic frame.">
            <a:extLst>
              <a:ext uri="{FF2B5EF4-FFF2-40B4-BE49-F238E27FC236}">
                <a16:creationId xmlns:a16="http://schemas.microsoft.com/office/drawing/2014/main" id="{B4081048-72C7-48BE-A777-3BBC20714E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3696827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91919"/>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white text version">
            <a:extLst>
              <a:ext uri="{FF2B5EF4-FFF2-40B4-BE49-F238E27FC236}">
                <a16:creationId xmlns:a16="http://schemas.microsoft.com/office/drawing/2014/main" id="{AB102EF0-6ED7-4E24-A7D7-8968A6F3D1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8913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gray text version">
            <a:extLst>
              <a:ext uri="{FF2B5EF4-FFF2-40B4-BE49-F238E27FC236}">
                <a16:creationId xmlns:a16="http://schemas.microsoft.com/office/drawing/2014/main" id="{8605861F-6D56-4C9C-8356-37418FCFD84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5315587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9227988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97061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0746872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69022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t>Click to edit Master title style</a:t>
            </a:r>
          </a:p>
        </p:txBody>
      </p:sp>
    </p:spTree>
    <p:extLst>
      <p:ext uri="{BB962C8B-B14F-4D97-AF65-F5344CB8AC3E}">
        <p14:creationId xmlns:p14="http://schemas.microsoft.com/office/powerpoint/2010/main" val="6575108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953487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pic>
        <p:nvPicPr>
          <p:cNvPr id="6" name="Picture 5" descr="A screenshot of a computer screen&#10;&#10;Description automatically generated">
            <a:extLst>
              <a:ext uri="{FF2B5EF4-FFF2-40B4-BE49-F238E27FC236}">
                <a16:creationId xmlns:a16="http://schemas.microsoft.com/office/drawing/2014/main" id="{B8BF65A2-7013-448E-B59A-D1594ABC21E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2602618" y="1363144"/>
            <a:ext cx="6986765" cy="5166428"/>
          </a:xfrm>
          <a:prstGeom prst="rect">
            <a:avLst/>
          </a:prstGeom>
        </p:spPr>
      </p:pic>
      <p:sp>
        <p:nvSpPr>
          <p:cNvPr id="7" name="Picture Placeholder 8" descr="This photo is a 'placeholder' only. Drag or drop your screenshot here, or click and tap the center to insert a photo.">
            <a:extLst>
              <a:ext uri="{FF2B5EF4-FFF2-40B4-BE49-F238E27FC236}">
                <a16:creationId xmlns:a16="http://schemas.microsoft.com/office/drawing/2014/main" id="{11957EF6-0806-49E9-B0BF-D730CB9F17F7}"/>
              </a:ext>
            </a:extLst>
          </p:cNvPr>
          <p:cNvSpPr>
            <a:spLocks noGrp="1"/>
          </p:cNvSpPr>
          <p:nvPr>
            <p:ph type="pic" sz="quarter" idx="10" hasCustomPrompt="1"/>
          </p:nvPr>
        </p:nvSpPr>
        <p:spPr>
          <a:xfrm>
            <a:off x="3079750" y="1894975"/>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667164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with titl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84E6F47-6F6B-4871-961C-736C1A14730E}"/>
              </a:ext>
            </a:extLst>
          </p:cNvPr>
          <p:cNvSpPr>
            <a:spLocks noGrp="1"/>
          </p:cNvSpPr>
          <p:nvPr>
            <p:ph type="title"/>
          </p:nvPr>
        </p:nvSpPr>
        <p:spPr>
          <a:xfrm>
            <a:off x="590868" y="2016204"/>
            <a:ext cx="4160520" cy="1107996"/>
          </a:xfrm>
        </p:spPr>
        <p:txBody>
          <a:bodyPr anchor="b" anchorCtr="0"/>
          <a:lstStyle>
            <a:lvl1pPr>
              <a:defRPr sz="3600">
                <a:solidFill>
                  <a:schemeClr val="tx1"/>
                </a:solidFill>
              </a:defRPr>
            </a:lvl1pPr>
          </a:lstStyle>
          <a:p>
            <a:r>
              <a:rPr lang="en-US" dirty="0"/>
              <a:t>Click to edit Master title style</a:t>
            </a:r>
          </a:p>
        </p:txBody>
      </p:sp>
      <p:sp>
        <p:nvSpPr>
          <p:cNvPr id="14" name="Text Placeholder 3">
            <a:extLst>
              <a:ext uri="{FF2B5EF4-FFF2-40B4-BE49-F238E27FC236}">
                <a16:creationId xmlns:a16="http://schemas.microsoft.com/office/drawing/2014/main" id="{5C8E00C1-C333-4B37-8418-7C574D937CDE}"/>
              </a:ext>
            </a:extLst>
          </p:cNvPr>
          <p:cNvSpPr>
            <a:spLocks noGrp="1"/>
          </p:cNvSpPr>
          <p:nvPr>
            <p:ph type="body" sz="quarter" idx="10"/>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Click to edit Master text styles</a:t>
            </a:r>
          </a:p>
        </p:txBody>
      </p:sp>
      <p:pic>
        <p:nvPicPr>
          <p:cNvPr id="7" name="Picture 6" descr="A screenshot of a computer screen&#10;&#10;Description automatically generated">
            <a:extLst>
              <a:ext uri="{FF2B5EF4-FFF2-40B4-BE49-F238E27FC236}">
                <a16:creationId xmlns:a16="http://schemas.microsoft.com/office/drawing/2014/main" id="{34488F87-E74D-431A-961F-47489B45634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845786"/>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D0451994-A6EF-4676-88EA-2F52BAE75490}"/>
              </a:ext>
            </a:extLst>
          </p:cNvPr>
          <p:cNvSpPr>
            <a:spLocks noGrp="1"/>
          </p:cNvSpPr>
          <p:nvPr>
            <p:ph type="pic" sz="quarter" idx="11" hasCustomPrompt="1"/>
          </p:nvPr>
        </p:nvSpPr>
        <p:spPr>
          <a:xfrm>
            <a:off x="6159834" y="1386640"/>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46074500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vice layout with 2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90A81-E0C1-4E0C-9214-FFEF9D0134F3}"/>
              </a:ext>
            </a:extLst>
          </p:cNvPr>
          <p:cNvSpPr>
            <a:spLocks noGrp="1"/>
          </p:cNvSpPr>
          <p:nvPr>
            <p:ph type="title"/>
          </p:nvPr>
        </p:nvSpPr>
        <p:spPr/>
        <p:txBody>
          <a:bodyPr/>
          <a:lstStyle/>
          <a:p>
            <a:r>
              <a:rPr lang="en-US" dirty="0"/>
              <a:t>Click to edit Master title style</a:t>
            </a:r>
          </a:p>
        </p:txBody>
      </p:sp>
      <p:sp>
        <p:nvSpPr>
          <p:cNvPr id="24" name="Table Placeholder 23">
            <a:extLst>
              <a:ext uri="{FF2B5EF4-FFF2-40B4-BE49-F238E27FC236}">
                <a16:creationId xmlns:a16="http://schemas.microsoft.com/office/drawing/2014/main" id="{5F33DC8F-A6F1-463B-BB0F-31062F8E70E2}"/>
              </a:ext>
            </a:extLst>
          </p:cNvPr>
          <p:cNvSpPr>
            <a:spLocks noGrp="1"/>
          </p:cNvSpPr>
          <p:nvPr>
            <p:ph type="tbl" sz="quarter" idx="10"/>
          </p:nvPr>
        </p:nvSpPr>
        <p:spPr>
          <a:xfrm>
            <a:off x="584200" y="1468438"/>
            <a:ext cx="4745037" cy="4800600"/>
          </a:xfrm>
        </p:spPr>
        <p:txBody>
          <a:bodyPr anchor="ctr" anchorCtr="0">
            <a:noAutofit/>
          </a:bodyPr>
          <a:lstStyle/>
          <a:p>
            <a:r>
              <a:rPr lang="en-US"/>
              <a:t>Click icon to add table</a:t>
            </a:r>
            <a:endParaRPr lang="en-US" dirty="0"/>
          </a:p>
        </p:txBody>
      </p:sp>
      <p:pic>
        <p:nvPicPr>
          <p:cNvPr id="7" name="Picture 6" descr="A screenshot of a computer screen&#10;&#10;Description automatically generated">
            <a:extLst>
              <a:ext uri="{FF2B5EF4-FFF2-40B4-BE49-F238E27FC236}">
                <a16:creationId xmlns:a16="http://schemas.microsoft.com/office/drawing/2014/main" id="{E2EF6BD7-E5A2-4FDA-BCB2-6BE4E0B7537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1284938"/>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761F7F10-3382-412C-A3B4-F10C0DCF2A3E}"/>
              </a:ext>
            </a:extLst>
          </p:cNvPr>
          <p:cNvSpPr>
            <a:spLocks noGrp="1"/>
          </p:cNvSpPr>
          <p:nvPr>
            <p:ph type="pic" sz="quarter" idx="11" hasCustomPrompt="1"/>
          </p:nvPr>
        </p:nvSpPr>
        <p:spPr>
          <a:xfrm>
            <a:off x="6159834" y="1825792"/>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914184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303717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6503395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312765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1287640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1516415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33408603"/>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9178690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0537512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8085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1066493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96695539"/>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76970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0887671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11772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926548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058313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49000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79504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19191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1208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234498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191919"/>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3" name="Picture 2" descr="Microsoft Dynamics 365 logo, white text version">
            <a:extLst>
              <a:ext uri="{FF2B5EF4-FFF2-40B4-BE49-F238E27FC236}">
                <a16:creationId xmlns:a16="http://schemas.microsoft.com/office/drawing/2014/main" id="{9B7CA3D8-8EC2-4E20-955C-A95CB279C9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1051069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ck Notes slide Layout">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black"/>
        <p:txBody>
          <a:bodyPr/>
          <a:lstStyle>
            <a:lvl1pPr>
              <a:defRPr b="0">
                <a:solidFill>
                  <a:schemeClr val="tx1"/>
                </a:solidFill>
                <a:latin typeface="Segoe UI" pitchFamily="34" charset="0"/>
                <a:ea typeface="Segoe UI" pitchFamily="34" charset="0"/>
                <a:cs typeface="Segoe UI"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black">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Next slide"/>
          <p:cNvSpPr>
            <a:spLocks noGrp="1"/>
          </p:cNvSpPr>
          <p:nvPr>
            <p:ph type="body" sz="quarter" idx="11" hasCustomPrompt="1"/>
          </p:nvPr>
        </p:nvSpPr>
        <p:spPr bwMode="invGray">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8706087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anchor="t">
            <a:spAutoFit/>
          </a:bodyPr>
          <a:lstStyle/>
          <a:p>
            <a:r>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a:spAutoFit/>
          </a:bodyPr>
          <a:lstStyle/>
          <a:p>
            <a:pPr lvl="0"/>
            <a:r>
              <a:t>Click to edit Master text styles</a:t>
            </a:r>
          </a:p>
          <a:p>
            <a:pPr lvl="1"/>
            <a:r>
              <a:t>Second level</a:t>
            </a:r>
          </a:p>
          <a:p>
            <a:pPr lvl="2"/>
            <a:r>
              <a:t>Third level</a:t>
            </a:r>
          </a:p>
          <a:p>
            <a:pPr lvl="3"/>
            <a:r>
              <a:t>Fourth level</a:t>
            </a:r>
          </a:p>
          <a:p>
            <a:pPr lvl="4"/>
            <a:r>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5" cstate="screen">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9293771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Lst>
  <p:transition>
    <p:fade/>
  </p:transition>
  <p:hf sldNum="0" hdr="0" ftr="0" dt="0"/>
  <p:txStyles>
    <p:titleStyle>
      <a:lvl1pPr algn="l" defTabSz="932742" rtl="0" eaLnBrk="1" latinLnBrk="0" hangingPunct="1">
        <a:lnSpc>
          <a:spcPct val="100000"/>
        </a:lnSpc>
        <a:spcBef>
          <a:spcPct val="0"/>
        </a:spcBef>
        <a:buNone/>
        <a:defRPr sz="3600" b="0" kern="1200" cap="none" spc="-50" baseline="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chart" Target="../charts/chart3.xml"/><Relationship Id="rId12"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chart" Target="../charts/chart2.xml"/><Relationship Id="rId11" Type="http://schemas.openxmlformats.org/officeDocument/2006/relationships/chart" Target="../charts/chart5.xml"/><Relationship Id="rId5" Type="http://schemas.openxmlformats.org/officeDocument/2006/relationships/chart" Target="../charts/chart1.xml"/><Relationship Id="rId10" Type="http://schemas.openxmlformats.org/officeDocument/2006/relationships/chart" Target="../charts/chart4.xml"/><Relationship Id="rId4" Type="http://schemas.openxmlformats.org/officeDocument/2006/relationships/image" Target="../media/image17.sv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C62D-6CDB-470C-8BD7-66F492C537F3}"/>
              </a:ext>
            </a:extLst>
          </p:cNvPr>
          <p:cNvSpPr>
            <a:spLocks noGrp="1"/>
          </p:cNvSpPr>
          <p:nvPr>
            <p:ph type="title"/>
          </p:nvPr>
        </p:nvSpPr>
        <p:spPr/>
        <p:txBody>
          <a:bodyPr/>
          <a:lstStyle/>
          <a:p>
            <a:r>
              <a:t>TCO Comparison: On-Premises vs Cloud</a:t>
            </a:r>
          </a:p>
        </p:txBody>
      </p:sp>
      <p:sp>
        <p:nvSpPr>
          <p:cNvPr id="4" name="Rectangle 1062">
            <a:extLst>
              <a:ext uri="{FF2B5EF4-FFF2-40B4-BE49-F238E27FC236}">
                <a16:creationId xmlns:a16="http://schemas.microsoft.com/office/drawing/2014/main" id="{D85D3367-A2F0-4414-BE85-EAA9B7E99832}"/>
              </a:ext>
            </a:extLst>
          </p:cNvPr>
          <p:cNvSpPr/>
          <p:nvPr/>
        </p:nvSpPr>
        <p:spPr bwMode="auto">
          <a:xfrm>
            <a:off x="5111752" y="5105484"/>
            <a:ext cx="1968498" cy="253275"/>
          </a:xfrm>
          <a:prstGeom prst="rect">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sz="1800" kern="1200" spc="-49">
                <a:ln>
                  <a:noFill/>
                </a:ln>
                <a:solidFill>
                  <a:srgbClr val="243A5E"/>
                </a:solidFill>
                <a:effectLst/>
                <a:uLnTx/>
                <a:uFillTx/>
                <a:latin typeface="Segoe UI Semibold" panose="020B0702040204020203" pitchFamily="34" charset="0"/>
                <a:ea typeface="+mn-ea"/>
                <a:cs typeface="Segoe UI Semibold" panose="020B0702040204020203" pitchFamily="34" charset="0"/>
              </a:defRPr>
            </a:pPr>
            <a:r>
              <a:t>Ongoing Costs</a:t>
            </a:r>
            <a:endParaRPr kumimoji="0" sz="1800" b="0" i="0" u="none" strike="noStrike" kern="1200" cap="none" spc="-49" normalizeH="0" baseline="0">
              <a:ln>
                <a:noFill/>
              </a:ln>
              <a:solidFill>
                <a:srgbClr val="243A5E"/>
              </a:solidFill>
              <a:effectLst/>
              <a:uLnTx/>
              <a:uFillTx/>
              <a:latin typeface="Segoe UI Semibold" panose="020B0702040204020203" pitchFamily="34" charset="0"/>
              <a:ea typeface="+mn-ea"/>
              <a:cs typeface="Segoe UI Semibold" panose="020B0702040204020203" pitchFamily="34" charset="0"/>
            </a:endParaRPr>
          </a:p>
        </p:txBody>
      </p:sp>
      <p:cxnSp>
        <p:nvCxnSpPr>
          <p:cNvPr id="6" name="Straight Connector 5">
            <a:extLst>
              <a:ext uri="{FF2B5EF4-FFF2-40B4-BE49-F238E27FC236}">
                <a16:creationId xmlns:a16="http://schemas.microsoft.com/office/drawing/2014/main" id="{2D74840D-44EB-447D-AD00-8B7972F2F7F3}"/>
              </a:ext>
            </a:extLst>
          </p:cNvPr>
          <p:cNvCxnSpPr>
            <a:cxnSpLocks/>
          </p:cNvCxnSpPr>
          <p:nvPr/>
        </p:nvCxnSpPr>
        <p:spPr>
          <a:xfrm>
            <a:off x="6096001" y="5448674"/>
            <a:ext cx="0" cy="1005840"/>
          </a:xfrm>
          <a:prstGeom prst="line">
            <a:avLst/>
          </a:prstGeom>
          <a:noFill/>
          <a:ln w="6350" cap="rnd" cmpd="sng" algn="ctr">
            <a:solidFill>
              <a:schemeClr val="bg1">
                <a:lumMod val="85000"/>
              </a:schemeClr>
            </a:solidFill>
            <a:prstDash val="solid"/>
            <a:headEnd type="none"/>
            <a:tailEnd type="none"/>
          </a:ln>
          <a:effectLst/>
        </p:spPr>
      </p:cxnSp>
      <p:sp>
        <p:nvSpPr>
          <p:cNvPr id="10" name="Rectangle 1062 - 1">
            <a:extLst>
              <a:ext uri="{FF2B5EF4-FFF2-40B4-BE49-F238E27FC236}">
                <a16:creationId xmlns:a16="http://schemas.microsoft.com/office/drawing/2014/main" id="{4EFE01A5-DCDD-4F1E-8704-5A9C76167B01}"/>
              </a:ext>
            </a:extLst>
          </p:cNvPr>
          <p:cNvSpPr/>
          <p:nvPr/>
        </p:nvSpPr>
        <p:spPr bwMode="auto">
          <a:xfrm>
            <a:off x="1" y="2477470"/>
            <a:ext cx="12192000" cy="2597712"/>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2353"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94" name="Group 93">
            <a:extLst>
              <a:ext uri="{FF2B5EF4-FFF2-40B4-BE49-F238E27FC236}">
                <a16:creationId xmlns:a16="http://schemas.microsoft.com/office/drawing/2014/main" id="{D242BC96-D2CE-45EA-8DF6-233301F991EF}"/>
              </a:ext>
            </a:extLst>
          </p:cNvPr>
          <p:cNvGrpSpPr/>
          <p:nvPr/>
        </p:nvGrpSpPr>
        <p:grpSpPr>
          <a:xfrm>
            <a:off x="448232" y="1241959"/>
            <a:ext cx="5573706" cy="5223200"/>
            <a:chOff x="6300794" y="1460829"/>
            <a:chExt cx="5573706" cy="5016171"/>
          </a:xfrm>
        </p:grpSpPr>
        <p:sp>
          <p:nvSpPr>
            <p:cNvPr id="12" name="Rectangle 11">
              <a:extLst>
                <a:ext uri="{FF2B5EF4-FFF2-40B4-BE49-F238E27FC236}">
                  <a16:creationId xmlns:a16="http://schemas.microsoft.com/office/drawing/2014/main" id="{D55283AB-3068-4EC2-9482-BD8D0323FFE0}"/>
                </a:ext>
              </a:extLst>
            </p:cNvPr>
            <p:cNvSpPr/>
            <p:nvPr/>
          </p:nvSpPr>
          <p:spPr bwMode="auto">
            <a:xfrm>
              <a:off x="6300794"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Apply patches, upgrades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Downtime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Performance tuning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Rewrite customizations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Rewrite integrations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Upgrade dependent applications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Ongoing burden on IT (hardware)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network</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security</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database</a:t>
              </a:r>
            </a:p>
          </p:txBody>
        </p:sp>
        <p:grpSp>
          <p:nvGrpSpPr>
            <p:cNvPr id="13" name="Group 12">
              <a:extLst>
                <a:ext uri="{FF2B5EF4-FFF2-40B4-BE49-F238E27FC236}">
                  <a16:creationId xmlns:a16="http://schemas.microsoft.com/office/drawing/2014/main" id="{61182334-F499-4D91-8913-E22251286192}"/>
                </a:ext>
              </a:extLst>
            </p:cNvPr>
            <p:cNvGrpSpPr/>
            <p:nvPr/>
          </p:nvGrpSpPr>
          <p:grpSpPr>
            <a:xfrm>
              <a:off x="6402886" y="1801579"/>
              <a:ext cx="4709074" cy="3302031"/>
              <a:chOff x="6402886" y="1801579"/>
              <a:chExt cx="4709074" cy="3302031"/>
            </a:xfrm>
          </p:grpSpPr>
          <p:grpSp>
            <p:nvGrpSpPr>
              <p:cNvPr id="15" name="Group 1061">
                <a:extLst>
                  <a:ext uri="{FF2B5EF4-FFF2-40B4-BE49-F238E27FC236}">
                    <a16:creationId xmlns:a16="http://schemas.microsoft.com/office/drawing/2014/main" id="{1BA065D2-650F-4282-84E5-C36AF851E6B5}"/>
                  </a:ext>
                </a:extLst>
              </p:cNvPr>
              <p:cNvGrpSpPr/>
              <p:nvPr/>
            </p:nvGrpSpPr>
            <p:grpSpPr>
              <a:xfrm>
                <a:off x="8265117" y="1801579"/>
                <a:ext cx="2846843" cy="3302031"/>
                <a:chOff x="4094480" y="1619250"/>
                <a:chExt cx="4312920" cy="5002530"/>
              </a:xfrm>
            </p:grpSpPr>
            <p:sp>
              <p:nvSpPr>
                <p:cNvPr id="36" name="Freeform: Shape 35">
                  <a:extLst>
                    <a:ext uri="{FF2B5EF4-FFF2-40B4-BE49-F238E27FC236}">
                      <a16:creationId xmlns:a16="http://schemas.microsoft.com/office/drawing/2014/main" id="{4B425C5B-47D7-4100-97B0-08872882FF37}"/>
                    </a:ext>
                  </a:extLst>
                </p:cNvPr>
                <p:cNvSpPr/>
                <p:nvPr/>
              </p:nvSpPr>
              <p:spPr bwMode="auto">
                <a:xfrm>
                  <a:off x="5969000" y="4297680"/>
                  <a:ext cx="777240" cy="812800"/>
                </a:xfrm>
                <a:custGeom>
                  <a:avLst/>
                  <a:gdLst>
                    <a:gd name="connsiteX0" fmla="*/ 187960 w 777240"/>
                    <a:gd name="connsiteY0" fmla="*/ 812800 h 812800"/>
                    <a:gd name="connsiteX1" fmla="*/ 777240 w 777240"/>
                    <a:gd name="connsiteY1" fmla="*/ 782320 h 812800"/>
                    <a:gd name="connsiteX2" fmla="*/ 497840 w 777240"/>
                    <a:gd name="connsiteY2" fmla="*/ 0 h 812800"/>
                    <a:gd name="connsiteX3" fmla="*/ 0 w 777240"/>
                    <a:gd name="connsiteY3" fmla="*/ 345440 h 812800"/>
                    <a:gd name="connsiteX4" fmla="*/ 187960 w 777240"/>
                    <a:gd name="connsiteY4" fmla="*/ 81280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 h="812800">
                      <a:moveTo>
                        <a:pt x="187960" y="812800"/>
                      </a:moveTo>
                      <a:lnTo>
                        <a:pt x="777240" y="782320"/>
                      </a:lnTo>
                      <a:lnTo>
                        <a:pt x="497840" y="0"/>
                      </a:lnTo>
                      <a:lnTo>
                        <a:pt x="0" y="345440"/>
                      </a:lnTo>
                      <a:lnTo>
                        <a:pt x="187960" y="8128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7" name="Freeform: Shape 36">
                  <a:extLst>
                    <a:ext uri="{FF2B5EF4-FFF2-40B4-BE49-F238E27FC236}">
                      <a16:creationId xmlns:a16="http://schemas.microsoft.com/office/drawing/2014/main" id="{B045DEAB-206E-42B7-8FE5-BD65090BE914}"/>
                    </a:ext>
                  </a:extLst>
                </p:cNvPr>
                <p:cNvSpPr/>
                <p:nvPr/>
              </p:nvSpPr>
              <p:spPr bwMode="auto">
                <a:xfrm>
                  <a:off x="8128000" y="2931160"/>
                  <a:ext cx="223520" cy="436880"/>
                </a:xfrm>
                <a:custGeom>
                  <a:avLst/>
                  <a:gdLst>
                    <a:gd name="connsiteX0" fmla="*/ 223520 w 223520"/>
                    <a:gd name="connsiteY0" fmla="*/ 0 h 436880"/>
                    <a:gd name="connsiteX1" fmla="*/ 177800 w 223520"/>
                    <a:gd name="connsiteY1" fmla="*/ 436880 h 436880"/>
                    <a:gd name="connsiteX2" fmla="*/ 0 w 223520"/>
                    <a:gd name="connsiteY2" fmla="*/ 218440 h 436880"/>
                    <a:gd name="connsiteX3" fmla="*/ 45720 w 223520"/>
                    <a:gd name="connsiteY3" fmla="*/ 182880 h 436880"/>
                    <a:gd name="connsiteX4" fmla="*/ 223520 w 223520"/>
                    <a:gd name="connsiteY4" fmla="*/ 0 h 436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20" h="436880">
                      <a:moveTo>
                        <a:pt x="223520" y="0"/>
                      </a:moveTo>
                      <a:lnTo>
                        <a:pt x="177800" y="436880"/>
                      </a:lnTo>
                      <a:lnTo>
                        <a:pt x="0" y="218440"/>
                      </a:lnTo>
                      <a:lnTo>
                        <a:pt x="45720" y="182880"/>
                      </a:lnTo>
                      <a:lnTo>
                        <a:pt x="223520" y="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8" name="Freeform: Shape 37">
                  <a:extLst>
                    <a:ext uri="{FF2B5EF4-FFF2-40B4-BE49-F238E27FC236}">
                      <a16:creationId xmlns:a16="http://schemas.microsoft.com/office/drawing/2014/main" id="{78B62B34-7785-4AB6-A31A-6CC60551B3A7}"/>
                    </a:ext>
                  </a:extLst>
                </p:cNvPr>
                <p:cNvSpPr/>
                <p:nvPr/>
              </p:nvSpPr>
              <p:spPr bwMode="auto">
                <a:xfrm>
                  <a:off x="6107430" y="1619250"/>
                  <a:ext cx="962025" cy="501015"/>
                </a:xfrm>
                <a:custGeom>
                  <a:avLst/>
                  <a:gdLst>
                    <a:gd name="connsiteX0" fmla="*/ 0 w 962025"/>
                    <a:gd name="connsiteY0" fmla="*/ 0 h 501015"/>
                    <a:gd name="connsiteX1" fmla="*/ 398145 w 962025"/>
                    <a:gd name="connsiteY1" fmla="*/ 226695 h 501015"/>
                    <a:gd name="connsiteX2" fmla="*/ 962025 w 962025"/>
                    <a:gd name="connsiteY2" fmla="*/ 501015 h 501015"/>
                    <a:gd name="connsiteX3" fmla="*/ 7620 w 962025"/>
                    <a:gd name="connsiteY3" fmla="*/ 236220 h 501015"/>
                    <a:gd name="connsiteX4" fmla="*/ 0 w 962025"/>
                    <a:gd name="connsiteY4" fmla="*/ 0 h 50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25" h="501015">
                      <a:moveTo>
                        <a:pt x="0" y="0"/>
                      </a:moveTo>
                      <a:lnTo>
                        <a:pt x="398145" y="226695"/>
                      </a:lnTo>
                      <a:lnTo>
                        <a:pt x="962025" y="501015"/>
                      </a:lnTo>
                      <a:lnTo>
                        <a:pt x="7620" y="23622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9" name="Freeform: Shape 38">
                  <a:extLst>
                    <a:ext uri="{FF2B5EF4-FFF2-40B4-BE49-F238E27FC236}">
                      <a16:creationId xmlns:a16="http://schemas.microsoft.com/office/drawing/2014/main" id="{D120B212-04FA-40B4-B6F7-1D9F8D3C30B5}"/>
                    </a:ext>
                  </a:extLst>
                </p:cNvPr>
                <p:cNvSpPr/>
                <p:nvPr/>
              </p:nvSpPr>
              <p:spPr bwMode="auto">
                <a:xfrm>
                  <a:off x="5814060" y="1874520"/>
                  <a:ext cx="638175" cy="462915"/>
                </a:xfrm>
                <a:custGeom>
                  <a:avLst/>
                  <a:gdLst>
                    <a:gd name="connsiteX0" fmla="*/ 190500 w 638175"/>
                    <a:gd name="connsiteY0" fmla="*/ 0 h 462915"/>
                    <a:gd name="connsiteX1" fmla="*/ 331470 w 638175"/>
                    <a:gd name="connsiteY1" fmla="*/ 114300 h 462915"/>
                    <a:gd name="connsiteX2" fmla="*/ 638175 w 638175"/>
                    <a:gd name="connsiteY2" fmla="*/ 462915 h 462915"/>
                    <a:gd name="connsiteX3" fmla="*/ 0 w 638175"/>
                    <a:gd name="connsiteY3" fmla="*/ 438150 h 462915"/>
                    <a:gd name="connsiteX4" fmla="*/ 7620 w 638175"/>
                    <a:gd name="connsiteY4" fmla="*/ 419100 h 462915"/>
                    <a:gd name="connsiteX5" fmla="*/ 190500 w 638175"/>
                    <a:gd name="connsiteY5" fmla="*/ 0 h 46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462915">
                      <a:moveTo>
                        <a:pt x="190500" y="0"/>
                      </a:moveTo>
                      <a:lnTo>
                        <a:pt x="331470" y="114300"/>
                      </a:lnTo>
                      <a:lnTo>
                        <a:pt x="638175" y="462915"/>
                      </a:lnTo>
                      <a:lnTo>
                        <a:pt x="0" y="438150"/>
                      </a:lnTo>
                      <a:lnTo>
                        <a:pt x="7620" y="419100"/>
                      </a:lnTo>
                      <a:lnTo>
                        <a:pt x="190500" y="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40" name="Freeform: Shape 39">
                  <a:extLst>
                    <a:ext uri="{FF2B5EF4-FFF2-40B4-BE49-F238E27FC236}">
                      <a16:creationId xmlns:a16="http://schemas.microsoft.com/office/drawing/2014/main" id="{4FE50D04-0DCD-49C3-833C-A5E6AB5F72C7}"/>
                    </a:ext>
                  </a:extLst>
                </p:cNvPr>
                <p:cNvSpPr/>
                <p:nvPr/>
              </p:nvSpPr>
              <p:spPr bwMode="auto">
                <a:xfrm>
                  <a:off x="5995035" y="1847850"/>
                  <a:ext cx="1080135" cy="491490"/>
                </a:xfrm>
                <a:custGeom>
                  <a:avLst/>
                  <a:gdLst>
                    <a:gd name="connsiteX0" fmla="*/ 0 w 1080135"/>
                    <a:gd name="connsiteY0" fmla="*/ 32385 h 491490"/>
                    <a:gd name="connsiteX1" fmla="*/ 135255 w 1080135"/>
                    <a:gd name="connsiteY1" fmla="*/ 0 h 491490"/>
                    <a:gd name="connsiteX2" fmla="*/ 1080135 w 1080135"/>
                    <a:gd name="connsiteY2" fmla="*/ 270510 h 491490"/>
                    <a:gd name="connsiteX3" fmla="*/ 1061085 w 1080135"/>
                    <a:gd name="connsiteY3" fmla="*/ 274320 h 491490"/>
                    <a:gd name="connsiteX4" fmla="*/ 453390 w 1080135"/>
                    <a:gd name="connsiteY4" fmla="*/ 491490 h 491490"/>
                    <a:gd name="connsiteX5" fmla="*/ 140970 w 1080135"/>
                    <a:gd name="connsiteY5" fmla="*/ 140970 h 491490"/>
                    <a:gd name="connsiteX6" fmla="*/ 0 w 1080135"/>
                    <a:gd name="connsiteY6" fmla="*/ 32385 h 49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35" h="491490">
                      <a:moveTo>
                        <a:pt x="0" y="32385"/>
                      </a:moveTo>
                      <a:lnTo>
                        <a:pt x="135255" y="0"/>
                      </a:lnTo>
                      <a:lnTo>
                        <a:pt x="1080135" y="270510"/>
                      </a:lnTo>
                      <a:lnTo>
                        <a:pt x="1061085" y="274320"/>
                      </a:lnTo>
                      <a:lnTo>
                        <a:pt x="453390" y="491490"/>
                      </a:lnTo>
                      <a:lnTo>
                        <a:pt x="140970" y="140970"/>
                      </a:lnTo>
                      <a:lnTo>
                        <a:pt x="0" y="32385"/>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1" name="Freeform: Shape 40">
                  <a:extLst>
                    <a:ext uri="{FF2B5EF4-FFF2-40B4-BE49-F238E27FC236}">
                      <a16:creationId xmlns:a16="http://schemas.microsoft.com/office/drawing/2014/main" id="{FC1FF4A6-D183-47F9-BC1B-9B5A5A9F827A}"/>
                    </a:ext>
                  </a:extLst>
                </p:cNvPr>
                <p:cNvSpPr/>
                <p:nvPr/>
              </p:nvSpPr>
              <p:spPr bwMode="auto">
                <a:xfrm>
                  <a:off x="5034280" y="1841500"/>
                  <a:ext cx="656336" cy="977900"/>
                </a:xfrm>
                <a:custGeom>
                  <a:avLst/>
                  <a:gdLst>
                    <a:gd name="connsiteX0" fmla="*/ 170180 w 497840"/>
                    <a:gd name="connsiteY0" fmla="*/ 66040 h 1038860"/>
                    <a:gd name="connsiteX1" fmla="*/ 0 w 497840"/>
                    <a:gd name="connsiteY1" fmla="*/ 670560 h 1038860"/>
                    <a:gd name="connsiteX2" fmla="*/ 238760 w 497840"/>
                    <a:gd name="connsiteY2" fmla="*/ 1038860 h 1038860"/>
                    <a:gd name="connsiteX3" fmla="*/ 497840 w 497840"/>
                    <a:gd name="connsiteY3" fmla="*/ 0 h 1038860"/>
                    <a:gd name="connsiteX4" fmla="*/ 170180 w 497840"/>
                    <a:gd name="connsiteY4" fmla="*/ 66040 h 1038860"/>
                    <a:gd name="connsiteX0" fmla="*/ 497840 w 497840"/>
                    <a:gd name="connsiteY0" fmla="*/ 0 h 1038860"/>
                    <a:gd name="connsiteX1" fmla="*/ 0 w 497840"/>
                    <a:gd name="connsiteY1" fmla="*/ 670560 h 1038860"/>
                    <a:gd name="connsiteX2" fmla="*/ 238760 w 497840"/>
                    <a:gd name="connsiteY2" fmla="*/ 1038860 h 1038860"/>
                    <a:gd name="connsiteX3" fmla="*/ 497840 w 497840"/>
                    <a:gd name="connsiteY3" fmla="*/ 0 h 1038860"/>
                    <a:gd name="connsiteX0" fmla="*/ 656336 w 656336"/>
                    <a:gd name="connsiteY0" fmla="*/ 0 h 977900"/>
                    <a:gd name="connsiteX1" fmla="*/ 0 w 656336"/>
                    <a:gd name="connsiteY1" fmla="*/ 609600 h 977900"/>
                    <a:gd name="connsiteX2" fmla="*/ 238760 w 656336"/>
                    <a:gd name="connsiteY2" fmla="*/ 977900 h 977900"/>
                    <a:gd name="connsiteX3" fmla="*/ 656336 w 656336"/>
                    <a:gd name="connsiteY3" fmla="*/ 0 h 977900"/>
                  </a:gdLst>
                  <a:ahLst/>
                  <a:cxnLst>
                    <a:cxn ang="0">
                      <a:pos x="connsiteX0" y="connsiteY0"/>
                    </a:cxn>
                    <a:cxn ang="0">
                      <a:pos x="connsiteX1" y="connsiteY1"/>
                    </a:cxn>
                    <a:cxn ang="0">
                      <a:pos x="connsiteX2" y="connsiteY2"/>
                    </a:cxn>
                    <a:cxn ang="0">
                      <a:pos x="connsiteX3" y="connsiteY3"/>
                    </a:cxn>
                  </a:cxnLst>
                  <a:rect l="l" t="t" r="r" b="b"/>
                  <a:pathLst>
                    <a:path w="656336" h="977900">
                      <a:moveTo>
                        <a:pt x="656336" y="0"/>
                      </a:moveTo>
                      <a:lnTo>
                        <a:pt x="0" y="609600"/>
                      </a:lnTo>
                      <a:lnTo>
                        <a:pt x="238760" y="977900"/>
                      </a:lnTo>
                      <a:lnTo>
                        <a:pt x="656336"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2" name="Freeform: Shape 41">
                  <a:extLst>
                    <a:ext uri="{FF2B5EF4-FFF2-40B4-BE49-F238E27FC236}">
                      <a16:creationId xmlns:a16="http://schemas.microsoft.com/office/drawing/2014/main" id="{C73773F8-4ADA-4155-9286-E7B01D14DE7B}"/>
                    </a:ext>
                  </a:extLst>
                </p:cNvPr>
                <p:cNvSpPr/>
                <p:nvPr/>
              </p:nvSpPr>
              <p:spPr bwMode="auto">
                <a:xfrm>
                  <a:off x="4246880" y="2451100"/>
                  <a:ext cx="787400" cy="462280"/>
                </a:xfrm>
                <a:custGeom>
                  <a:avLst/>
                  <a:gdLst>
                    <a:gd name="connsiteX0" fmla="*/ 787400 w 787400"/>
                    <a:gd name="connsiteY0" fmla="*/ 0 h 462280"/>
                    <a:gd name="connsiteX1" fmla="*/ 429260 w 787400"/>
                    <a:gd name="connsiteY1" fmla="*/ 355600 h 462280"/>
                    <a:gd name="connsiteX2" fmla="*/ 0 w 787400"/>
                    <a:gd name="connsiteY2" fmla="*/ 462280 h 462280"/>
                    <a:gd name="connsiteX3" fmla="*/ 33020 w 787400"/>
                    <a:gd name="connsiteY3" fmla="*/ 462280 h 462280"/>
                    <a:gd name="connsiteX4" fmla="*/ 637540 w 787400"/>
                    <a:gd name="connsiteY4" fmla="*/ 454660 h 462280"/>
                    <a:gd name="connsiteX5" fmla="*/ 787400 w 787400"/>
                    <a:gd name="connsiteY5" fmla="*/ 0 h 46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7400" h="462280">
                      <a:moveTo>
                        <a:pt x="787400" y="0"/>
                      </a:moveTo>
                      <a:lnTo>
                        <a:pt x="429260" y="355600"/>
                      </a:lnTo>
                      <a:lnTo>
                        <a:pt x="0" y="462280"/>
                      </a:lnTo>
                      <a:lnTo>
                        <a:pt x="33020" y="462280"/>
                      </a:lnTo>
                      <a:lnTo>
                        <a:pt x="637540" y="454660"/>
                      </a:lnTo>
                      <a:lnTo>
                        <a:pt x="787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3" name="Freeform: Shape 42">
                  <a:extLst>
                    <a:ext uri="{FF2B5EF4-FFF2-40B4-BE49-F238E27FC236}">
                      <a16:creationId xmlns:a16="http://schemas.microsoft.com/office/drawing/2014/main" id="{4C31C10D-9F0E-4D9B-9563-C6B39AC257D6}"/>
                    </a:ext>
                  </a:extLst>
                </p:cNvPr>
                <p:cNvSpPr/>
                <p:nvPr/>
              </p:nvSpPr>
              <p:spPr bwMode="auto">
                <a:xfrm>
                  <a:off x="4861560" y="2444750"/>
                  <a:ext cx="414020" cy="473735"/>
                </a:xfrm>
                <a:custGeom>
                  <a:avLst/>
                  <a:gdLst>
                    <a:gd name="connsiteX0" fmla="*/ 167640 w 414020"/>
                    <a:gd name="connsiteY0" fmla="*/ 0 h 469925"/>
                    <a:gd name="connsiteX1" fmla="*/ 414020 w 414020"/>
                    <a:gd name="connsiteY1" fmla="*/ 368300 h 469925"/>
                    <a:gd name="connsiteX2" fmla="*/ 383540 w 414020"/>
                    <a:gd name="connsiteY2" fmla="*/ 459740 h 469925"/>
                    <a:gd name="connsiteX3" fmla="*/ 353060 w 414020"/>
                    <a:gd name="connsiteY3" fmla="*/ 469900 h 469925"/>
                    <a:gd name="connsiteX4" fmla="*/ 10160 w 414020"/>
                    <a:gd name="connsiteY4" fmla="*/ 462280 h 469925"/>
                    <a:gd name="connsiteX5" fmla="*/ 2540 w 414020"/>
                    <a:gd name="connsiteY5" fmla="*/ 441960 h 469925"/>
                    <a:gd name="connsiteX6" fmla="*/ 0 w 414020"/>
                    <a:gd name="connsiteY6" fmla="*/ 424180 h 469925"/>
                    <a:gd name="connsiteX7" fmla="*/ 167640 w 414020"/>
                    <a:gd name="connsiteY7" fmla="*/ 0 h 469925"/>
                    <a:gd name="connsiteX0" fmla="*/ 173355 w 414020"/>
                    <a:gd name="connsiteY0" fmla="*/ 0 h 473735"/>
                    <a:gd name="connsiteX1" fmla="*/ 414020 w 414020"/>
                    <a:gd name="connsiteY1" fmla="*/ 372110 h 473735"/>
                    <a:gd name="connsiteX2" fmla="*/ 383540 w 414020"/>
                    <a:gd name="connsiteY2" fmla="*/ 463550 h 473735"/>
                    <a:gd name="connsiteX3" fmla="*/ 353060 w 414020"/>
                    <a:gd name="connsiteY3" fmla="*/ 473710 h 473735"/>
                    <a:gd name="connsiteX4" fmla="*/ 10160 w 414020"/>
                    <a:gd name="connsiteY4" fmla="*/ 466090 h 473735"/>
                    <a:gd name="connsiteX5" fmla="*/ 2540 w 414020"/>
                    <a:gd name="connsiteY5" fmla="*/ 445770 h 473735"/>
                    <a:gd name="connsiteX6" fmla="*/ 0 w 414020"/>
                    <a:gd name="connsiteY6" fmla="*/ 427990 h 473735"/>
                    <a:gd name="connsiteX7" fmla="*/ 173355 w 414020"/>
                    <a:gd name="connsiteY7" fmla="*/ 0 h 47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020" h="473735">
                      <a:moveTo>
                        <a:pt x="173355" y="0"/>
                      </a:moveTo>
                      <a:lnTo>
                        <a:pt x="414020" y="372110"/>
                      </a:lnTo>
                      <a:lnTo>
                        <a:pt x="383540" y="463550"/>
                      </a:lnTo>
                      <a:cubicBezTo>
                        <a:pt x="358359" y="474742"/>
                        <a:pt x="369019" y="473710"/>
                        <a:pt x="353060" y="473710"/>
                      </a:cubicBezTo>
                      <a:lnTo>
                        <a:pt x="10160" y="466090"/>
                      </a:lnTo>
                      <a:cubicBezTo>
                        <a:pt x="7620" y="459317"/>
                        <a:pt x="4404" y="452760"/>
                        <a:pt x="2540" y="445770"/>
                      </a:cubicBezTo>
                      <a:cubicBezTo>
                        <a:pt x="997" y="439985"/>
                        <a:pt x="0" y="427990"/>
                        <a:pt x="0" y="427990"/>
                      </a:cubicBezTo>
                      <a:lnTo>
                        <a:pt x="173355"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4" name="Freeform: Shape 43">
                  <a:extLst>
                    <a:ext uri="{FF2B5EF4-FFF2-40B4-BE49-F238E27FC236}">
                      <a16:creationId xmlns:a16="http://schemas.microsoft.com/office/drawing/2014/main" id="{84CE288B-3920-49A5-AE51-19F32DAF1CDB}"/>
                    </a:ext>
                  </a:extLst>
                </p:cNvPr>
                <p:cNvSpPr/>
                <p:nvPr/>
              </p:nvSpPr>
              <p:spPr bwMode="auto">
                <a:xfrm>
                  <a:off x="5155184" y="1840992"/>
                  <a:ext cx="666496" cy="1237488"/>
                </a:xfrm>
                <a:custGeom>
                  <a:avLst/>
                  <a:gdLst>
                    <a:gd name="connsiteX0" fmla="*/ 335280 w 629920"/>
                    <a:gd name="connsiteY0" fmla="*/ 0 h 1341120"/>
                    <a:gd name="connsiteX1" fmla="*/ 629920 w 629920"/>
                    <a:gd name="connsiteY1" fmla="*/ 523240 h 1341120"/>
                    <a:gd name="connsiteX2" fmla="*/ 198120 w 629920"/>
                    <a:gd name="connsiteY2" fmla="*/ 1310640 h 1341120"/>
                    <a:gd name="connsiteX3" fmla="*/ 0 w 629920"/>
                    <a:gd name="connsiteY3" fmla="*/ 1341120 h 1341120"/>
                    <a:gd name="connsiteX4" fmla="*/ 335280 w 629920"/>
                    <a:gd name="connsiteY4" fmla="*/ 0 h 1341120"/>
                    <a:gd name="connsiteX0" fmla="*/ 481584 w 629920"/>
                    <a:gd name="connsiteY0" fmla="*/ 0 h 1267968"/>
                    <a:gd name="connsiteX1" fmla="*/ 629920 w 629920"/>
                    <a:gd name="connsiteY1" fmla="*/ 450088 h 1267968"/>
                    <a:gd name="connsiteX2" fmla="*/ 198120 w 629920"/>
                    <a:gd name="connsiteY2" fmla="*/ 1237488 h 1267968"/>
                    <a:gd name="connsiteX3" fmla="*/ 0 w 629920"/>
                    <a:gd name="connsiteY3" fmla="*/ 1267968 h 1267968"/>
                    <a:gd name="connsiteX4" fmla="*/ 481584 w 629920"/>
                    <a:gd name="connsiteY4" fmla="*/ 0 h 1267968"/>
                    <a:gd name="connsiteX0" fmla="*/ 518160 w 666496"/>
                    <a:gd name="connsiteY0" fmla="*/ 0 h 1237488"/>
                    <a:gd name="connsiteX1" fmla="*/ 666496 w 666496"/>
                    <a:gd name="connsiteY1" fmla="*/ 450088 h 1237488"/>
                    <a:gd name="connsiteX2" fmla="*/ 234696 w 666496"/>
                    <a:gd name="connsiteY2" fmla="*/ 1237488 h 1237488"/>
                    <a:gd name="connsiteX3" fmla="*/ 0 w 666496"/>
                    <a:gd name="connsiteY3" fmla="*/ 1237488 h 1237488"/>
                    <a:gd name="connsiteX4" fmla="*/ 518160 w 666496"/>
                    <a:gd name="connsiteY4" fmla="*/ 0 h 1237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496" h="1237488">
                      <a:moveTo>
                        <a:pt x="518160" y="0"/>
                      </a:moveTo>
                      <a:lnTo>
                        <a:pt x="666496" y="450088"/>
                      </a:lnTo>
                      <a:lnTo>
                        <a:pt x="234696" y="1237488"/>
                      </a:lnTo>
                      <a:lnTo>
                        <a:pt x="0" y="1237488"/>
                      </a:lnTo>
                      <a:lnTo>
                        <a:pt x="51816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5" name="Freeform: Shape 44">
                  <a:extLst>
                    <a:ext uri="{FF2B5EF4-FFF2-40B4-BE49-F238E27FC236}">
                      <a16:creationId xmlns:a16="http://schemas.microsoft.com/office/drawing/2014/main" id="{1D60A156-8B83-4142-834A-370088311E1C}"/>
                    </a:ext>
                  </a:extLst>
                </p:cNvPr>
                <p:cNvSpPr/>
                <p:nvPr/>
              </p:nvSpPr>
              <p:spPr bwMode="auto">
                <a:xfrm>
                  <a:off x="5384800" y="2288540"/>
                  <a:ext cx="1082040" cy="784860"/>
                </a:xfrm>
                <a:custGeom>
                  <a:avLst/>
                  <a:gdLst>
                    <a:gd name="connsiteX0" fmla="*/ 436880 w 1102360"/>
                    <a:gd name="connsiteY0" fmla="*/ 0 h 772160"/>
                    <a:gd name="connsiteX1" fmla="*/ 1102360 w 1102360"/>
                    <a:gd name="connsiteY1" fmla="*/ 40640 h 772160"/>
                    <a:gd name="connsiteX2" fmla="*/ 0 w 1102360"/>
                    <a:gd name="connsiteY2" fmla="*/ 772160 h 772160"/>
                    <a:gd name="connsiteX3" fmla="*/ 436880 w 1102360"/>
                    <a:gd name="connsiteY3" fmla="*/ 0 h 772160"/>
                    <a:gd name="connsiteX0" fmla="*/ 434340 w 1102360"/>
                    <a:gd name="connsiteY0" fmla="*/ 0 h 784860"/>
                    <a:gd name="connsiteX1" fmla="*/ 1102360 w 1102360"/>
                    <a:gd name="connsiteY1" fmla="*/ 53340 h 784860"/>
                    <a:gd name="connsiteX2" fmla="*/ 0 w 1102360"/>
                    <a:gd name="connsiteY2" fmla="*/ 784860 h 784860"/>
                    <a:gd name="connsiteX3" fmla="*/ 434340 w 1102360"/>
                    <a:gd name="connsiteY3" fmla="*/ 0 h 784860"/>
                    <a:gd name="connsiteX0" fmla="*/ 434340 w 1082040"/>
                    <a:gd name="connsiteY0" fmla="*/ 0 h 784860"/>
                    <a:gd name="connsiteX1" fmla="*/ 1082040 w 1082040"/>
                    <a:gd name="connsiteY1" fmla="*/ 43180 h 784860"/>
                    <a:gd name="connsiteX2" fmla="*/ 0 w 1082040"/>
                    <a:gd name="connsiteY2" fmla="*/ 784860 h 784860"/>
                    <a:gd name="connsiteX3" fmla="*/ 434340 w 1082040"/>
                    <a:gd name="connsiteY3" fmla="*/ 0 h 784860"/>
                  </a:gdLst>
                  <a:ahLst/>
                  <a:cxnLst>
                    <a:cxn ang="0">
                      <a:pos x="connsiteX0" y="connsiteY0"/>
                    </a:cxn>
                    <a:cxn ang="0">
                      <a:pos x="connsiteX1" y="connsiteY1"/>
                    </a:cxn>
                    <a:cxn ang="0">
                      <a:pos x="connsiteX2" y="connsiteY2"/>
                    </a:cxn>
                    <a:cxn ang="0">
                      <a:pos x="connsiteX3" y="connsiteY3"/>
                    </a:cxn>
                  </a:cxnLst>
                  <a:rect l="l" t="t" r="r" b="b"/>
                  <a:pathLst>
                    <a:path w="1082040" h="784860">
                      <a:moveTo>
                        <a:pt x="434340" y="0"/>
                      </a:moveTo>
                      <a:lnTo>
                        <a:pt x="1082040" y="43180"/>
                      </a:lnTo>
                      <a:lnTo>
                        <a:pt x="0" y="784860"/>
                      </a:lnTo>
                      <a:lnTo>
                        <a:pt x="4343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6" name="Freeform: Shape 45">
                  <a:extLst>
                    <a:ext uri="{FF2B5EF4-FFF2-40B4-BE49-F238E27FC236}">
                      <a16:creationId xmlns:a16="http://schemas.microsoft.com/office/drawing/2014/main" id="{03C4C2F1-1A8C-4B14-89FF-84634ADE1E7A}"/>
                    </a:ext>
                  </a:extLst>
                </p:cNvPr>
                <p:cNvSpPr/>
                <p:nvPr/>
              </p:nvSpPr>
              <p:spPr bwMode="auto">
                <a:xfrm>
                  <a:off x="5382260" y="2324100"/>
                  <a:ext cx="1071880" cy="1008380"/>
                </a:xfrm>
                <a:custGeom>
                  <a:avLst/>
                  <a:gdLst>
                    <a:gd name="connsiteX0" fmla="*/ 1071880 w 1071880"/>
                    <a:gd name="connsiteY0" fmla="*/ 0 h 1008380"/>
                    <a:gd name="connsiteX1" fmla="*/ 1069340 w 1071880"/>
                    <a:gd name="connsiteY1" fmla="*/ 586740 h 1008380"/>
                    <a:gd name="connsiteX2" fmla="*/ 556260 w 1071880"/>
                    <a:gd name="connsiteY2" fmla="*/ 1008380 h 1008380"/>
                    <a:gd name="connsiteX3" fmla="*/ 0 w 1071880"/>
                    <a:gd name="connsiteY3" fmla="*/ 749300 h 1008380"/>
                    <a:gd name="connsiteX4" fmla="*/ 12700 w 1071880"/>
                    <a:gd name="connsiteY4" fmla="*/ 731520 h 1008380"/>
                    <a:gd name="connsiteX5" fmla="*/ 1071880 w 1071880"/>
                    <a:gd name="connsiteY5" fmla="*/ 0 h 100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880" h="1008380">
                      <a:moveTo>
                        <a:pt x="1071880" y="0"/>
                      </a:moveTo>
                      <a:cubicBezTo>
                        <a:pt x="1071033" y="195580"/>
                        <a:pt x="1070187" y="391160"/>
                        <a:pt x="1069340" y="586740"/>
                      </a:cubicBezTo>
                      <a:lnTo>
                        <a:pt x="556260" y="1008380"/>
                      </a:lnTo>
                      <a:lnTo>
                        <a:pt x="0" y="749300"/>
                      </a:lnTo>
                      <a:lnTo>
                        <a:pt x="12700" y="731520"/>
                      </a:lnTo>
                      <a:lnTo>
                        <a:pt x="107188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7" name="Freeform: Shape 46">
                  <a:extLst>
                    <a:ext uri="{FF2B5EF4-FFF2-40B4-BE49-F238E27FC236}">
                      <a16:creationId xmlns:a16="http://schemas.microsoft.com/office/drawing/2014/main" id="{D7029AEE-60B0-4490-A77F-DCF5760DEEF3}"/>
                    </a:ext>
                  </a:extLst>
                </p:cNvPr>
                <p:cNvSpPr/>
                <p:nvPr/>
              </p:nvSpPr>
              <p:spPr bwMode="auto">
                <a:xfrm>
                  <a:off x="6443980" y="2118360"/>
                  <a:ext cx="830580" cy="787400"/>
                </a:xfrm>
                <a:custGeom>
                  <a:avLst/>
                  <a:gdLst>
                    <a:gd name="connsiteX0" fmla="*/ 0 w 817880"/>
                    <a:gd name="connsiteY0" fmla="*/ 213360 h 787400"/>
                    <a:gd name="connsiteX1" fmla="*/ 599440 w 817880"/>
                    <a:gd name="connsiteY1" fmla="*/ 0 h 787400"/>
                    <a:gd name="connsiteX2" fmla="*/ 817880 w 817880"/>
                    <a:gd name="connsiteY2" fmla="*/ 477520 h 787400"/>
                    <a:gd name="connsiteX3" fmla="*/ 0 w 817880"/>
                    <a:gd name="connsiteY3" fmla="*/ 787400 h 787400"/>
                    <a:gd name="connsiteX4" fmla="*/ 0 w 817880"/>
                    <a:gd name="connsiteY4" fmla="*/ 21336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880" h="787400">
                      <a:moveTo>
                        <a:pt x="0" y="213360"/>
                      </a:moveTo>
                      <a:lnTo>
                        <a:pt x="599440" y="0"/>
                      </a:lnTo>
                      <a:lnTo>
                        <a:pt x="817880" y="477520"/>
                      </a:lnTo>
                      <a:lnTo>
                        <a:pt x="0" y="787400"/>
                      </a:lnTo>
                      <a:lnTo>
                        <a:pt x="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48" name="Freeform: Shape 47">
                  <a:extLst>
                    <a:ext uri="{FF2B5EF4-FFF2-40B4-BE49-F238E27FC236}">
                      <a16:creationId xmlns:a16="http://schemas.microsoft.com/office/drawing/2014/main" id="{F13D6CC1-E6EC-4F42-878C-FC904DBA469A}"/>
                    </a:ext>
                  </a:extLst>
                </p:cNvPr>
                <p:cNvSpPr/>
                <p:nvPr/>
              </p:nvSpPr>
              <p:spPr bwMode="auto">
                <a:xfrm>
                  <a:off x="7043420" y="2108200"/>
                  <a:ext cx="805180" cy="579120"/>
                </a:xfrm>
                <a:custGeom>
                  <a:avLst/>
                  <a:gdLst>
                    <a:gd name="connsiteX0" fmla="*/ 0 w 792480"/>
                    <a:gd name="connsiteY0" fmla="*/ 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5" fmla="*/ 0 w 792480"/>
                    <a:gd name="connsiteY5" fmla="*/ 0 h 574040"/>
                    <a:gd name="connsiteX0" fmla="*/ 421640 w 792480"/>
                    <a:gd name="connsiteY0" fmla="*/ 37592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0" fmla="*/ 434340 w 805180"/>
                    <a:gd name="connsiteY0" fmla="*/ 381000 h 579120"/>
                    <a:gd name="connsiteX1" fmla="*/ 0 w 805180"/>
                    <a:gd name="connsiteY1" fmla="*/ 0 h 579120"/>
                    <a:gd name="connsiteX2" fmla="*/ 220980 w 805180"/>
                    <a:gd name="connsiteY2" fmla="*/ 502920 h 579120"/>
                    <a:gd name="connsiteX3" fmla="*/ 805180 w 805180"/>
                    <a:gd name="connsiteY3" fmla="*/ 579120 h 579120"/>
                    <a:gd name="connsiteX4" fmla="*/ 434340 w 805180"/>
                    <a:gd name="connsiteY4" fmla="*/ 38100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180" h="579120">
                      <a:moveTo>
                        <a:pt x="434340" y="381000"/>
                      </a:moveTo>
                      <a:lnTo>
                        <a:pt x="0" y="0"/>
                      </a:lnTo>
                      <a:lnTo>
                        <a:pt x="220980" y="502920"/>
                      </a:lnTo>
                      <a:lnTo>
                        <a:pt x="805180" y="579120"/>
                      </a:lnTo>
                      <a:lnTo>
                        <a:pt x="434340" y="3810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9" name="Freeform: Shape 48">
                  <a:extLst>
                    <a:ext uri="{FF2B5EF4-FFF2-40B4-BE49-F238E27FC236}">
                      <a16:creationId xmlns:a16="http://schemas.microsoft.com/office/drawing/2014/main" id="{411EF766-A0FB-4998-93C7-18296AFA4F03}"/>
                    </a:ext>
                  </a:extLst>
                </p:cNvPr>
                <p:cNvSpPr/>
                <p:nvPr/>
              </p:nvSpPr>
              <p:spPr bwMode="auto">
                <a:xfrm>
                  <a:off x="6446520" y="2580640"/>
                  <a:ext cx="1403350" cy="360680"/>
                </a:xfrm>
                <a:custGeom>
                  <a:avLst/>
                  <a:gdLst>
                    <a:gd name="connsiteX0" fmla="*/ 1407160 w 1407160"/>
                    <a:gd name="connsiteY0" fmla="*/ 86360 h 360680"/>
                    <a:gd name="connsiteX1" fmla="*/ 990600 w 1407160"/>
                    <a:gd name="connsiteY1" fmla="*/ 360680 h 360680"/>
                    <a:gd name="connsiteX2" fmla="*/ 0 w 1407160"/>
                    <a:gd name="connsiteY2" fmla="*/ 314960 h 360680"/>
                    <a:gd name="connsiteX3" fmla="*/ 812800 w 1407160"/>
                    <a:gd name="connsiteY3" fmla="*/ 0 h 360680"/>
                    <a:gd name="connsiteX4" fmla="*/ 1407160 w 1407160"/>
                    <a:gd name="connsiteY4" fmla="*/ 86360 h 360680"/>
                    <a:gd name="connsiteX0" fmla="*/ 1403350 w 1403350"/>
                    <a:gd name="connsiteY0" fmla="*/ 105410 h 360680"/>
                    <a:gd name="connsiteX1" fmla="*/ 990600 w 1403350"/>
                    <a:gd name="connsiteY1" fmla="*/ 360680 h 360680"/>
                    <a:gd name="connsiteX2" fmla="*/ 0 w 1403350"/>
                    <a:gd name="connsiteY2" fmla="*/ 314960 h 360680"/>
                    <a:gd name="connsiteX3" fmla="*/ 812800 w 1403350"/>
                    <a:gd name="connsiteY3" fmla="*/ 0 h 360680"/>
                    <a:gd name="connsiteX4" fmla="*/ 1403350 w 1403350"/>
                    <a:gd name="connsiteY4" fmla="*/ 105410 h 360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350" h="360680">
                      <a:moveTo>
                        <a:pt x="1403350" y="105410"/>
                      </a:moveTo>
                      <a:lnTo>
                        <a:pt x="990600" y="360680"/>
                      </a:lnTo>
                      <a:lnTo>
                        <a:pt x="0" y="314960"/>
                      </a:lnTo>
                      <a:lnTo>
                        <a:pt x="812800" y="0"/>
                      </a:lnTo>
                      <a:lnTo>
                        <a:pt x="1403350" y="10541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0" name="Freeform: Shape 49">
                  <a:extLst>
                    <a:ext uri="{FF2B5EF4-FFF2-40B4-BE49-F238E27FC236}">
                      <a16:creationId xmlns:a16="http://schemas.microsoft.com/office/drawing/2014/main" id="{7990BFF1-20D9-4834-A7EC-57DFC9BD5A49}"/>
                    </a:ext>
                  </a:extLst>
                </p:cNvPr>
                <p:cNvSpPr/>
                <p:nvPr/>
              </p:nvSpPr>
              <p:spPr bwMode="auto">
                <a:xfrm>
                  <a:off x="7416800" y="2667000"/>
                  <a:ext cx="640080" cy="340360"/>
                </a:xfrm>
                <a:custGeom>
                  <a:avLst/>
                  <a:gdLst>
                    <a:gd name="connsiteX0" fmla="*/ 406400 w 609600"/>
                    <a:gd name="connsiteY0" fmla="*/ 0 h 340360"/>
                    <a:gd name="connsiteX1" fmla="*/ 609600 w 609600"/>
                    <a:gd name="connsiteY1" fmla="*/ 127000 h 340360"/>
                    <a:gd name="connsiteX2" fmla="*/ 497840 w 609600"/>
                    <a:gd name="connsiteY2" fmla="*/ 340360 h 340360"/>
                    <a:gd name="connsiteX3" fmla="*/ 0 w 609600"/>
                    <a:gd name="connsiteY3" fmla="*/ 264160 h 340360"/>
                    <a:gd name="connsiteX4" fmla="*/ 406400 w 609600"/>
                    <a:gd name="connsiteY4" fmla="*/ 0 h 340360"/>
                    <a:gd name="connsiteX0" fmla="*/ 406400 w 640080"/>
                    <a:gd name="connsiteY0" fmla="*/ 0 h 340360"/>
                    <a:gd name="connsiteX1" fmla="*/ 640080 w 640080"/>
                    <a:gd name="connsiteY1" fmla="*/ 116840 h 340360"/>
                    <a:gd name="connsiteX2" fmla="*/ 497840 w 640080"/>
                    <a:gd name="connsiteY2" fmla="*/ 340360 h 340360"/>
                    <a:gd name="connsiteX3" fmla="*/ 0 w 640080"/>
                    <a:gd name="connsiteY3" fmla="*/ 264160 h 340360"/>
                    <a:gd name="connsiteX4" fmla="*/ 406400 w 640080"/>
                    <a:gd name="connsiteY4" fmla="*/ 0 h 34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340360">
                      <a:moveTo>
                        <a:pt x="406400" y="0"/>
                      </a:moveTo>
                      <a:lnTo>
                        <a:pt x="640080" y="116840"/>
                      </a:lnTo>
                      <a:lnTo>
                        <a:pt x="497840" y="340360"/>
                      </a:lnTo>
                      <a:lnTo>
                        <a:pt x="0" y="264160"/>
                      </a:lnTo>
                      <a:lnTo>
                        <a:pt x="406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1" name="Freeform: Shape 50">
                  <a:extLst>
                    <a:ext uri="{FF2B5EF4-FFF2-40B4-BE49-F238E27FC236}">
                      <a16:creationId xmlns:a16="http://schemas.microsoft.com/office/drawing/2014/main" id="{9F530760-70BB-4495-AD50-F0CB43B2ADB0}"/>
                    </a:ext>
                  </a:extLst>
                </p:cNvPr>
                <p:cNvSpPr/>
                <p:nvPr/>
              </p:nvSpPr>
              <p:spPr bwMode="auto">
                <a:xfrm>
                  <a:off x="7894320" y="2781300"/>
                  <a:ext cx="513080" cy="386080"/>
                </a:xfrm>
                <a:custGeom>
                  <a:avLst/>
                  <a:gdLst>
                    <a:gd name="connsiteX0" fmla="*/ 157480 w 513080"/>
                    <a:gd name="connsiteY0" fmla="*/ 0 h 386080"/>
                    <a:gd name="connsiteX1" fmla="*/ 513080 w 513080"/>
                    <a:gd name="connsiteY1" fmla="*/ 134620 h 386080"/>
                    <a:gd name="connsiteX2" fmla="*/ 248920 w 513080"/>
                    <a:gd name="connsiteY2" fmla="*/ 386080 h 386080"/>
                    <a:gd name="connsiteX3" fmla="*/ 0 w 513080"/>
                    <a:gd name="connsiteY3" fmla="*/ 210820 h 386080"/>
                    <a:gd name="connsiteX4" fmla="*/ 157480 w 513080"/>
                    <a:gd name="connsiteY4" fmla="*/ 0 h 386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80" h="386080">
                      <a:moveTo>
                        <a:pt x="157480" y="0"/>
                      </a:moveTo>
                      <a:lnTo>
                        <a:pt x="513080" y="134620"/>
                      </a:lnTo>
                      <a:lnTo>
                        <a:pt x="248920" y="386080"/>
                      </a:lnTo>
                      <a:lnTo>
                        <a:pt x="0" y="210820"/>
                      </a:lnTo>
                      <a:lnTo>
                        <a:pt x="15748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2" name="Freeform: Shape 51">
                  <a:extLst>
                    <a:ext uri="{FF2B5EF4-FFF2-40B4-BE49-F238E27FC236}">
                      <a16:creationId xmlns:a16="http://schemas.microsoft.com/office/drawing/2014/main" id="{023CCF19-6588-47B1-B708-460324A20E3B}"/>
                    </a:ext>
                  </a:extLst>
                </p:cNvPr>
                <p:cNvSpPr/>
                <p:nvPr/>
              </p:nvSpPr>
              <p:spPr bwMode="auto">
                <a:xfrm>
                  <a:off x="4165600" y="2875280"/>
                  <a:ext cx="1087120" cy="668655"/>
                </a:xfrm>
                <a:custGeom>
                  <a:avLst/>
                  <a:gdLst>
                    <a:gd name="connsiteX0" fmla="*/ 1026160 w 1087120"/>
                    <a:gd name="connsiteY0" fmla="*/ 213360 h 640080"/>
                    <a:gd name="connsiteX1" fmla="*/ 731520 w 1087120"/>
                    <a:gd name="connsiteY1" fmla="*/ 426720 h 640080"/>
                    <a:gd name="connsiteX2" fmla="*/ 802640 w 1087120"/>
                    <a:gd name="connsiteY2" fmla="*/ 629920 h 640080"/>
                    <a:gd name="connsiteX3" fmla="*/ 304800 w 1087120"/>
                    <a:gd name="connsiteY3" fmla="*/ 640080 h 640080"/>
                    <a:gd name="connsiteX4" fmla="*/ 213360 w 1087120"/>
                    <a:gd name="connsiteY4" fmla="*/ 264160 h 640080"/>
                    <a:gd name="connsiteX5" fmla="*/ 0 w 1087120"/>
                    <a:gd name="connsiteY5" fmla="*/ 121920 h 640080"/>
                    <a:gd name="connsiteX6" fmla="*/ 121920 w 1087120"/>
                    <a:gd name="connsiteY6" fmla="*/ 0 h 640080"/>
                    <a:gd name="connsiteX7" fmla="*/ 1087120 w 1087120"/>
                    <a:gd name="connsiteY7" fmla="*/ 10160 h 640080"/>
                    <a:gd name="connsiteX8" fmla="*/ 1026160 w 1087120"/>
                    <a:gd name="connsiteY8" fmla="*/ 213360 h 640080"/>
                    <a:gd name="connsiteX0" fmla="*/ 1026160 w 1087120"/>
                    <a:gd name="connsiteY0" fmla="*/ 213360 h 666750"/>
                    <a:gd name="connsiteX1" fmla="*/ 731520 w 1087120"/>
                    <a:gd name="connsiteY1" fmla="*/ 426720 h 666750"/>
                    <a:gd name="connsiteX2" fmla="*/ 802640 w 1087120"/>
                    <a:gd name="connsiteY2" fmla="*/ 629920 h 666750"/>
                    <a:gd name="connsiteX3" fmla="*/ 247650 w 1087120"/>
                    <a:gd name="connsiteY3" fmla="*/ 666750 h 666750"/>
                    <a:gd name="connsiteX4" fmla="*/ 213360 w 1087120"/>
                    <a:gd name="connsiteY4" fmla="*/ 264160 h 666750"/>
                    <a:gd name="connsiteX5" fmla="*/ 0 w 1087120"/>
                    <a:gd name="connsiteY5" fmla="*/ 121920 h 666750"/>
                    <a:gd name="connsiteX6" fmla="*/ 121920 w 1087120"/>
                    <a:gd name="connsiteY6" fmla="*/ 0 h 666750"/>
                    <a:gd name="connsiteX7" fmla="*/ 1087120 w 1087120"/>
                    <a:gd name="connsiteY7" fmla="*/ 10160 h 666750"/>
                    <a:gd name="connsiteX8" fmla="*/ 1026160 w 1087120"/>
                    <a:gd name="connsiteY8" fmla="*/ 213360 h 666750"/>
                    <a:gd name="connsiteX0" fmla="*/ 1026160 w 1087120"/>
                    <a:gd name="connsiteY0" fmla="*/ 213360 h 668655"/>
                    <a:gd name="connsiteX1" fmla="*/ 731520 w 1087120"/>
                    <a:gd name="connsiteY1" fmla="*/ 426720 h 668655"/>
                    <a:gd name="connsiteX2" fmla="*/ 802640 w 1087120"/>
                    <a:gd name="connsiteY2" fmla="*/ 629920 h 668655"/>
                    <a:gd name="connsiteX3" fmla="*/ 241935 w 1087120"/>
                    <a:gd name="connsiteY3" fmla="*/ 668655 h 668655"/>
                    <a:gd name="connsiteX4" fmla="*/ 213360 w 1087120"/>
                    <a:gd name="connsiteY4" fmla="*/ 264160 h 668655"/>
                    <a:gd name="connsiteX5" fmla="*/ 0 w 1087120"/>
                    <a:gd name="connsiteY5" fmla="*/ 121920 h 668655"/>
                    <a:gd name="connsiteX6" fmla="*/ 121920 w 1087120"/>
                    <a:gd name="connsiteY6" fmla="*/ 0 h 668655"/>
                    <a:gd name="connsiteX7" fmla="*/ 1087120 w 1087120"/>
                    <a:gd name="connsiteY7" fmla="*/ 10160 h 668655"/>
                    <a:gd name="connsiteX8" fmla="*/ 1026160 w 1087120"/>
                    <a:gd name="connsiteY8" fmla="*/ 213360 h 66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 h="668655">
                      <a:moveTo>
                        <a:pt x="1026160" y="213360"/>
                      </a:moveTo>
                      <a:lnTo>
                        <a:pt x="731520" y="426720"/>
                      </a:lnTo>
                      <a:lnTo>
                        <a:pt x="802640" y="629920"/>
                      </a:lnTo>
                      <a:lnTo>
                        <a:pt x="241935" y="668655"/>
                      </a:lnTo>
                      <a:lnTo>
                        <a:pt x="213360" y="264160"/>
                      </a:lnTo>
                      <a:lnTo>
                        <a:pt x="0" y="121920"/>
                      </a:lnTo>
                      <a:lnTo>
                        <a:pt x="121920" y="0"/>
                      </a:lnTo>
                      <a:lnTo>
                        <a:pt x="1087120" y="10160"/>
                      </a:lnTo>
                      <a:lnTo>
                        <a:pt x="102616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53" name="Freeform: Shape 52">
                  <a:extLst>
                    <a:ext uri="{FF2B5EF4-FFF2-40B4-BE49-F238E27FC236}">
                      <a16:creationId xmlns:a16="http://schemas.microsoft.com/office/drawing/2014/main" id="{797350F5-B264-4386-B34C-19C49D8E2260}"/>
                    </a:ext>
                  </a:extLst>
                </p:cNvPr>
                <p:cNvSpPr/>
                <p:nvPr/>
              </p:nvSpPr>
              <p:spPr bwMode="auto">
                <a:xfrm>
                  <a:off x="4094480" y="2997834"/>
                  <a:ext cx="314960" cy="555625"/>
                </a:xfrm>
                <a:custGeom>
                  <a:avLst/>
                  <a:gdLst>
                    <a:gd name="connsiteX0" fmla="*/ 81280 w 314960"/>
                    <a:gd name="connsiteY0" fmla="*/ 0 h 553720"/>
                    <a:gd name="connsiteX1" fmla="*/ 0 w 314960"/>
                    <a:gd name="connsiteY1" fmla="*/ 88900 h 553720"/>
                    <a:gd name="connsiteX2" fmla="*/ 99060 w 314960"/>
                    <a:gd name="connsiteY2" fmla="*/ 393700 h 553720"/>
                    <a:gd name="connsiteX3" fmla="*/ 314960 w 314960"/>
                    <a:gd name="connsiteY3" fmla="*/ 553720 h 553720"/>
                    <a:gd name="connsiteX4" fmla="*/ 287020 w 314960"/>
                    <a:gd name="connsiteY4" fmla="*/ 139700 h 553720"/>
                    <a:gd name="connsiteX5" fmla="*/ 81280 w 314960"/>
                    <a:gd name="connsiteY5" fmla="*/ 0 h 553720"/>
                    <a:gd name="connsiteX0" fmla="*/ 77470 w 314960"/>
                    <a:gd name="connsiteY0" fmla="*/ 0 h 555625"/>
                    <a:gd name="connsiteX1" fmla="*/ 0 w 314960"/>
                    <a:gd name="connsiteY1" fmla="*/ 90805 h 555625"/>
                    <a:gd name="connsiteX2" fmla="*/ 99060 w 314960"/>
                    <a:gd name="connsiteY2" fmla="*/ 395605 h 555625"/>
                    <a:gd name="connsiteX3" fmla="*/ 314960 w 314960"/>
                    <a:gd name="connsiteY3" fmla="*/ 555625 h 555625"/>
                    <a:gd name="connsiteX4" fmla="*/ 287020 w 314960"/>
                    <a:gd name="connsiteY4" fmla="*/ 141605 h 555625"/>
                    <a:gd name="connsiteX5" fmla="*/ 77470 w 314960"/>
                    <a:gd name="connsiteY5" fmla="*/ 0 h 55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555625">
                      <a:moveTo>
                        <a:pt x="77470" y="0"/>
                      </a:moveTo>
                      <a:lnTo>
                        <a:pt x="0" y="90805"/>
                      </a:lnTo>
                      <a:lnTo>
                        <a:pt x="99060" y="395605"/>
                      </a:lnTo>
                      <a:lnTo>
                        <a:pt x="314960" y="555625"/>
                      </a:lnTo>
                      <a:lnTo>
                        <a:pt x="287020" y="141605"/>
                      </a:lnTo>
                      <a:lnTo>
                        <a:pt x="7747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4" name="Freeform: Shape 53">
                  <a:extLst>
                    <a:ext uri="{FF2B5EF4-FFF2-40B4-BE49-F238E27FC236}">
                      <a16:creationId xmlns:a16="http://schemas.microsoft.com/office/drawing/2014/main" id="{EF4EC2ED-9A1F-42E4-A7B1-83475650119B}"/>
                    </a:ext>
                  </a:extLst>
                </p:cNvPr>
                <p:cNvSpPr/>
                <p:nvPr/>
              </p:nvSpPr>
              <p:spPr bwMode="auto">
                <a:xfrm>
                  <a:off x="4392930" y="3501390"/>
                  <a:ext cx="582930" cy="346710"/>
                </a:xfrm>
                <a:custGeom>
                  <a:avLst/>
                  <a:gdLst>
                    <a:gd name="connsiteX0" fmla="*/ 0 w 582930"/>
                    <a:gd name="connsiteY0" fmla="*/ 41910 h 346710"/>
                    <a:gd name="connsiteX1" fmla="*/ 582930 w 582930"/>
                    <a:gd name="connsiteY1" fmla="*/ 0 h 346710"/>
                    <a:gd name="connsiteX2" fmla="*/ 335280 w 582930"/>
                    <a:gd name="connsiteY2" fmla="*/ 346710 h 346710"/>
                    <a:gd name="connsiteX3" fmla="*/ 0 w 582930"/>
                    <a:gd name="connsiteY3" fmla="*/ 41910 h 346710"/>
                  </a:gdLst>
                  <a:ahLst/>
                  <a:cxnLst>
                    <a:cxn ang="0">
                      <a:pos x="connsiteX0" y="connsiteY0"/>
                    </a:cxn>
                    <a:cxn ang="0">
                      <a:pos x="connsiteX1" y="connsiteY1"/>
                    </a:cxn>
                    <a:cxn ang="0">
                      <a:pos x="connsiteX2" y="connsiteY2"/>
                    </a:cxn>
                    <a:cxn ang="0">
                      <a:pos x="connsiteX3" y="connsiteY3"/>
                    </a:cxn>
                  </a:cxnLst>
                  <a:rect l="l" t="t" r="r" b="b"/>
                  <a:pathLst>
                    <a:path w="582930" h="346710">
                      <a:moveTo>
                        <a:pt x="0" y="41910"/>
                      </a:moveTo>
                      <a:lnTo>
                        <a:pt x="582930" y="0"/>
                      </a:lnTo>
                      <a:lnTo>
                        <a:pt x="335280" y="346710"/>
                      </a:lnTo>
                      <a:lnTo>
                        <a:pt x="0" y="4191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5" name="Freeform: Shape 54">
                  <a:extLst>
                    <a:ext uri="{FF2B5EF4-FFF2-40B4-BE49-F238E27FC236}">
                      <a16:creationId xmlns:a16="http://schemas.microsoft.com/office/drawing/2014/main" id="{C1EAC7CF-EC53-4058-934B-FD83077AF8B0}"/>
                    </a:ext>
                  </a:extLst>
                </p:cNvPr>
                <p:cNvSpPr/>
                <p:nvPr/>
              </p:nvSpPr>
              <p:spPr bwMode="auto">
                <a:xfrm>
                  <a:off x="4861560" y="3053080"/>
                  <a:ext cx="767080" cy="508000"/>
                </a:xfrm>
                <a:custGeom>
                  <a:avLst/>
                  <a:gdLst>
                    <a:gd name="connsiteX0" fmla="*/ 81280 w 767080"/>
                    <a:gd name="connsiteY0" fmla="*/ 462280 h 508000"/>
                    <a:gd name="connsiteX1" fmla="*/ 563880 w 767080"/>
                    <a:gd name="connsiteY1" fmla="*/ 508000 h 508000"/>
                    <a:gd name="connsiteX2" fmla="*/ 767080 w 767080"/>
                    <a:gd name="connsiteY2" fmla="*/ 111760 h 508000"/>
                    <a:gd name="connsiteX3" fmla="*/ 502920 w 767080"/>
                    <a:gd name="connsiteY3" fmla="*/ 0 h 508000"/>
                    <a:gd name="connsiteX4" fmla="*/ 314960 w 767080"/>
                    <a:gd name="connsiteY4" fmla="*/ 15240 h 508000"/>
                    <a:gd name="connsiteX5" fmla="*/ 0 w 767080"/>
                    <a:gd name="connsiteY5" fmla="*/ 233680 h 508000"/>
                    <a:gd name="connsiteX6" fmla="*/ 81280 w 767080"/>
                    <a:gd name="connsiteY6" fmla="*/ 46228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7080" h="508000">
                      <a:moveTo>
                        <a:pt x="81280" y="462280"/>
                      </a:moveTo>
                      <a:lnTo>
                        <a:pt x="563880" y="508000"/>
                      </a:lnTo>
                      <a:lnTo>
                        <a:pt x="767080" y="111760"/>
                      </a:lnTo>
                      <a:lnTo>
                        <a:pt x="502920" y="0"/>
                      </a:lnTo>
                      <a:lnTo>
                        <a:pt x="314960" y="15240"/>
                      </a:lnTo>
                      <a:lnTo>
                        <a:pt x="0" y="233680"/>
                      </a:lnTo>
                      <a:lnTo>
                        <a:pt x="81280" y="4622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6" name="Freeform: Shape 55">
                  <a:extLst>
                    <a:ext uri="{FF2B5EF4-FFF2-40B4-BE49-F238E27FC236}">
                      <a16:creationId xmlns:a16="http://schemas.microsoft.com/office/drawing/2014/main" id="{1BFBAF26-1CD4-42E7-AADF-29F4538F6F98}"/>
                    </a:ext>
                  </a:extLst>
                </p:cNvPr>
                <p:cNvSpPr/>
                <p:nvPr/>
              </p:nvSpPr>
              <p:spPr bwMode="auto">
                <a:xfrm>
                  <a:off x="5420360" y="3159760"/>
                  <a:ext cx="538480" cy="406400"/>
                </a:xfrm>
                <a:custGeom>
                  <a:avLst/>
                  <a:gdLst>
                    <a:gd name="connsiteX0" fmla="*/ 0 w 538480"/>
                    <a:gd name="connsiteY0" fmla="*/ 406400 h 406400"/>
                    <a:gd name="connsiteX1" fmla="*/ 538480 w 538480"/>
                    <a:gd name="connsiteY1" fmla="*/ 152400 h 406400"/>
                    <a:gd name="connsiteX2" fmla="*/ 172720 w 538480"/>
                    <a:gd name="connsiteY2" fmla="*/ 0 h 406400"/>
                    <a:gd name="connsiteX3" fmla="*/ 0 w 53848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538480" h="406400">
                      <a:moveTo>
                        <a:pt x="0" y="406400"/>
                      </a:moveTo>
                      <a:lnTo>
                        <a:pt x="538480" y="152400"/>
                      </a:lnTo>
                      <a:lnTo>
                        <a:pt x="172720" y="0"/>
                      </a:lnTo>
                      <a:lnTo>
                        <a:pt x="0" y="40640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57" name="Freeform: Shape 56">
                  <a:extLst>
                    <a:ext uri="{FF2B5EF4-FFF2-40B4-BE49-F238E27FC236}">
                      <a16:creationId xmlns:a16="http://schemas.microsoft.com/office/drawing/2014/main" id="{F38D2B8E-0DC8-47D8-9421-CF3968DCB7E7}"/>
                    </a:ext>
                  </a:extLst>
                </p:cNvPr>
                <p:cNvSpPr/>
                <p:nvPr/>
              </p:nvSpPr>
              <p:spPr bwMode="auto">
                <a:xfrm>
                  <a:off x="4724400" y="3479800"/>
                  <a:ext cx="726440" cy="365760"/>
                </a:xfrm>
                <a:custGeom>
                  <a:avLst/>
                  <a:gdLst>
                    <a:gd name="connsiteX0" fmla="*/ 0 w 726440"/>
                    <a:gd name="connsiteY0" fmla="*/ 365760 h 365760"/>
                    <a:gd name="connsiteX1" fmla="*/ 726440 w 726440"/>
                    <a:gd name="connsiteY1" fmla="*/ 76200 h 365760"/>
                    <a:gd name="connsiteX2" fmla="*/ 203200 w 726440"/>
                    <a:gd name="connsiteY2" fmla="*/ 0 h 365760"/>
                    <a:gd name="connsiteX3" fmla="*/ 0 w 726440"/>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726440" h="365760">
                      <a:moveTo>
                        <a:pt x="0" y="365760"/>
                      </a:moveTo>
                      <a:lnTo>
                        <a:pt x="726440" y="76200"/>
                      </a:lnTo>
                      <a:lnTo>
                        <a:pt x="203200" y="0"/>
                      </a:lnTo>
                      <a:lnTo>
                        <a:pt x="0" y="3657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8" name="Freeform: Shape 57">
                  <a:extLst>
                    <a:ext uri="{FF2B5EF4-FFF2-40B4-BE49-F238E27FC236}">
                      <a16:creationId xmlns:a16="http://schemas.microsoft.com/office/drawing/2014/main" id="{F3FF140E-27AA-488E-9199-5D7E389F50B8}"/>
                    </a:ext>
                  </a:extLst>
                </p:cNvPr>
                <p:cNvSpPr/>
                <p:nvPr/>
              </p:nvSpPr>
              <p:spPr bwMode="auto">
                <a:xfrm>
                  <a:off x="4688840" y="3556000"/>
                  <a:ext cx="756920" cy="843280"/>
                </a:xfrm>
                <a:custGeom>
                  <a:avLst/>
                  <a:gdLst>
                    <a:gd name="connsiteX0" fmla="*/ 35560 w 756920"/>
                    <a:gd name="connsiteY0" fmla="*/ 269240 h 843280"/>
                    <a:gd name="connsiteX1" fmla="*/ 756920 w 756920"/>
                    <a:gd name="connsiteY1" fmla="*/ 0 h 843280"/>
                    <a:gd name="connsiteX2" fmla="*/ 0 w 756920"/>
                    <a:gd name="connsiteY2" fmla="*/ 843280 h 843280"/>
                    <a:gd name="connsiteX3" fmla="*/ 35560 w 756920"/>
                    <a:gd name="connsiteY3" fmla="*/ 269240 h 843280"/>
                  </a:gdLst>
                  <a:ahLst/>
                  <a:cxnLst>
                    <a:cxn ang="0">
                      <a:pos x="connsiteX0" y="connsiteY0"/>
                    </a:cxn>
                    <a:cxn ang="0">
                      <a:pos x="connsiteX1" y="connsiteY1"/>
                    </a:cxn>
                    <a:cxn ang="0">
                      <a:pos x="connsiteX2" y="connsiteY2"/>
                    </a:cxn>
                    <a:cxn ang="0">
                      <a:pos x="connsiteX3" y="connsiteY3"/>
                    </a:cxn>
                  </a:cxnLst>
                  <a:rect l="l" t="t" r="r" b="b"/>
                  <a:pathLst>
                    <a:path w="756920" h="843280">
                      <a:moveTo>
                        <a:pt x="35560" y="269240"/>
                      </a:moveTo>
                      <a:lnTo>
                        <a:pt x="756920" y="0"/>
                      </a:lnTo>
                      <a:lnTo>
                        <a:pt x="0" y="843280"/>
                      </a:lnTo>
                      <a:lnTo>
                        <a:pt x="35560" y="26924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9" name="Freeform: Shape 58">
                  <a:extLst>
                    <a:ext uri="{FF2B5EF4-FFF2-40B4-BE49-F238E27FC236}">
                      <a16:creationId xmlns:a16="http://schemas.microsoft.com/office/drawing/2014/main" id="{0720E7A1-9249-4458-B18D-C65F9029B069}"/>
                    </a:ext>
                  </a:extLst>
                </p:cNvPr>
                <p:cNvSpPr/>
                <p:nvPr/>
              </p:nvSpPr>
              <p:spPr bwMode="auto">
                <a:xfrm>
                  <a:off x="4688586" y="3322321"/>
                  <a:ext cx="1255014" cy="1075183"/>
                </a:xfrm>
                <a:custGeom>
                  <a:avLst/>
                  <a:gdLst>
                    <a:gd name="connsiteX0" fmla="*/ 1243584 w 1243584"/>
                    <a:gd name="connsiteY0" fmla="*/ 0 h 1078992"/>
                    <a:gd name="connsiteX1" fmla="*/ 566928 w 1243584"/>
                    <a:gd name="connsiteY1" fmla="*/ 1072896 h 1078992"/>
                    <a:gd name="connsiteX2" fmla="*/ 0 w 1243584"/>
                    <a:gd name="connsiteY2" fmla="*/ 1078992 h 1078992"/>
                    <a:gd name="connsiteX3" fmla="*/ 719328 w 1243584"/>
                    <a:gd name="connsiteY3" fmla="*/ 213360 h 1078992"/>
                    <a:gd name="connsiteX4" fmla="*/ 1243584 w 1243584"/>
                    <a:gd name="connsiteY4" fmla="*/ 0 h 1078992"/>
                    <a:gd name="connsiteX0" fmla="*/ 1255014 w 1255014"/>
                    <a:gd name="connsiteY0" fmla="*/ 0 h 1075182"/>
                    <a:gd name="connsiteX1" fmla="*/ 578358 w 1255014"/>
                    <a:gd name="connsiteY1" fmla="*/ 1072896 h 1075182"/>
                    <a:gd name="connsiteX2" fmla="*/ 0 w 1255014"/>
                    <a:gd name="connsiteY2" fmla="*/ 1075182 h 1075182"/>
                    <a:gd name="connsiteX3" fmla="*/ 730758 w 1255014"/>
                    <a:gd name="connsiteY3" fmla="*/ 213360 h 1075182"/>
                    <a:gd name="connsiteX4" fmla="*/ 1255014 w 1255014"/>
                    <a:gd name="connsiteY4" fmla="*/ 0 h 107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014" h="1075182">
                      <a:moveTo>
                        <a:pt x="1255014" y="0"/>
                      </a:moveTo>
                      <a:lnTo>
                        <a:pt x="578358" y="1072896"/>
                      </a:lnTo>
                      <a:lnTo>
                        <a:pt x="0" y="1075182"/>
                      </a:lnTo>
                      <a:lnTo>
                        <a:pt x="730758" y="213360"/>
                      </a:lnTo>
                      <a:lnTo>
                        <a:pt x="1255014"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0" name="Freeform: Shape 59">
                  <a:extLst>
                    <a:ext uri="{FF2B5EF4-FFF2-40B4-BE49-F238E27FC236}">
                      <a16:creationId xmlns:a16="http://schemas.microsoft.com/office/drawing/2014/main" id="{1587C78B-E410-4485-92EA-BB258BB8D81F}"/>
                    </a:ext>
                  </a:extLst>
                </p:cNvPr>
                <p:cNvSpPr/>
                <p:nvPr/>
              </p:nvSpPr>
              <p:spPr bwMode="auto">
                <a:xfrm>
                  <a:off x="4697730" y="4385310"/>
                  <a:ext cx="704850" cy="179070"/>
                </a:xfrm>
                <a:custGeom>
                  <a:avLst/>
                  <a:gdLst>
                    <a:gd name="connsiteX0" fmla="*/ 0 w 704850"/>
                    <a:gd name="connsiteY0" fmla="*/ 3810 h 179070"/>
                    <a:gd name="connsiteX1" fmla="*/ 434340 w 704850"/>
                    <a:gd name="connsiteY1" fmla="*/ 179070 h 179070"/>
                    <a:gd name="connsiteX2" fmla="*/ 704850 w 704850"/>
                    <a:gd name="connsiteY2" fmla="*/ 140970 h 179070"/>
                    <a:gd name="connsiteX3" fmla="*/ 575310 w 704850"/>
                    <a:gd name="connsiteY3" fmla="*/ 0 h 179070"/>
                    <a:gd name="connsiteX4" fmla="*/ 0 w 704850"/>
                    <a:gd name="connsiteY4" fmla="*/ 3810 h 17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50" h="179070">
                      <a:moveTo>
                        <a:pt x="0" y="3810"/>
                      </a:moveTo>
                      <a:lnTo>
                        <a:pt x="434340" y="179070"/>
                      </a:lnTo>
                      <a:lnTo>
                        <a:pt x="704850" y="140970"/>
                      </a:lnTo>
                      <a:lnTo>
                        <a:pt x="575310" y="0"/>
                      </a:lnTo>
                      <a:lnTo>
                        <a:pt x="0" y="381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61" name="Freeform: Shape 60">
                  <a:extLst>
                    <a:ext uri="{FF2B5EF4-FFF2-40B4-BE49-F238E27FC236}">
                      <a16:creationId xmlns:a16="http://schemas.microsoft.com/office/drawing/2014/main" id="{815D9582-E796-442E-93E2-8E27948337FC}"/>
                    </a:ext>
                  </a:extLst>
                </p:cNvPr>
                <p:cNvSpPr/>
                <p:nvPr/>
              </p:nvSpPr>
              <p:spPr bwMode="auto">
                <a:xfrm>
                  <a:off x="4709160" y="4381500"/>
                  <a:ext cx="426720" cy="742950"/>
                </a:xfrm>
                <a:custGeom>
                  <a:avLst/>
                  <a:gdLst>
                    <a:gd name="connsiteX0" fmla="*/ 0 w 426720"/>
                    <a:gd name="connsiteY0" fmla="*/ 0 h 742950"/>
                    <a:gd name="connsiteX1" fmla="*/ 396240 w 426720"/>
                    <a:gd name="connsiteY1" fmla="*/ 742950 h 742950"/>
                    <a:gd name="connsiteX2" fmla="*/ 381000 w 426720"/>
                    <a:gd name="connsiteY2" fmla="*/ 708660 h 742950"/>
                    <a:gd name="connsiteX3" fmla="*/ 426720 w 426720"/>
                    <a:gd name="connsiteY3" fmla="*/ 182880 h 742950"/>
                    <a:gd name="connsiteX4" fmla="*/ 0 w 426720"/>
                    <a:gd name="connsiteY4" fmla="*/ 0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 h="742950">
                      <a:moveTo>
                        <a:pt x="0" y="0"/>
                      </a:moveTo>
                      <a:lnTo>
                        <a:pt x="396240" y="742950"/>
                      </a:lnTo>
                      <a:lnTo>
                        <a:pt x="381000" y="708660"/>
                      </a:lnTo>
                      <a:lnTo>
                        <a:pt x="426720" y="182880"/>
                      </a:lnTo>
                      <a:lnTo>
                        <a:pt x="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2" name="Freeform: Shape 61">
                  <a:extLst>
                    <a:ext uri="{FF2B5EF4-FFF2-40B4-BE49-F238E27FC236}">
                      <a16:creationId xmlns:a16="http://schemas.microsoft.com/office/drawing/2014/main" id="{B17A67A4-EA52-4A5E-92B7-54D646F6BA15}"/>
                    </a:ext>
                  </a:extLst>
                </p:cNvPr>
                <p:cNvSpPr/>
                <p:nvPr/>
              </p:nvSpPr>
              <p:spPr bwMode="auto">
                <a:xfrm>
                  <a:off x="5082540" y="4518660"/>
                  <a:ext cx="468630" cy="1024890"/>
                </a:xfrm>
                <a:custGeom>
                  <a:avLst/>
                  <a:gdLst>
                    <a:gd name="connsiteX0" fmla="*/ 60960 w 468630"/>
                    <a:gd name="connsiteY0" fmla="*/ 4572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60960 w 468630"/>
                    <a:gd name="connsiteY5" fmla="*/ 45720 h 1024890"/>
                    <a:gd name="connsiteX0" fmla="*/ 41910 w 468630"/>
                    <a:gd name="connsiteY0" fmla="*/ 4191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1910 w 468630"/>
                    <a:gd name="connsiteY5" fmla="*/ 41910 h 1024890"/>
                    <a:gd name="connsiteX0" fmla="*/ 45720 w 468630"/>
                    <a:gd name="connsiteY0" fmla="*/ 2286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5720 w 468630"/>
                    <a:gd name="connsiteY5" fmla="*/ 22860 h 102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630" h="1024890">
                      <a:moveTo>
                        <a:pt x="45720" y="22860"/>
                      </a:moveTo>
                      <a:lnTo>
                        <a:pt x="308610" y="0"/>
                      </a:lnTo>
                      <a:lnTo>
                        <a:pt x="468630" y="590550"/>
                      </a:lnTo>
                      <a:lnTo>
                        <a:pt x="320040" y="1024890"/>
                      </a:lnTo>
                      <a:lnTo>
                        <a:pt x="0" y="556260"/>
                      </a:lnTo>
                      <a:lnTo>
                        <a:pt x="45720" y="228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3" name="Freeform: Shape 62">
                  <a:extLst>
                    <a:ext uri="{FF2B5EF4-FFF2-40B4-BE49-F238E27FC236}">
                      <a16:creationId xmlns:a16="http://schemas.microsoft.com/office/drawing/2014/main" id="{CAE051AD-EC66-4BC0-8738-CA65066E19BB}"/>
                    </a:ext>
                  </a:extLst>
                </p:cNvPr>
                <p:cNvSpPr/>
                <p:nvPr/>
              </p:nvSpPr>
              <p:spPr bwMode="auto">
                <a:xfrm>
                  <a:off x="5234940" y="3307080"/>
                  <a:ext cx="792480" cy="1800860"/>
                </a:xfrm>
                <a:custGeom>
                  <a:avLst/>
                  <a:gdLst>
                    <a:gd name="connsiteX0" fmla="*/ 327660 w 792480"/>
                    <a:gd name="connsiteY0" fmla="*/ 1775460 h 1775460"/>
                    <a:gd name="connsiteX1" fmla="*/ 579120 w 792480"/>
                    <a:gd name="connsiteY1" fmla="*/ 1036320 h 1775460"/>
                    <a:gd name="connsiteX2" fmla="*/ 533400 w 792480"/>
                    <a:gd name="connsiteY2" fmla="*/ 868680 h 1775460"/>
                    <a:gd name="connsiteX3" fmla="*/ 792480 w 792480"/>
                    <a:gd name="connsiteY3" fmla="*/ 304800 h 1775460"/>
                    <a:gd name="connsiteX4" fmla="*/ 701040 w 792480"/>
                    <a:gd name="connsiteY4" fmla="*/ 0 h 1775460"/>
                    <a:gd name="connsiteX5" fmla="*/ 0 w 792480"/>
                    <a:gd name="connsiteY5" fmla="*/ 1059180 h 1775460"/>
                    <a:gd name="connsiteX6" fmla="*/ 144780 w 792480"/>
                    <a:gd name="connsiteY6" fmla="*/ 1226820 h 1775460"/>
                    <a:gd name="connsiteX7" fmla="*/ 327660 w 792480"/>
                    <a:gd name="connsiteY7" fmla="*/ 1775460 h 1775460"/>
                    <a:gd name="connsiteX0" fmla="*/ 309880 w 792480"/>
                    <a:gd name="connsiteY0" fmla="*/ 1800860 h 1800860"/>
                    <a:gd name="connsiteX1" fmla="*/ 579120 w 792480"/>
                    <a:gd name="connsiteY1" fmla="*/ 1036320 h 1800860"/>
                    <a:gd name="connsiteX2" fmla="*/ 533400 w 792480"/>
                    <a:gd name="connsiteY2" fmla="*/ 868680 h 1800860"/>
                    <a:gd name="connsiteX3" fmla="*/ 792480 w 792480"/>
                    <a:gd name="connsiteY3" fmla="*/ 304800 h 1800860"/>
                    <a:gd name="connsiteX4" fmla="*/ 701040 w 792480"/>
                    <a:gd name="connsiteY4" fmla="*/ 0 h 1800860"/>
                    <a:gd name="connsiteX5" fmla="*/ 0 w 792480"/>
                    <a:gd name="connsiteY5" fmla="*/ 1059180 h 1800860"/>
                    <a:gd name="connsiteX6" fmla="*/ 144780 w 792480"/>
                    <a:gd name="connsiteY6" fmla="*/ 1226820 h 1800860"/>
                    <a:gd name="connsiteX7" fmla="*/ 309880 w 792480"/>
                    <a:gd name="connsiteY7" fmla="*/ 1800860 h 180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1800860">
                      <a:moveTo>
                        <a:pt x="309880" y="1800860"/>
                      </a:moveTo>
                      <a:lnTo>
                        <a:pt x="579120" y="1036320"/>
                      </a:lnTo>
                      <a:lnTo>
                        <a:pt x="533400" y="868680"/>
                      </a:lnTo>
                      <a:lnTo>
                        <a:pt x="792480" y="304800"/>
                      </a:lnTo>
                      <a:lnTo>
                        <a:pt x="701040" y="0"/>
                      </a:lnTo>
                      <a:lnTo>
                        <a:pt x="0" y="1059180"/>
                      </a:lnTo>
                      <a:lnTo>
                        <a:pt x="144780" y="1226820"/>
                      </a:lnTo>
                      <a:lnTo>
                        <a:pt x="309880" y="180086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4" name="Freeform: Shape 63">
                  <a:extLst>
                    <a:ext uri="{FF2B5EF4-FFF2-40B4-BE49-F238E27FC236}">
                      <a16:creationId xmlns:a16="http://schemas.microsoft.com/office/drawing/2014/main" id="{E504B5D2-980D-41E1-A904-B2D03B056FF3}"/>
                    </a:ext>
                  </a:extLst>
                </p:cNvPr>
                <p:cNvSpPr/>
                <p:nvPr/>
              </p:nvSpPr>
              <p:spPr bwMode="auto">
                <a:xfrm>
                  <a:off x="5623559" y="2865120"/>
                  <a:ext cx="1066800" cy="2225040"/>
                </a:xfrm>
                <a:custGeom>
                  <a:avLst/>
                  <a:gdLst>
                    <a:gd name="connsiteX0" fmla="*/ 259080 w 1066800"/>
                    <a:gd name="connsiteY0" fmla="*/ 457200 h 2225040"/>
                    <a:gd name="connsiteX1" fmla="*/ 868680 w 1066800"/>
                    <a:gd name="connsiteY1" fmla="*/ 0 h 2225040"/>
                    <a:gd name="connsiteX2" fmla="*/ 883920 w 1066800"/>
                    <a:gd name="connsiteY2" fmla="*/ 1234440 h 2225040"/>
                    <a:gd name="connsiteX3" fmla="*/ 1066800 w 1066800"/>
                    <a:gd name="connsiteY3" fmla="*/ 1356360 h 2225040"/>
                    <a:gd name="connsiteX4" fmla="*/ 381000 w 1066800"/>
                    <a:gd name="connsiteY4" fmla="*/ 1798320 h 2225040"/>
                    <a:gd name="connsiteX5" fmla="*/ 533400 w 1066800"/>
                    <a:gd name="connsiteY5" fmla="*/ 2225040 h 2225040"/>
                    <a:gd name="connsiteX6" fmla="*/ 0 w 1066800"/>
                    <a:gd name="connsiteY6" fmla="*/ 1950720 h 2225040"/>
                    <a:gd name="connsiteX7" fmla="*/ 137160 w 1066800"/>
                    <a:gd name="connsiteY7" fmla="*/ 1478280 h 2225040"/>
                    <a:gd name="connsiteX8" fmla="*/ 15240 w 1066800"/>
                    <a:gd name="connsiteY8" fmla="*/ 1234440 h 2225040"/>
                    <a:gd name="connsiteX9" fmla="*/ 350520 w 1066800"/>
                    <a:gd name="connsiteY9" fmla="*/ 716280 h 2225040"/>
                    <a:gd name="connsiteX10" fmla="*/ 259080 w 1066800"/>
                    <a:gd name="connsiteY10" fmla="*/ 45720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800" h="2225040">
                      <a:moveTo>
                        <a:pt x="259080" y="457200"/>
                      </a:moveTo>
                      <a:lnTo>
                        <a:pt x="868680" y="0"/>
                      </a:lnTo>
                      <a:lnTo>
                        <a:pt x="883920" y="1234440"/>
                      </a:lnTo>
                      <a:lnTo>
                        <a:pt x="1066800" y="1356360"/>
                      </a:lnTo>
                      <a:lnTo>
                        <a:pt x="381000" y="1798320"/>
                      </a:lnTo>
                      <a:lnTo>
                        <a:pt x="533400" y="2225040"/>
                      </a:lnTo>
                      <a:lnTo>
                        <a:pt x="0" y="1950720"/>
                      </a:lnTo>
                      <a:lnTo>
                        <a:pt x="137160" y="1478280"/>
                      </a:lnTo>
                      <a:lnTo>
                        <a:pt x="15240" y="1234440"/>
                      </a:lnTo>
                      <a:lnTo>
                        <a:pt x="350520" y="716280"/>
                      </a:lnTo>
                      <a:lnTo>
                        <a:pt x="259080" y="4572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5" name="Freeform: Shape 64">
                  <a:extLst>
                    <a:ext uri="{FF2B5EF4-FFF2-40B4-BE49-F238E27FC236}">
                      <a16:creationId xmlns:a16="http://schemas.microsoft.com/office/drawing/2014/main" id="{478C8E4C-80A3-4A2D-97E7-9421512DB363}"/>
                    </a:ext>
                  </a:extLst>
                </p:cNvPr>
                <p:cNvSpPr/>
                <p:nvPr/>
              </p:nvSpPr>
              <p:spPr bwMode="auto">
                <a:xfrm>
                  <a:off x="5440680" y="4800600"/>
                  <a:ext cx="708660" cy="533400"/>
                </a:xfrm>
                <a:custGeom>
                  <a:avLst/>
                  <a:gdLst>
                    <a:gd name="connsiteX0" fmla="*/ 205740 w 708660"/>
                    <a:gd name="connsiteY0" fmla="*/ 0 h 533400"/>
                    <a:gd name="connsiteX1" fmla="*/ 708660 w 708660"/>
                    <a:gd name="connsiteY1" fmla="*/ 281940 h 533400"/>
                    <a:gd name="connsiteX2" fmla="*/ 0 w 708660"/>
                    <a:gd name="connsiteY2" fmla="*/ 533400 h 533400"/>
                    <a:gd name="connsiteX3" fmla="*/ 205740 w 708660"/>
                    <a:gd name="connsiteY3" fmla="*/ 0 h 533400"/>
                  </a:gdLst>
                  <a:ahLst/>
                  <a:cxnLst>
                    <a:cxn ang="0">
                      <a:pos x="connsiteX0" y="connsiteY0"/>
                    </a:cxn>
                    <a:cxn ang="0">
                      <a:pos x="connsiteX1" y="connsiteY1"/>
                    </a:cxn>
                    <a:cxn ang="0">
                      <a:pos x="connsiteX2" y="connsiteY2"/>
                    </a:cxn>
                    <a:cxn ang="0">
                      <a:pos x="connsiteX3" y="connsiteY3"/>
                    </a:cxn>
                  </a:cxnLst>
                  <a:rect l="l" t="t" r="r" b="b"/>
                  <a:pathLst>
                    <a:path w="708660" h="533400">
                      <a:moveTo>
                        <a:pt x="205740" y="0"/>
                      </a:moveTo>
                      <a:lnTo>
                        <a:pt x="708660" y="281940"/>
                      </a:lnTo>
                      <a:lnTo>
                        <a:pt x="0" y="533400"/>
                      </a:lnTo>
                      <a:lnTo>
                        <a:pt x="2057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6" name="Freeform: Shape 65">
                  <a:extLst>
                    <a:ext uri="{FF2B5EF4-FFF2-40B4-BE49-F238E27FC236}">
                      <a16:creationId xmlns:a16="http://schemas.microsoft.com/office/drawing/2014/main" id="{F80F7614-BC10-4D72-B007-8CD93E5E0127}"/>
                    </a:ext>
                  </a:extLst>
                </p:cNvPr>
                <p:cNvSpPr/>
                <p:nvPr/>
              </p:nvSpPr>
              <p:spPr bwMode="auto">
                <a:xfrm>
                  <a:off x="5407152" y="5071872"/>
                  <a:ext cx="749808" cy="829056"/>
                </a:xfrm>
                <a:custGeom>
                  <a:avLst/>
                  <a:gdLst>
                    <a:gd name="connsiteX0" fmla="*/ 67056 w 749808"/>
                    <a:gd name="connsiteY0" fmla="*/ 225552 h 829056"/>
                    <a:gd name="connsiteX1" fmla="*/ 0 w 749808"/>
                    <a:gd name="connsiteY1" fmla="*/ 451104 h 829056"/>
                    <a:gd name="connsiteX2" fmla="*/ 219456 w 749808"/>
                    <a:gd name="connsiteY2" fmla="*/ 829056 h 829056"/>
                    <a:gd name="connsiteX3" fmla="*/ 749808 w 749808"/>
                    <a:gd name="connsiteY3" fmla="*/ 0 h 829056"/>
                    <a:gd name="connsiteX4" fmla="*/ 67056 w 749808"/>
                    <a:gd name="connsiteY4" fmla="*/ 225552 h 829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808" h="829056">
                      <a:moveTo>
                        <a:pt x="67056" y="225552"/>
                      </a:moveTo>
                      <a:lnTo>
                        <a:pt x="0" y="451104"/>
                      </a:lnTo>
                      <a:lnTo>
                        <a:pt x="219456" y="829056"/>
                      </a:lnTo>
                      <a:lnTo>
                        <a:pt x="749808" y="0"/>
                      </a:lnTo>
                      <a:lnTo>
                        <a:pt x="67056" y="225552"/>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67" name="Freeform: Shape 66">
                  <a:extLst>
                    <a:ext uri="{FF2B5EF4-FFF2-40B4-BE49-F238E27FC236}">
                      <a16:creationId xmlns:a16="http://schemas.microsoft.com/office/drawing/2014/main" id="{A1B4F0FE-2FDA-4CFD-8F73-26A8ABFB58F0}"/>
                    </a:ext>
                  </a:extLst>
                </p:cNvPr>
                <p:cNvSpPr/>
                <p:nvPr/>
              </p:nvSpPr>
              <p:spPr bwMode="auto">
                <a:xfrm>
                  <a:off x="5624068" y="5556504"/>
                  <a:ext cx="603504" cy="344424"/>
                </a:xfrm>
                <a:custGeom>
                  <a:avLst/>
                  <a:gdLst>
                    <a:gd name="connsiteX0" fmla="*/ 219456 w 603504"/>
                    <a:gd name="connsiteY0" fmla="*/ 0 h 329184"/>
                    <a:gd name="connsiteX1" fmla="*/ 603504 w 603504"/>
                    <a:gd name="connsiteY1" fmla="*/ 310896 h 329184"/>
                    <a:gd name="connsiteX2" fmla="*/ 0 w 603504"/>
                    <a:gd name="connsiteY2" fmla="*/ 329184 h 329184"/>
                    <a:gd name="connsiteX3" fmla="*/ 219456 w 603504"/>
                    <a:gd name="connsiteY3" fmla="*/ 0 h 329184"/>
                    <a:gd name="connsiteX0" fmla="*/ 209931 w 603504"/>
                    <a:gd name="connsiteY0" fmla="*/ 0 h 344424"/>
                    <a:gd name="connsiteX1" fmla="*/ 603504 w 603504"/>
                    <a:gd name="connsiteY1" fmla="*/ 326136 h 344424"/>
                    <a:gd name="connsiteX2" fmla="*/ 0 w 603504"/>
                    <a:gd name="connsiteY2" fmla="*/ 344424 h 344424"/>
                    <a:gd name="connsiteX3" fmla="*/ 209931 w 603504"/>
                    <a:gd name="connsiteY3" fmla="*/ 0 h 344424"/>
                  </a:gdLst>
                  <a:ahLst/>
                  <a:cxnLst>
                    <a:cxn ang="0">
                      <a:pos x="connsiteX0" y="connsiteY0"/>
                    </a:cxn>
                    <a:cxn ang="0">
                      <a:pos x="connsiteX1" y="connsiteY1"/>
                    </a:cxn>
                    <a:cxn ang="0">
                      <a:pos x="connsiteX2" y="connsiteY2"/>
                    </a:cxn>
                    <a:cxn ang="0">
                      <a:pos x="connsiteX3" y="connsiteY3"/>
                    </a:cxn>
                  </a:cxnLst>
                  <a:rect l="l" t="t" r="r" b="b"/>
                  <a:pathLst>
                    <a:path w="603504" h="344424">
                      <a:moveTo>
                        <a:pt x="209931" y="0"/>
                      </a:moveTo>
                      <a:lnTo>
                        <a:pt x="603504" y="326136"/>
                      </a:lnTo>
                      <a:lnTo>
                        <a:pt x="0" y="344424"/>
                      </a:lnTo>
                      <a:lnTo>
                        <a:pt x="209931"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8" name="Freeform: Shape 67">
                  <a:extLst>
                    <a:ext uri="{FF2B5EF4-FFF2-40B4-BE49-F238E27FC236}">
                      <a16:creationId xmlns:a16="http://schemas.microsoft.com/office/drawing/2014/main" id="{D28F71B6-2826-4012-8862-16648DDA5ACC}"/>
                    </a:ext>
                  </a:extLst>
                </p:cNvPr>
                <p:cNvSpPr/>
                <p:nvPr/>
              </p:nvSpPr>
              <p:spPr bwMode="auto">
                <a:xfrm>
                  <a:off x="5619750" y="5871210"/>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rgbClr val="008272">
                    <a:alpha val="38000"/>
                  </a:srgb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9" name="Freeform: Shape 68">
                  <a:extLst>
                    <a:ext uri="{FF2B5EF4-FFF2-40B4-BE49-F238E27FC236}">
                      <a16:creationId xmlns:a16="http://schemas.microsoft.com/office/drawing/2014/main" id="{E3D0D517-175F-40E2-B968-54E1D2099988}"/>
                    </a:ext>
                  </a:extLst>
                </p:cNvPr>
                <p:cNvSpPr/>
                <p:nvPr/>
              </p:nvSpPr>
              <p:spPr bwMode="auto">
                <a:xfrm>
                  <a:off x="5916930" y="6187440"/>
                  <a:ext cx="464820" cy="434340"/>
                </a:xfrm>
                <a:custGeom>
                  <a:avLst/>
                  <a:gdLst>
                    <a:gd name="connsiteX0" fmla="*/ 0 w 438150"/>
                    <a:gd name="connsiteY0" fmla="*/ 156210 h 434340"/>
                    <a:gd name="connsiteX1" fmla="*/ 308610 w 438150"/>
                    <a:gd name="connsiteY1" fmla="*/ 0 h 434340"/>
                    <a:gd name="connsiteX2" fmla="*/ 438150 w 438150"/>
                    <a:gd name="connsiteY2" fmla="*/ 129540 h 434340"/>
                    <a:gd name="connsiteX3" fmla="*/ 400050 w 438150"/>
                    <a:gd name="connsiteY3" fmla="*/ 243840 h 434340"/>
                    <a:gd name="connsiteX4" fmla="*/ 167640 w 438150"/>
                    <a:gd name="connsiteY4" fmla="*/ 434340 h 434340"/>
                    <a:gd name="connsiteX5" fmla="*/ 0 w 438150"/>
                    <a:gd name="connsiteY5" fmla="*/ 156210 h 434340"/>
                    <a:gd name="connsiteX0" fmla="*/ 0 w 464820"/>
                    <a:gd name="connsiteY0" fmla="*/ 156210 h 434340"/>
                    <a:gd name="connsiteX1" fmla="*/ 335280 w 464820"/>
                    <a:gd name="connsiteY1" fmla="*/ 0 h 434340"/>
                    <a:gd name="connsiteX2" fmla="*/ 464820 w 464820"/>
                    <a:gd name="connsiteY2" fmla="*/ 129540 h 434340"/>
                    <a:gd name="connsiteX3" fmla="*/ 426720 w 464820"/>
                    <a:gd name="connsiteY3" fmla="*/ 243840 h 434340"/>
                    <a:gd name="connsiteX4" fmla="*/ 194310 w 464820"/>
                    <a:gd name="connsiteY4" fmla="*/ 434340 h 434340"/>
                    <a:gd name="connsiteX5" fmla="*/ 0 w 464820"/>
                    <a:gd name="connsiteY5" fmla="*/ 15621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820" h="434340">
                      <a:moveTo>
                        <a:pt x="0" y="156210"/>
                      </a:moveTo>
                      <a:lnTo>
                        <a:pt x="335280" y="0"/>
                      </a:lnTo>
                      <a:lnTo>
                        <a:pt x="464820" y="129540"/>
                      </a:lnTo>
                      <a:lnTo>
                        <a:pt x="426720" y="243840"/>
                      </a:lnTo>
                      <a:lnTo>
                        <a:pt x="194310" y="434340"/>
                      </a:lnTo>
                      <a:lnTo>
                        <a:pt x="0" y="15621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0" name="Freeform: Shape 69">
                  <a:extLst>
                    <a:ext uri="{FF2B5EF4-FFF2-40B4-BE49-F238E27FC236}">
                      <a16:creationId xmlns:a16="http://schemas.microsoft.com/office/drawing/2014/main" id="{6E101E2E-CBA6-4D0E-8D9D-FE94B646CEE3}"/>
                    </a:ext>
                  </a:extLst>
                </p:cNvPr>
                <p:cNvSpPr/>
                <p:nvPr/>
              </p:nvSpPr>
              <p:spPr bwMode="auto">
                <a:xfrm>
                  <a:off x="6236970" y="5627370"/>
                  <a:ext cx="381000" cy="697230"/>
                </a:xfrm>
                <a:custGeom>
                  <a:avLst/>
                  <a:gdLst>
                    <a:gd name="connsiteX0" fmla="*/ 0 w 381000"/>
                    <a:gd name="connsiteY0" fmla="*/ 571500 h 697230"/>
                    <a:gd name="connsiteX1" fmla="*/ 381000 w 381000"/>
                    <a:gd name="connsiteY1" fmla="*/ 0 h 697230"/>
                    <a:gd name="connsiteX2" fmla="*/ 144780 w 381000"/>
                    <a:gd name="connsiteY2" fmla="*/ 697230 h 697230"/>
                    <a:gd name="connsiteX3" fmla="*/ 0 w 381000"/>
                    <a:gd name="connsiteY3" fmla="*/ 571500 h 697230"/>
                  </a:gdLst>
                  <a:ahLst/>
                  <a:cxnLst>
                    <a:cxn ang="0">
                      <a:pos x="connsiteX0" y="connsiteY0"/>
                    </a:cxn>
                    <a:cxn ang="0">
                      <a:pos x="connsiteX1" y="connsiteY1"/>
                    </a:cxn>
                    <a:cxn ang="0">
                      <a:pos x="connsiteX2" y="connsiteY2"/>
                    </a:cxn>
                    <a:cxn ang="0">
                      <a:pos x="connsiteX3" y="connsiteY3"/>
                    </a:cxn>
                  </a:cxnLst>
                  <a:rect l="l" t="t" r="r" b="b"/>
                  <a:pathLst>
                    <a:path w="381000" h="697230">
                      <a:moveTo>
                        <a:pt x="0" y="571500"/>
                      </a:moveTo>
                      <a:lnTo>
                        <a:pt x="381000" y="0"/>
                      </a:lnTo>
                      <a:lnTo>
                        <a:pt x="144780" y="697230"/>
                      </a:lnTo>
                      <a:lnTo>
                        <a:pt x="0" y="5715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1" name="Freeform: Shape 70">
                  <a:extLst>
                    <a:ext uri="{FF2B5EF4-FFF2-40B4-BE49-F238E27FC236}">
                      <a16:creationId xmlns:a16="http://schemas.microsoft.com/office/drawing/2014/main" id="{5C734D03-5D5D-46D8-8D5F-20D53553B30E}"/>
                    </a:ext>
                  </a:extLst>
                </p:cNvPr>
                <p:cNvSpPr/>
                <p:nvPr/>
              </p:nvSpPr>
              <p:spPr bwMode="auto">
                <a:xfrm>
                  <a:off x="6374130" y="5606415"/>
                  <a:ext cx="480060" cy="714375"/>
                </a:xfrm>
                <a:custGeom>
                  <a:avLst/>
                  <a:gdLst>
                    <a:gd name="connsiteX0" fmla="*/ 241935 w 480060"/>
                    <a:gd name="connsiteY0" fmla="*/ 19050 h 714375"/>
                    <a:gd name="connsiteX1" fmla="*/ 480060 w 480060"/>
                    <a:gd name="connsiteY1" fmla="*/ 0 h 714375"/>
                    <a:gd name="connsiteX2" fmla="*/ 0 w 480060"/>
                    <a:gd name="connsiteY2" fmla="*/ 714375 h 714375"/>
                    <a:gd name="connsiteX3" fmla="*/ 241935 w 480060"/>
                    <a:gd name="connsiteY3" fmla="*/ 19050 h 714375"/>
                  </a:gdLst>
                  <a:ahLst/>
                  <a:cxnLst>
                    <a:cxn ang="0">
                      <a:pos x="connsiteX0" y="connsiteY0"/>
                    </a:cxn>
                    <a:cxn ang="0">
                      <a:pos x="connsiteX1" y="connsiteY1"/>
                    </a:cxn>
                    <a:cxn ang="0">
                      <a:pos x="connsiteX2" y="connsiteY2"/>
                    </a:cxn>
                    <a:cxn ang="0">
                      <a:pos x="connsiteX3" y="connsiteY3"/>
                    </a:cxn>
                  </a:cxnLst>
                  <a:rect l="l" t="t" r="r" b="b"/>
                  <a:pathLst>
                    <a:path w="480060" h="714375">
                      <a:moveTo>
                        <a:pt x="241935" y="19050"/>
                      </a:moveTo>
                      <a:lnTo>
                        <a:pt x="480060" y="0"/>
                      </a:lnTo>
                      <a:lnTo>
                        <a:pt x="0" y="714375"/>
                      </a:lnTo>
                      <a:lnTo>
                        <a:pt x="241935" y="1905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2" name="Freeform: Shape 71">
                  <a:extLst>
                    <a:ext uri="{FF2B5EF4-FFF2-40B4-BE49-F238E27FC236}">
                      <a16:creationId xmlns:a16="http://schemas.microsoft.com/office/drawing/2014/main" id="{294242F2-4107-4D6A-8C3A-5FB84D0DEE77}"/>
                    </a:ext>
                  </a:extLst>
                </p:cNvPr>
                <p:cNvSpPr/>
                <p:nvPr/>
              </p:nvSpPr>
              <p:spPr bwMode="auto">
                <a:xfrm>
                  <a:off x="6210300" y="5625465"/>
                  <a:ext cx="409575" cy="575310"/>
                </a:xfrm>
                <a:custGeom>
                  <a:avLst/>
                  <a:gdLst>
                    <a:gd name="connsiteX0" fmla="*/ 0 w 409575"/>
                    <a:gd name="connsiteY0" fmla="*/ 251460 h 575310"/>
                    <a:gd name="connsiteX1" fmla="*/ 409575 w 409575"/>
                    <a:gd name="connsiteY1" fmla="*/ 0 h 575310"/>
                    <a:gd name="connsiteX2" fmla="*/ 38100 w 409575"/>
                    <a:gd name="connsiteY2" fmla="*/ 575310 h 575310"/>
                    <a:gd name="connsiteX3" fmla="*/ 0 w 409575"/>
                    <a:gd name="connsiteY3" fmla="*/ 251460 h 575310"/>
                  </a:gdLst>
                  <a:ahLst/>
                  <a:cxnLst>
                    <a:cxn ang="0">
                      <a:pos x="connsiteX0" y="connsiteY0"/>
                    </a:cxn>
                    <a:cxn ang="0">
                      <a:pos x="connsiteX1" y="connsiteY1"/>
                    </a:cxn>
                    <a:cxn ang="0">
                      <a:pos x="connsiteX2" y="connsiteY2"/>
                    </a:cxn>
                    <a:cxn ang="0">
                      <a:pos x="connsiteX3" y="connsiteY3"/>
                    </a:cxn>
                  </a:cxnLst>
                  <a:rect l="l" t="t" r="r" b="b"/>
                  <a:pathLst>
                    <a:path w="409575" h="575310">
                      <a:moveTo>
                        <a:pt x="0" y="251460"/>
                      </a:moveTo>
                      <a:lnTo>
                        <a:pt x="409575" y="0"/>
                      </a:lnTo>
                      <a:lnTo>
                        <a:pt x="38100" y="575310"/>
                      </a:lnTo>
                      <a:lnTo>
                        <a:pt x="0" y="2514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3" name="Freeform: Shape 72">
                  <a:extLst>
                    <a:ext uri="{FF2B5EF4-FFF2-40B4-BE49-F238E27FC236}">
                      <a16:creationId xmlns:a16="http://schemas.microsoft.com/office/drawing/2014/main" id="{3A8391E4-AEE0-4043-BCFC-2A3A5748DA47}"/>
                    </a:ext>
                  </a:extLst>
                </p:cNvPr>
                <p:cNvSpPr/>
                <p:nvPr/>
              </p:nvSpPr>
              <p:spPr bwMode="auto">
                <a:xfrm>
                  <a:off x="5819775" y="5316855"/>
                  <a:ext cx="802005" cy="567690"/>
                </a:xfrm>
                <a:custGeom>
                  <a:avLst/>
                  <a:gdLst>
                    <a:gd name="connsiteX0" fmla="*/ 392430 w 802005"/>
                    <a:gd name="connsiteY0" fmla="*/ 567690 h 567690"/>
                    <a:gd name="connsiteX1" fmla="*/ 0 w 802005"/>
                    <a:gd name="connsiteY1" fmla="*/ 245745 h 567690"/>
                    <a:gd name="connsiteX2" fmla="*/ 150495 w 802005"/>
                    <a:gd name="connsiteY2" fmla="*/ 0 h 567690"/>
                    <a:gd name="connsiteX3" fmla="*/ 365760 w 802005"/>
                    <a:gd name="connsiteY3" fmla="*/ 228600 h 567690"/>
                    <a:gd name="connsiteX4" fmla="*/ 802005 w 802005"/>
                    <a:gd name="connsiteY4" fmla="*/ 310515 h 567690"/>
                    <a:gd name="connsiteX5" fmla="*/ 392430 w 802005"/>
                    <a:gd name="connsiteY5" fmla="*/ 567690 h 56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2005" h="567690">
                      <a:moveTo>
                        <a:pt x="392430" y="567690"/>
                      </a:moveTo>
                      <a:lnTo>
                        <a:pt x="0" y="245745"/>
                      </a:lnTo>
                      <a:lnTo>
                        <a:pt x="150495" y="0"/>
                      </a:lnTo>
                      <a:lnTo>
                        <a:pt x="365760" y="228600"/>
                      </a:lnTo>
                      <a:lnTo>
                        <a:pt x="802005" y="310515"/>
                      </a:lnTo>
                      <a:lnTo>
                        <a:pt x="392430" y="56769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4" name="Freeform: Shape 73">
                  <a:extLst>
                    <a:ext uri="{FF2B5EF4-FFF2-40B4-BE49-F238E27FC236}">
                      <a16:creationId xmlns:a16="http://schemas.microsoft.com/office/drawing/2014/main" id="{FB8C7E1B-BB01-424D-A0F3-899C47CE52EE}"/>
                    </a:ext>
                  </a:extLst>
                </p:cNvPr>
                <p:cNvSpPr/>
                <p:nvPr/>
              </p:nvSpPr>
              <p:spPr bwMode="auto">
                <a:xfrm>
                  <a:off x="5958840" y="5072380"/>
                  <a:ext cx="226060" cy="472440"/>
                </a:xfrm>
                <a:custGeom>
                  <a:avLst/>
                  <a:gdLst>
                    <a:gd name="connsiteX0" fmla="*/ 226060 w 226060"/>
                    <a:gd name="connsiteY0" fmla="*/ 472440 h 472440"/>
                    <a:gd name="connsiteX1" fmla="*/ 185420 w 226060"/>
                    <a:gd name="connsiteY1" fmla="*/ 0 h 472440"/>
                    <a:gd name="connsiteX2" fmla="*/ 0 w 226060"/>
                    <a:gd name="connsiteY2" fmla="*/ 261620 h 472440"/>
                    <a:gd name="connsiteX3" fmla="*/ 226060 w 226060"/>
                    <a:gd name="connsiteY3" fmla="*/ 472440 h 472440"/>
                  </a:gdLst>
                  <a:ahLst/>
                  <a:cxnLst>
                    <a:cxn ang="0">
                      <a:pos x="connsiteX0" y="connsiteY0"/>
                    </a:cxn>
                    <a:cxn ang="0">
                      <a:pos x="connsiteX1" y="connsiteY1"/>
                    </a:cxn>
                    <a:cxn ang="0">
                      <a:pos x="connsiteX2" y="connsiteY2"/>
                    </a:cxn>
                    <a:cxn ang="0">
                      <a:pos x="connsiteX3" y="connsiteY3"/>
                    </a:cxn>
                  </a:cxnLst>
                  <a:rect l="l" t="t" r="r" b="b"/>
                  <a:pathLst>
                    <a:path w="226060" h="472440">
                      <a:moveTo>
                        <a:pt x="226060" y="472440"/>
                      </a:moveTo>
                      <a:lnTo>
                        <a:pt x="185420" y="0"/>
                      </a:lnTo>
                      <a:lnTo>
                        <a:pt x="0" y="261620"/>
                      </a:lnTo>
                      <a:lnTo>
                        <a:pt x="226060" y="47244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5" name="Freeform: Shape 74">
                  <a:extLst>
                    <a:ext uri="{FF2B5EF4-FFF2-40B4-BE49-F238E27FC236}">
                      <a16:creationId xmlns:a16="http://schemas.microsoft.com/office/drawing/2014/main" id="{A5984798-4033-422E-BF3A-AE597763FBF3}"/>
                    </a:ext>
                  </a:extLst>
                </p:cNvPr>
                <p:cNvSpPr/>
                <p:nvPr/>
              </p:nvSpPr>
              <p:spPr bwMode="auto">
                <a:xfrm>
                  <a:off x="6136640" y="5062220"/>
                  <a:ext cx="607060" cy="574040"/>
                </a:xfrm>
                <a:custGeom>
                  <a:avLst/>
                  <a:gdLst>
                    <a:gd name="connsiteX0" fmla="*/ 35560 w 607060"/>
                    <a:gd name="connsiteY0" fmla="*/ 474980 h 574040"/>
                    <a:gd name="connsiteX1" fmla="*/ 472440 w 607060"/>
                    <a:gd name="connsiteY1" fmla="*/ 574040 h 574040"/>
                    <a:gd name="connsiteX2" fmla="*/ 607060 w 607060"/>
                    <a:gd name="connsiteY2" fmla="*/ 0 h 574040"/>
                    <a:gd name="connsiteX3" fmla="*/ 0 w 607060"/>
                    <a:gd name="connsiteY3" fmla="*/ 15240 h 574040"/>
                    <a:gd name="connsiteX4" fmla="*/ 35560 w 607060"/>
                    <a:gd name="connsiteY4" fmla="*/ 474980 h 574040"/>
                    <a:gd name="connsiteX0" fmla="*/ 38100 w 607060"/>
                    <a:gd name="connsiteY0" fmla="*/ 490220 h 574040"/>
                    <a:gd name="connsiteX1" fmla="*/ 472440 w 607060"/>
                    <a:gd name="connsiteY1" fmla="*/ 574040 h 574040"/>
                    <a:gd name="connsiteX2" fmla="*/ 607060 w 607060"/>
                    <a:gd name="connsiteY2" fmla="*/ 0 h 574040"/>
                    <a:gd name="connsiteX3" fmla="*/ 0 w 607060"/>
                    <a:gd name="connsiteY3" fmla="*/ 15240 h 574040"/>
                    <a:gd name="connsiteX4" fmla="*/ 38100 w 607060"/>
                    <a:gd name="connsiteY4" fmla="*/ 490220 h 57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060" h="574040">
                      <a:moveTo>
                        <a:pt x="38100" y="490220"/>
                      </a:moveTo>
                      <a:lnTo>
                        <a:pt x="472440" y="574040"/>
                      </a:lnTo>
                      <a:lnTo>
                        <a:pt x="607060" y="0"/>
                      </a:lnTo>
                      <a:lnTo>
                        <a:pt x="0" y="15240"/>
                      </a:lnTo>
                      <a:lnTo>
                        <a:pt x="38100" y="49022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6" name="Freeform: Shape 75">
                  <a:extLst>
                    <a:ext uri="{FF2B5EF4-FFF2-40B4-BE49-F238E27FC236}">
                      <a16:creationId xmlns:a16="http://schemas.microsoft.com/office/drawing/2014/main" id="{651E0B75-1AAB-460D-B6CD-54392D96ECDB}"/>
                    </a:ext>
                  </a:extLst>
                </p:cNvPr>
                <p:cNvSpPr/>
                <p:nvPr/>
              </p:nvSpPr>
              <p:spPr bwMode="auto">
                <a:xfrm>
                  <a:off x="6459220" y="4074160"/>
                  <a:ext cx="698500" cy="782320"/>
                </a:xfrm>
                <a:custGeom>
                  <a:avLst/>
                  <a:gdLst>
                    <a:gd name="connsiteX0" fmla="*/ 0 w 698500"/>
                    <a:gd name="connsiteY0" fmla="*/ 287020 h 782320"/>
                    <a:gd name="connsiteX1" fmla="*/ 236220 w 698500"/>
                    <a:gd name="connsiteY1" fmla="*/ 132080 h 782320"/>
                    <a:gd name="connsiteX2" fmla="*/ 487680 w 698500"/>
                    <a:gd name="connsiteY2" fmla="*/ 0 h 782320"/>
                    <a:gd name="connsiteX3" fmla="*/ 698500 w 698500"/>
                    <a:gd name="connsiteY3" fmla="*/ 330200 h 782320"/>
                    <a:gd name="connsiteX4" fmla="*/ 177800 w 698500"/>
                    <a:gd name="connsiteY4" fmla="*/ 782320 h 782320"/>
                    <a:gd name="connsiteX5" fmla="*/ 0 w 698500"/>
                    <a:gd name="connsiteY5" fmla="*/ 287020 h 78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8500" h="782320">
                      <a:moveTo>
                        <a:pt x="0" y="287020"/>
                      </a:moveTo>
                      <a:lnTo>
                        <a:pt x="236220" y="132080"/>
                      </a:lnTo>
                      <a:lnTo>
                        <a:pt x="487680" y="0"/>
                      </a:lnTo>
                      <a:lnTo>
                        <a:pt x="698500" y="330200"/>
                      </a:lnTo>
                      <a:lnTo>
                        <a:pt x="177800" y="782320"/>
                      </a:lnTo>
                      <a:lnTo>
                        <a:pt x="0" y="28702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77" name="Freeform: Shape 76">
                  <a:extLst>
                    <a:ext uri="{FF2B5EF4-FFF2-40B4-BE49-F238E27FC236}">
                      <a16:creationId xmlns:a16="http://schemas.microsoft.com/office/drawing/2014/main" id="{99E29D27-0786-460A-A0B2-0F4E81303D85}"/>
                    </a:ext>
                  </a:extLst>
                </p:cNvPr>
                <p:cNvSpPr/>
                <p:nvPr/>
              </p:nvSpPr>
              <p:spPr bwMode="auto">
                <a:xfrm>
                  <a:off x="6494706" y="2882900"/>
                  <a:ext cx="541093" cy="1341120"/>
                </a:xfrm>
                <a:custGeom>
                  <a:avLst/>
                  <a:gdLst>
                    <a:gd name="connsiteX0" fmla="*/ 2540 w 535940"/>
                    <a:gd name="connsiteY0" fmla="*/ 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6" fmla="*/ 2540 w 535940"/>
                    <a:gd name="connsiteY6" fmla="*/ 0 h 1336040"/>
                    <a:gd name="connsiteX0" fmla="*/ 535940 w 535940"/>
                    <a:gd name="connsiteY0" fmla="*/ 80010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0" fmla="*/ 541093 w 541093"/>
                    <a:gd name="connsiteY0" fmla="*/ 805180 h 1341120"/>
                    <a:gd name="connsiteX1" fmla="*/ 73 w 541093"/>
                    <a:gd name="connsiteY1" fmla="*/ 0 h 1341120"/>
                    <a:gd name="connsiteX2" fmla="*/ 5153 w 541093"/>
                    <a:gd name="connsiteY2" fmla="*/ 1242060 h 1341120"/>
                    <a:gd name="connsiteX3" fmla="*/ 175333 w 541093"/>
                    <a:gd name="connsiteY3" fmla="*/ 1341120 h 1341120"/>
                    <a:gd name="connsiteX4" fmla="*/ 449653 w 541093"/>
                    <a:gd name="connsiteY4" fmla="*/ 1206500 h 1341120"/>
                    <a:gd name="connsiteX5" fmla="*/ 541093 w 541093"/>
                    <a:gd name="connsiteY5" fmla="*/ 805180 h 134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3" h="1341120">
                      <a:moveTo>
                        <a:pt x="541093" y="805180"/>
                      </a:moveTo>
                      <a:lnTo>
                        <a:pt x="73" y="0"/>
                      </a:lnTo>
                      <a:cubicBezTo>
                        <a:pt x="-774" y="412327"/>
                        <a:pt x="6000" y="829733"/>
                        <a:pt x="5153" y="1242060"/>
                      </a:cubicBezTo>
                      <a:lnTo>
                        <a:pt x="175333" y="1341120"/>
                      </a:lnTo>
                      <a:lnTo>
                        <a:pt x="449653" y="1206500"/>
                      </a:lnTo>
                      <a:lnTo>
                        <a:pt x="541093" y="8051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78" name="Freeform: Shape 77">
                  <a:extLst>
                    <a:ext uri="{FF2B5EF4-FFF2-40B4-BE49-F238E27FC236}">
                      <a16:creationId xmlns:a16="http://schemas.microsoft.com/office/drawing/2014/main" id="{713DA7E2-55CC-4AD3-8118-1CBD1B8A308A}"/>
                    </a:ext>
                  </a:extLst>
                </p:cNvPr>
                <p:cNvSpPr/>
                <p:nvPr/>
              </p:nvSpPr>
              <p:spPr bwMode="auto">
                <a:xfrm>
                  <a:off x="6492240" y="2884170"/>
                  <a:ext cx="994410" cy="822960"/>
                </a:xfrm>
                <a:custGeom>
                  <a:avLst/>
                  <a:gdLst>
                    <a:gd name="connsiteX0" fmla="*/ 0 w 994410"/>
                    <a:gd name="connsiteY0" fmla="*/ 0 h 822960"/>
                    <a:gd name="connsiteX1" fmla="*/ 544830 w 994410"/>
                    <a:gd name="connsiteY1" fmla="*/ 822960 h 822960"/>
                    <a:gd name="connsiteX2" fmla="*/ 994410 w 994410"/>
                    <a:gd name="connsiteY2" fmla="*/ 483870 h 822960"/>
                    <a:gd name="connsiteX3" fmla="*/ 937260 w 994410"/>
                    <a:gd name="connsiteY3" fmla="*/ 15240 h 822960"/>
                    <a:gd name="connsiteX4" fmla="*/ 0 w 994410"/>
                    <a:gd name="connsiteY4" fmla="*/ 0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0" h="822960">
                      <a:moveTo>
                        <a:pt x="0" y="0"/>
                      </a:moveTo>
                      <a:lnTo>
                        <a:pt x="544830" y="822960"/>
                      </a:lnTo>
                      <a:lnTo>
                        <a:pt x="994410" y="483870"/>
                      </a:lnTo>
                      <a:lnTo>
                        <a:pt x="937260" y="1524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9" name="Freeform: Shape 78">
                  <a:extLst>
                    <a:ext uri="{FF2B5EF4-FFF2-40B4-BE49-F238E27FC236}">
                      <a16:creationId xmlns:a16="http://schemas.microsoft.com/office/drawing/2014/main" id="{8334062A-EA01-4692-99F3-0A085812836E}"/>
                    </a:ext>
                  </a:extLst>
                </p:cNvPr>
                <p:cNvSpPr/>
                <p:nvPr/>
              </p:nvSpPr>
              <p:spPr bwMode="auto">
                <a:xfrm>
                  <a:off x="7406640" y="2895600"/>
                  <a:ext cx="523240" cy="472440"/>
                </a:xfrm>
                <a:custGeom>
                  <a:avLst/>
                  <a:gdLst>
                    <a:gd name="connsiteX0" fmla="*/ 0 w 523240"/>
                    <a:gd name="connsiteY0" fmla="*/ 0 h 467360"/>
                    <a:gd name="connsiteX1" fmla="*/ 86360 w 523240"/>
                    <a:gd name="connsiteY1" fmla="*/ 467360 h 467360"/>
                    <a:gd name="connsiteX2" fmla="*/ 523240 w 523240"/>
                    <a:gd name="connsiteY2" fmla="*/ 370840 h 467360"/>
                    <a:gd name="connsiteX3" fmla="*/ 518160 w 523240"/>
                    <a:gd name="connsiteY3" fmla="*/ 71120 h 467360"/>
                    <a:gd name="connsiteX4" fmla="*/ 0 w 523240"/>
                    <a:gd name="connsiteY4" fmla="*/ 0 h 467360"/>
                    <a:gd name="connsiteX0" fmla="*/ 0 w 523240"/>
                    <a:gd name="connsiteY0" fmla="*/ 0 h 472440"/>
                    <a:gd name="connsiteX1" fmla="*/ 78740 w 523240"/>
                    <a:gd name="connsiteY1" fmla="*/ 472440 h 472440"/>
                    <a:gd name="connsiteX2" fmla="*/ 523240 w 523240"/>
                    <a:gd name="connsiteY2" fmla="*/ 370840 h 472440"/>
                    <a:gd name="connsiteX3" fmla="*/ 518160 w 523240"/>
                    <a:gd name="connsiteY3" fmla="*/ 71120 h 472440"/>
                    <a:gd name="connsiteX4" fmla="*/ 0 w 523240"/>
                    <a:gd name="connsiteY4" fmla="*/ 0 h 47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40" h="472440">
                      <a:moveTo>
                        <a:pt x="0" y="0"/>
                      </a:moveTo>
                      <a:lnTo>
                        <a:pt x="78740" y="472440"/>
                      </a:lnTo>
                      <a:lnTo>
                        <a:pt x="523240" y="370840"/>
                      </a:lnTo>
                      <a:cubicBezTo>
                        <a:pt x="521547" y="270933"/>
                        <a:pt x="519853" y="171027"/>
                        <a:pt x="518160" y="71120"/>
                      </a:cubicBezTo>
                      <a:lnTo>
                        <a:pt x="0" y="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80" name="Freeform: Shape 79">
                  <a:extLst>
                    <a:ext uri="{FF2B5EF4-FFF2-40B4-BE49-F238E27FC236}">
                      <a16:creationId xmlns:a16="http://schemas.microsoft.com/office/drawing/2014/main" id="{B935BF81-3D43-4FD7-8278-0E15E30E19A0}"/>
                    </a:ext>
                  </a:extLst>
                </p:cNvPr>
                <p:cNvSpPr/>
                <p:nvPr/>
              </p:nvSpPr>
              <p:spPr bwMode="auto">
                <a:xfrm>
                  <a:off x="7909560" y="2966720"/>
                  <a:ext cx="406400" cy="543560"/>
                </a:xfrm>
                <a:custGeom>
                  <a:avLst/>
                  <a:gdLst>
                    <a:gd name="connsiteX0" fmla="*/ 0 w 406400"/>
                    <a:gd name="connsiteY0" fmla="*/ 0 h 543560"/>
                    <a:gd name="connsiteX1" fmla="*/ 20320 w 406400"/>
                    <a:gd name="connsiteY1" fmla="*/ 299720 h 543560"/>
                    <a:gd name="connsiteX2" fmla="*/ 259080 w 406400"/>
                    <a:gd name="connsiteY2" fmla="*/ 543560 h 543560"/>
                    <a:gd name="connsiteX3" fmla="*/ 406400 w 406400"/>
                    <a:gd name="connsiteY3" fmla="*/ 386080 h 543560"/>
                    <a:gd name="connsiteX4" fmla="*/ 203200 w 406400"/>
                    <a:gd name="connsiteY4" fmla="*/ 162560 h 543560"/>
                    <a:gd name="connsiteX5" fmla="*/ 0 w 406400"/>
                    <a:gd name="connsiteY5"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400" h="543560">
                      <a:moveTo>
                        <a:pt x="0" y="0"/>
                      </a:moveTo>
                      <a:lnTo>
                        <a:pt x="20320" y="299720"/>
                      </a:lnTo>
                      <a:lnTo>
                        <a:pt x="259080" y="543560"/>
                      </a:lnTo>
                      <a:lnTo>
                        <a:pt x="406400" y="386080"/>
                      </a:lnTo>
                      <a:lnTo>
                        <a:pt x="203200" y="162560"/>
                      </a:lnTo>
                      <a:lnTo>
                        <a:pt x="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1" name="Freeform: Shape 80">
                  <a:extLst>
                    <a:ext uri="{FF2B5EF4-FFF2-40B4-BE49-F238E27FC236}">
                      <a16:creationId xmlns:a16="http://schemas.microsoft.com/office/drawing/2014/main" id="{1B2C67A6-038E-4544-A459-104DF6590B44}"/>
                    </a:ext>
                  </a:extLst>
                </p:cNvPr>
                <p:cNvSpPr/>
                <p:nvPr/>
              </p:nvSpPr>
              <p:spPr bwMode="auto">
                <a:xfrm>
                  <a:off x="6593840" y="5044440"/>
                  <a:ext cx="589280" cy="589280"/>
                </a:xfrm>
                <a:custGeom>
                  <a:avLst/>
                  <a:gdLst>
                    <a:gd name="connsiteX0" fmla="*/ 0 w 589280"/>
                    <a:gd name="connsiteY0" fmla="*/ 589280 h 589280"/>
                    <a:gd name="connsiteX1" fmla="*/ 589280 w 589280"/>
                    <a:gd name="connsiteY1" fmla="*/ 533400 h 589280"/>
                    <a:gd name="connsiteX2" fmla="*/ 508000 w 589280"/>
                    <a:gd name="connsiteY2" fmla="*/ 0 h 589280"/>
                    <a:gd name="connsiteX3" fmla="*/ 121920 w 589280"/>
                    <a:gd name="connsiteY3" fmla="*/ 20320 h 589280"/>
                    <a:gd name="connsiteX4" fmla="*/ 0 w 589280"/>
                    <a:gd name="connsiteY4" fmla="*/ 589280 h 589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280" h="589280">
                      <a:moveTo>
                        <a:pt x="0" y="589280"/>
                      </a:moveTo>
                      <a:lnTo>
                        <a:pt x="589280" y="533400"/>
                      </a:lnTo>
                      <a:lnTo>
                        <a:pt x="508000" y="0"/>
                      </a:lnTo>
                      <a:lnTo>
                        <a:pt x="121920" y="20320"/>
                      </a:lnTo>
                      <a:lnTo>
                        <a:pt x="0" y="58928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2" name="Freeform: Shape 81">
                  <a:extLst>
                    <a:ext uri="{FF2B5EF4-FFF2-40B4-BE49-F238E27FC236}">
                      <a16:creationId xmlns:a16="http://schemas.microsoft.com/office/drawing/2014/main" id="{4469B09A-DC06-4663-A04E-EB59818EE31E}"/>
                    </a:ext>
                  </a:extLst>
                </p:cNvPr>
                <p:cNvSpPr/>
                <p:nvPr/>
              </p:nvSpPr>
              <p:spPr bwMode="auto">
                <a:xfrm>
                  <a:off x="6626860" y="4399280"/>
                  <a:ext cx="528320" cy="678180"/>
                </a:xfrm>
                <a:custGeom>
                  <a:avLst/>
                  <a:gdLst>
                    <a:gd name="connsiteX0" fmla="*/ 96520 w 528320"/>
                    <a:gd name="connsiteY0" fmla="*/ 678180 h 678180"/>
                    <a:gd name="connsiteX1" fmla="*/ 472440 w 528320"/>
                    <a:gd name="connsiteY1" fmla="*/ 652780 h 678180"/>
                    <a:gd name="connsiteX2" fmla="*/ 528320 w 528320"/>
                    <a:gd name="connsiteY2" fmla="*/ 0 h 678180"/>
                    <a:gd name="connsiteX3" fmla="*/ 0 w 528320"/>
                    <a:gd name="connsiteY3" fmla="*/ 429260 h 678180"/>
                    <a:gd name="connsiteX4" fmla="*/ 96520 w 528320"/>
                    <a:gd name="connsiteY4" fmla="*/ 678180 h 6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 h="678180">
                      <a:moveTo>
                        <a:pt x="96520" y="678180"/>
                      </a:moveTo>
                      <a:lnTo>
                        <a:pt x="472440" y="652780"/>
                      </a:lnTo>
                      <a:lnTo>
                        <a:pt x="528320" y="0"/>
                      </a:lnTo>
                      <a:lnTo>
                        <a:pt x="0" y="429260"/>
                      </a:lnTo>
                      <a:lnTo>
                        <a:pt x="96520" y="6781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3" name="Freeform: Shape 82">
                  <a:extLst>
                    <a:ext uri="{FF2B5EF4-FFF2-40B4-BE49-F238E27FC236}">
                      <a16:creationId xmlns:a16="http://schemas.microsoft.com/office/drawing/2014/main" id="{18426C52-846C-4BD1-80BA-AB158564E2E1}"/>
                    </a:ext>
                  </a:extLst>
                </p:cNvPr>
                <p:cNvSpPr/>
                <p:nvPr/>
              </p:nvSpPr>
              <p:spPr bwMode="auto">
                <a:xfrm>
                  <a:off x="7084060" y="4765040"/>
                  <a:ext cx="378460" cy="812800"/>
                </a:xfrm>
                <a:custGeom>
                  <a:avLst/>
                  <a:gdLst>
                    <a:gd name="connsiteX0" fmla="*/ 0 w 378460"/>
                    <a:gd name="connsiteY0" fmla="*/ 281940 h 812800"/>
                    <a:gd name="connsiteX1" fmla="*/ 254000 w 378460"/>
                    <a:gd name="connsiteY1" fmla="*/ 0 h 812800"/>
                    <a:gd name="connsiteX2" fmla="*/ 378460 w 378460"/>
                    <a:gd name="connsiteY2" fmla="*/ 276860 h 812800"/>
                    <a:gd name="connsiteX3" fmla="*/ 91440 w 378460"/>
                    <a:gd name="connsiteY3" fmla="*/ 812800 h 812800"/>
                    <a:gd name="connsiteX4" fmla="*/ 0 w 378460"/>
                    <a:gd name="connsiteY4" fmla="*/ 28194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60" h="812800">
                      <a:moveTo>
                        <a:pt x="0" y="281940"/>
                      </a:moveTo>
                      <a:lnTo>
                        <a:pt x="254000" y="0"/>
                      </a:lnTo>
                      <a:lnTo>
                        <a:pt x="378460" y="276860"/>
                      </a:lnTo>
                      <a:lnTo>
                        <a:pt x="91440" y="812800"/>
                      </a:lnTo>
                      <a:lnTo>
                        <a:pt x="0" y="2819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4" name="Freeform: Shape 83">
                  <a:extLst>
                    <a:ext uri="{FF2B5EF4-FFF2-40B4-BE49-F238E27FC236}">
                      <a16:creationId xmlns:a16="http://schemas.microsoft.com/office/drawing/2014/main" id="{82E73D2D-6FC4-4311-9D7B-8F493E70EB2F}"/>
                    </a:ext>
                  </a:extLst>
                </p:cNvPr>
                <p:cNvSpPr/>
                <p:nvPr/>
              </p:nvSpPr>
              <p:spPr bwMode="auto">
                <a:xfrm>
                  <a:off x="7081520" y="4297680"/>
                  <a:ext cx="474980" cy="769620"/>
                </a:xfrm>
                <a:custGeom>
                  <a:avLst/>
                  <a:gdLst>
                    <a:gd name="connsiteX0" fmla="*/ 248920 w 474980"/>
                    <a:gd name="connsiteY0" fmla="*/ 464820 h 759460"/>
                    <a:gd name="connsiteX1" fmla="*/ 474980 w 474980"/>
                    <a:gd name="connsiteY1" fmla="*/ 345440 h 759460"/>
                    <a:gd name="connsiteX2" fmla="*/ 289560 w 474980"/>
                    <a:gd name="connsiteY2" fmla="*/ 0 h 759460"/>
                    <a:gd name="connsiteX3" fmla="*/ 60960 w 474980"/>
                    <a:gd name="connsiteY3" fmla="*/ 93980 h 759460"/>
                    <a:gd name="connsiteX4" fmla="*/ 0 w 474980"/>
                    <a:gd name="connsiteY4" fmla="*/ 759460 h 759460"/>
                    <a:gd name="connsiteX5" fmla="*/ 248920 w 474980"/>
                    <a:gd name="connsiteY5" fmla="*/ 464820 h 759460"/>
                    <a:gd name="connsiteX0" fmla="*/ 248920 w 474980"/>
                    <a:gd name="connsiteY0" fmla="*/ 474980 h 769620"/>
                    <a:gd name="connsiteX1" fmla="*/ 474980 w 474980"/>
                    <a:gd name="connsiteY1" fmla="*/ 355600 h 769620"/>
                    <a:gd name="connsiteX2" fmla="*/ 287020 w 474980"/>
                    <a:gd name="connsiteY2" fmla="*/ 0 h 769620"/>
                    <a:gd name="connsiteX3" fmla="*/ 60960 w 474980"/>
                    <a:gd name="connsiteY3" fmla="*/ 104140 h 769620"/>
                    <a:gd name="connsiteX4" fmla="*/ 0 w 474980"/>
                    <a:gd name="connsiteY4" fmla="*/ 769620 h 769620"/>
                    <a:gd name="connsiteX5" fmla="*/ 248920 w 474980"/>
                    <a:gd name="connsiteY5" fmla="*/ 474980 h 769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80" h="769620">
                      <a:moveTo>
                        <a:pt x="248920" y="474980"/>
                      </a:moveTo>
                      <a:lnTo>
                        <a:pt x="474980" y="355600"/>
                      </a:lnTo>
                      <a:lnTo>
                        <a:pt x="287020" y="0"/>
                      </a:lnTo>
                      <a:lnTo>
                        <a:pt x="60960" y="104140"/>
                      </a:lnTo>
                      <a:lnTo>
                        <a:pt x="0" y="769620"/>
                      </a:lnTo>
                      <a:lnTo>
                        <a:pt x="248920" y="4749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85" name="Freeform: Shape 84">
                  <a:extLst>
                    <a:ext uri="{FF2B5EF4-FFF2-40B4-BE49-F238E27FC236}">
                      <a16:creationId xmlns:a16="http://schemas.microsoft.com/office/drawing/2014/main" id="{CD974063-AA8B-4E43-AC5D-CCC25B441513}"/>
                    </a:ext>
                  </a:extLst>
                </p:cNvPr>
                <p:cNvSpPr/>
                <p:nvPr/>
              </p:nvSpPr>
              <p:spPr bwMode="auto">
                <a:xfrm>
                  <a:off x="7327900" y="4645660"/>
                  <a:ext cx="233680" cy="403860"/>
                </a:xfrm>
                <a:custGeom>
                  <a:avLst/>
                  <a:gdLst>
                    <a:gd name="connsiteX0" fmla="*/ 0 w 233680"/>
                    <a:gd name="connsiteY0" fmla="*/ 101600 h 403860"/>
                    <a:gd name="connsiteX1" fmla="*/ 233680 w 233680"/>
                    <a:gd name="connsiteY1" fmla="*/ 0 h 403860"/>
                    <a:gd name="connsiteX2" fmla="*/ 129540 w 233680"/>
                    <a:gd name="connsiteY2" fmla="*/ 403860 h 403860"/>
                    <a:gd name="connsiteX3" fmla="*/ 0 w 233680"/>
                    <a:gd name="connsiteY3" fmla="*/ 101600 h 403860"/>
                  </a:gdLst>
                  <a:ahLst/>
                  <a:cxnLst>
                    <a:cxn ang="0">
                      <a:pos x="connsiteX0" y="connsiteY0"/>
                    </a:cxn>
                    <a:cxn ang="0">
                      <a:pos x="connsiteX1" y="connsiteY1"/>
                    </a:cxn>
                    <a:cxn ang="0">
                      <a:pos x="connsiteX2" y="connsiteY2"/>
                    </a:cxn>
                    <a:cxn ang="0">
                      <a:pos x="connsiteX3" y="connsiteY3"/>
                    </a:cxn>
                  </a:cxnLst>
                  <a:rect l="l" t="t" r="r" b="b"/>
                  <a:pathLst>
                    <a:path w="233680" h="403860">
                      <a:moveTo>
                        <a:pt x="0" y="101600"/>
                      </a:moveTo>
                      <a:lnTo>
                        <a:pt x="233680" y="0"/>
                      </a:lnTo>
                      <a:lnTo>
                        <a:pt x="129540" y="403860"/>
                      </a:lnTo>
                      <a:lnTo>
                        <a:pt x="0" y="1016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6" name="Freeform: Shape 85">
                  <a:extLst>
                    <a:ext uri="{FF2B5EF4-FFF2-40B4-BE49-F238E27FC236}">
                      <a16:creationId xmlns:a16="http://schemas.microsoft.com/office/drawing/2014/main" id="{36E0BAF1-FC21-4F3D-A69E-D692284CD5AB}"/>
                    </a:ext>
                  </a:extLst>
                </p:cNvPr>
                <p:cNvSpPr/>
                <p:nvPr/>
              </p:nvSpPr>
              <p:spPr bwMode="auto">
                <a:xfrm>
                  <a:off x="6926580" y="3677920"/>
                  <a:ext cx="586740" cy="739140"/>
                </a:xfrm>
                <a:custGeom>
                  <a:avLst/>
                  <a:gdLst>
                    <a:gd name="connsiteX0" fmla="*/ 436880 w 586740"/>
                    <a:gd name="connsiteY0" fmla="*/ 627380 h 739140"/>
                    <a:gd name="connsiteX1" fmla="*/ 586740 w 586740"/>
                    <a:gd name="connsiteY1" fmla="*/ 497840 h 739140"/>
                    <a:gd name="connsiteX2" fmla="*/ 431800 w 586740"/>
                    <a:gd name="connsiteY2" fmla="*/ 215900 h 739140"/>
                    <a:gd name="connsiteX3" fmla="*/ 99060 w 586740"/>
                    <a:gd name="connsiteY3" fmla="*/ 0 h 739140"/>
                    <a:gd name="connsiteX4" fmla="*/ 0 w 586740"/>
                    <a:gd name="connsiteY4" fmla="*/ 408940 h 739140"/>
                    <a:gd name="connsiteX5" fmla="*/ 220980 w 586740"/>
                    <a:gd name="connsiteY5" fmla="*/ 739140 h 739140"/>
                    <a:gd name="connsiteX6" fmla="*/ 436880 w 586740"/>
                    <a:gd name="connsiteY6" fmla="*/ 627380 h 739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40" h="739140">
                      <a:moveTo>
                        <a:pt x="436880" y="627380"/>
                      </a:moveTo>
                      <a:lnTo>
                        <a:pt x="586740" y="497840"/>
                      </a:lnTo>
                      <a:lnTo>
                        <a:pt x="431800" y="215900"/>
                      </a:lnTo>
                      <a:lnTo>
                        <a:pt x="99060" y="0"/>
                      </a:lnTo>
                      <a:lnTo>
                        <a:pt x="0" y="408940"/>
                      </a:lnTo>
                      <a:lnTo>
                        <a:pt x="220980" y="739140"/>
                      </a:lnTo>
                      <a:lnTo>
                        <a:pt x="436880" y="6273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7" name="Freeform: Shape 86">
                  <a:extLst>
                    <a:ext uri="{FF2B5EF4-FFF2-40B4-BE49-F238E27FC236}">
                      <a16:creationId xmlns:a16="http://schemas.microsoft.com/office/drawing/2014/main" id="{B6DC3D7A-CAEC-42CB-872A-47CF42E794CD}"/>
                    </a:ext>
                  </a:extLst>
                </p:cNvPr>
                <p:cNvSpPr/>
                <p:nvPr/>
              </p:nvSpPr>
              <p:spPr bwMode="auto">
                <a:xfrm>
                  <a:off x="7353300" y="3743960"/>
                  <a:ext cx="365760" cy="431800"/>
                </a:xfrm>
                <a:custGeom>
                  <a:avLst/>
                  <a:gdLst>
                    <a:gd name="connsiteX0" fmla="*/ 149860 w 365760"/>
                    <a:gd name="connsiteY0" fmla="*/ 431800 h 431800"/>
                    <a:gd name="connsiteX1" fmla="*/ 365760 w 365760"/>
                    <a:gd name="connsiteY1" fmla="*/ 332740 h 431800"/>
                    <a:gd name="connsiteX2" fmla="*/ 208280 w 365760"/>
                    <a:gd name="connsiteY2" fmla="*/ 0 h 431800"/>
                    <a:gd name="connsiteX3" fmla="*/ 0 w 365760"/>
                    <a:gd name="connsiteY3" fmla="*/ 162560 h 431800"/>
                    <a:gd name="connsiteX4" fmla="*/ 149860 w 365760"/>
                    <a:gd name="connsiteY4" fmla="*/ 431800 h 43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431800">
                      <a:moveTo>
                        <a:pt x="149860" y="431800"/>
                      </a:moveTo>
                      <a:lnTo>
                        <a:pt x="365760" y="332740"/>
                      </a:lnTo>
                      <a:lnTo>
                        <a:pt x="208280" y="0"/>
                      </a:lnTo>
                      <a:lnTo>
                        <a:pt x="0" y="162560"/>
                      </a:lnTo>
                      <a:lnTo>
                        <a:pt x="149860" y="43180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8" name="Freeform: Shape 87">
                  <a:extLst>
                    <a:ext uri="{FF2B5EF4-FFF2-40B4-BE49-F238E27FC236}">
                      <a16:creationId xmlns:a16="http://schemas.microsoft.com/office/drawing/2014/main" id="{F68CFBDF-5E7F-4B31-8376-C0848AF8C464}"/>
                    </a:ext>
                  </a:extLst>
                </p:cNvPr>
                <p:cNvSpPr/>
                <p:nvPr/>
              </p:nvSpPr>
              <p:spPr bwMode="auto">
                <a:xfrm>
                  <a:off x="7025640" y="3314700"/>
                  <a:ext cx="563880" cy="601980"/>
                </a:xfrm>
                <a:custGeom>
                  <a:avLst/>
                  <a:gdLst>
                    <a:gd name="connsiteX0" fmla="*/ 525780 w 563880"/>
                    <a:gd name="connsiteY0" fmla="*/ 439420 h 601980"/>
                    <a:gd name="connsiteX1" fmla="*/ 563880 w 563880"/>
                    <a:gd name="connsiteY1" fmla="*/ 0 h 601980"/>
                    <a:gd name="connsiteX2" fmla="*/ 457200 w 563880"/>
                    <a:gd name="connsiteY2" fmla="*/ 48260 h 601980"/>
                    <a:gd name="connsiteX3" fmla="*/ 0 w 563880"/>
                    <a:gd name="connsiteY3" fmla="*/ 386080 h 601980"/>
                    <a:gd name="connsiteX4" fmla="*/ 345440 w 563880"/>
                    <a:gd name="connsiteY4" fmla="*/ 601980 h 601980"/>
                    <a:gd name="connsiteX5" fmla="*/ 525780 w 563880"/>
                    <a:gd name="connsiteY5" fmla="*/ 439420 h 60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880" h="601980">
                      <a:moveTo>
                        <a:pt x="525780" y="439420"/>
                      </a:moveTo>
                      <a:lnTo>
                        <a:pt x="563880" y="0"/>
                      </a:lnTo>
                      <a:lnTo>
                        <a:pt x="457200" y="48260"/>
                      </a:lnTo>
                      <a:lnTo>
                        <a:pt x="0" y="386080"/>
                      </a:lnTo>
                      <a:lnTo>
                        <a:pt x="345440" y="601980"/>
                      </a:lnTo>
                      <a:lnTo>
                        <a:pt x="525780" y="43942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9" name="Freeform: Shape 88">
                  <a:extLst>
                    <a:ext uri="{FF2B5EF4-FFF2-40B4-BE49-F238E27FC236}">
                      <a16:creationId xmlns:a16="http://schemas.microsoft.com/office/drawing/2014/main" id="{FD450BC4-6FD9-4D69-9F2C-4A3C241C22F8}"/>
                    </a:ext>
                  </a:extLst>
                </p:cNvPr>
                <p:cNvSpPr/>
                <p:nvPr/>
              </p:nvSpPr>
              <p:spPr bwMode="auto">
                <a:xfrm>
                  <a:off x="7546340" y="3248660"/>
                  <a:ext cx="393700" cy="513080"/>
                </a:xfrm>
                <a:custGeom>
                  <a:avLst/>
                  <a:gdLst>
                    <a:gd name="connsiteX0" fmla="*/ 0 w 393700"/>
                    <a:gd name="connsiteY0" fmla="*/ 513080 h 513080"/>
                    <a:gd name="connsiteX1" fmla="*/ 393700 w 393700"/>
                    <a:gd name="connsiteY1" fmla="*/ 0 h 513080"/>
                    <a:gd name="connsiteX2" fmla="*/ 27940 w 393700"/>
                    <a:gd name="connsiteY2" fmla="*/ 73660 h 513080"/>
                    <a:gd name="connsiteX3" fmla="*/ 0 w 393700"/>
                    <a:gd name="connsiteY3" fmla="*/ 513080 h 513080"/>
                  </a:gdLst>
                  <a:ahLst/>
                  <a:cxnLst>
                    <a:cxn ang="0">
                      <a:pos x="connsiteX0" y="connsiteY0"/>
                    </a:cxn>
                    <a:cxn ang="0">
                      <a:pos x="connsiteX1" y="connsiteY1"/>
                    </a:cxn>
                    <a:cxn ang="0">
                      <a:pos x="connsiteX2" y="connsiteY2"/>
                    </a:cxn>
                    <a:cxn ang="0">
                      <a:pos x="connsiteX3" y="connsiteY3"/>
                    </a:cxn>
                  </a:cxnLst>
                  <a:rect l="l" t="t" r="r" b="b"/>
                  <a:pathLst>
                    <a:path w="393700" h="513080">
                      <a:moveTo>
                        <a:pt x="0" y="513080"/>
                      </a:moveTo>
                      <a:lnTo>
                        <a:pt x="393700" y="0"/>
                      </a:lnTo>
                      <a:lnTo>
                        <a:pt x="27940" y="73660"/>
                      </a:lnTo>
                      <a:lnTo>
                        <a:pt x="0" y="5130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0" name="Freeform: Shape 89">
                  <a:extLst>
                    <a:ext uri="{FF2B5EF4-FFF2-40B4-BE49-F238E27FC236}">
                      <a16:creationId xmlns:a16="http://schemas.microsoft.com/office/drawing/2014/main" id="{27867B14-A674-4567-8067-6DD9A1857D87}"/>
                    </a:ext>
                  </a:extLst>
                </p:cNvPr>
                <p:cNvSpPr/>
                <p:nvPr/>
              </p:nvSpPr>
              <p:spPr bwMode="auto">
                <a:xfrm>
                  <a:off x="7546340" y="3434080"/>
                  <a:ext cx="408940" cy="642620"/>
                </a:xfrm>
                <a:custGeom>
                  <a:avLst/>
                  <a:gdLst>
                    <a:gd name="connsiteX0" fmla="*/ 0 w 408940"/>
                    <a:gd name="connsiteY0" fmla="*/ 322580 h 642620"/>
                    <a:gd name="connsiteX1" fmla="*/ 236220 w 408940"/>
                    <a:gd name="connsiteY1" fmla="*/ 0 h 642620"/>
                    <a:gd name="connsiteX2" fmla="*/ 408940 w 408940"/>
                    <a:gd name="connsiteY2" fmla="*/ 365760 h 642620"/>
                    <a:gd name="connsiteX3" fmla="*/ 162560 w 408940"/>
                    <a:gd name="connsiteY3" fmla="*/ 642620 h 642620"/>
                    <a:gd name="connsiteX4" fmla="*/ 0 w 408940"/>
                    <a:gd name="connsiteY4" fmla="*/ 322580 h 642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 h="642620">
                      <a:moveTo>
                        <a:pt x="0" y="322580"/>
                      </a:moveTo>
                      <a:lnTo>
                        <a:pt x="236220" y="0"/>
                      </a:lnTo>
                      <a:lnTo>
                        <a:pt x="408940" y="365760"/>
                      </a:lnTo>
                      <a:lnTo>
                        <a:pt x="162560" y="642620"/>
                      </a:lnTo>
                      <a:lnTo>
                        <a:pt x="0" y="3225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91" name="Freeform: Shape 90">
                  <a:extLst>
                    <a:ext uri="{FF2B5EF4-FFF2-40B4-BE49-F238E27FC236}">
                      <a16:creationId xmlns:a16="http://schemas.microsoft.com/office/drawing/2014/main" id="{C283CD32-D3BE-4E2D-8DC8-2BC33716A364}"/>
                    </a:ext>
                  </a:extLst>
                </p:cNvPr>
                <p:cNvSpPr/>
                <p:nvPr/>
              </p:nvSpPr>
              <p:spPr bwMode="auto">
                <a:xfrm>
                  <a:off x="7772400" y="3243580"/>
                  <a:ext cx="401320" cy="563880"/>
                </a:xfrm>
                <a:custGeom>
                  <a:avLst/>
                  <a:gdLst>
                    <a:gd name="connsiteX0" fmla="*/ 0 w 401320"/>
                    <a:gd name="connsiteY0" fmla="*/ 205740 h 563880"/>
                    <a:gd name="connsiteX1" fmla="*/ 160020 w 401320"/>
                    <a:gd name="connsiteY1" fmla="*/ 0 h 563880"/>
                    <a:gd name="connsiteX2" fmla="*/ 401320 w 401320"/>
                    <a:gd name="connsiteY2" fmla="*/ 259080 h 563880"/>
                    <a:gd name="connsiteX3" fmla="*/ 172720 w 401320"/>
                    <a:gd name="connsiteY3" fmla="*/ 563880 h 563880"/>
                    <a:gd name="connsiteX4" fmla="*/ 0 w 401320"/>
                    <a:gd name="connsiteY4" fmla="*/ 205740 h 56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320" h="563880">
                      <a:moveTo>
                        <a:pt x="0" y="205740"/>
                      </a:moveTo>
                      <a:lnTo>
                        <a:pt x="160020" y="0"/>
                      </a:lnTo>
                      <a:lnTo>
                        <a:pt x="401320" y="259080"/>
                      </a:lnTo>
                      <a:lnTo>
                        <a:pt x="172720" y="563880"/>
                      </a:lnTo>
                      <a:lnTo>
                        <a:pt x="0" y="2057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2" name="Freeform: Shape 91">
                  <a:extLst>
                    <a:ext uri="{FF2B5EF4-FFF2-40B4-BE49-F238E27FC236}">
                      <a16:creationId xmlns:a16="http://schemas.microsoft.com/office/drawing/2014/main" id="{8DC35769-2276-4AA3-8624-EE1969E3DBA7}"/>
                    </a:ext>
                  </a:extLst>
                </p:cNvPr>
                <p:cNvSpPr/>
                <p:nvPr/>
              </p:nvSpPr>
              <p:spPr bwMode="auto">
                <a:xfrm>
                  <a:off x="7363460" y="4061460"/>
                  <a:ext cx="360680" cy="607060"/>
                </a:xfrm>
                <a:custGeom>
                  <a:avLst/>
                  <a:gdLst>
                    <a:gd name="connsiteX0" fmla="*/ 0 w 360680"/>
                    <a:gd name="connsiteY0" fmla="*/ 246380 h 607060"/>
                    <a:gd name="connsiteX1" fmla="*/ 154940 w 360680"/>
                    <a:gd name="connsiteY1" fmla="*/ 101600 h 607060"/>
                    <a:gd name="connsiteX2" fmla="*/ 360680 w 360680"/>
                    <a:gd name="connsiteY2" fmla="*/ 0 h 607060"/>
                    <a:gd name="connsiteX3" fmla="*/ 195580 w 360680"/>
                    <a:gd name="connsiteY3" fmla="*/ 607060 h 607060"/>
                    <a:gd name="connsiteX4" fmla="*/ 0 w 360680"/>
                    <a:gd name="connsiteY4" fmla="*/ 246380 h 60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 h="607060">
                      <a:moveTo>
                        <a:pt x="0" y="246380"/>
                      </a:moveTo>
                      <a:lnTo>
                        <a:pt x="154940" y="101600"/>
                      </a:lnTo>
                      <a:lnTo>
                        <a:pt x="360680" y="0"/>
                      </a:lnTo>
                      <a:lnTo>
                        <a:pt x="195580" y="607060"/>
                      </a:lnTo>
                      <a:lnTo>
                        <a:pt x="0" y="2463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3" name="Freeform: Shape 92">
                  <a:extLst>
                    <a:ext uri="{FF2B5EF4-FFF2-40B4-BE49-F238E27FC236}">
                      <a16:creationId xmlns:a16="http://schemas.microsoft.com/office/drawing/2014/main" id="{2F937B2C-C5FA-4D31-95A4-DF6BCC0CE9B6}"/>
                    </a:ext>
                  </a:extLst>
                </p:cNvPr>
                <p:cNvSpPr/>
                <p:nvPr/>
              </p:nvSpPr>
              <p:spPr bwMode="auto">
                <a:xfrm>
                  <a:off x="5643246" y="5862955"/>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grpSp>
          <p:sp>
            <p:nvSpPr>
              <p:cNvPr id="16" name="TextBox 15">
                <a:extLst>
                  <a:ext uri="{FF2B5EF4-FFF2-40B4-BE49-F238E27FC236}">
                    <a16:creationId xmlns:a16="http://schemas.microsoft.com/office/drawing/2014/main" id="{66A6D7D2-170B-455B-A4B9-378A44309A1B}"/>
                  </a:ext>
                </a:extLst>
              </p:cNvPr>
              <p:cNvSpPr txBox="1"/>
              <p:nvPr/>
            </p:nvSpPr>
            <p:spPr>
              <a:xfrm>
                <a:off x="6402886" y="2151870"/>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kern="1200">
                    <a:ln>
                      <a:noFill/>
                    </a:ln>
                    <a:solidFill>
                      <a:srgbClr val="000000"/>
                    </a:solidFill>
                    <a:effectLst/>
                    <a:uLnTx/>
                    <a:uFillTx/>
                    <a:latin typeface="Segoe UI Semibold" panose="020B0702040204020203" pitchFamily="34" charset="0"/>
                    <a:ea typeface="+mn-ea"/>
                    <a:cs typeface="Segoe UI Semibold" panose="020B0702040204020203" pitchFamily="34" charset="0"/>
                  </a:defRPr>
                </a:pPr>
                <a:r>
                  <a:t>Software Licensing Cost</a:t>
                </a:r>
                <a:endParaRPr kumimoji="0" sz="1200" b="0" i="0" u="none" strike="noStrike" kern="120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grpSp>
            <p:nvGrpSpPr>
              <p:cNvPr id="17" name="Group 16">
                <a:extLst>
                  <a:ext uri="{FF2B5EF4-FFF2-40B4-BE49-F238E27FC236}">
                    <a16:creationId xmlns:a16="http://schemas.microsoft.com/office/drawing/2014/main" id="{7296AE99-3462-491B-98F4-ED981934F60F}"/>
                  </a:ext>
                </a:extLst>
              </p:cNvPr>
              <p:cNvGrpSpPr/>
              <p:nvPr/>
            </p:nvGrpSpPr>
            <p:grpSpPr>
              <a:xfrm>
                <a:off x="6567473" y="2818427"/>
                <a:ext cx="2883708" cy="2241091"/>
                <a:chOff x="6567473" y="2994709"/>
                <a:chExt cx="2883708" cy="2241091"/>
              </a:xfrm>
            </p:grpSpPr>
            <p:sp>
              <p:nvSpPr>
                <p:cNvPr id="21" name="TextBox 20">
                  <a:extLst>
                    <a:ext uri="{FF2B5EF4-FFF2-40B4-BE49-F238E27FC236}">
                      <a16:creationId xmlns:a16="http://schemas.microsoft.com/office/drawing/2014/main" id="{5E5027ED-5899-4743-BBEA-0154D93B647B}"/>
                    </a:ext>
                  </a:extLst>
                </p:cNvPr>
                <p:cNvSpPr txBox="1"/>
                <p:nvPr/>
              </p:nvSpPr>
              <p:spPr>
                <a:xfrm>
                  <a:off x="6876028" y="2994709"/>
                  <a:ext cx="1117928" cy="532040"/>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Customization, Implementation &amp; Training</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7C7C10AA-BA95-45F7-A611-2C467CE10C61}"/>
                    </a:ext>
                  </a:extLst>
                </p:cNvPr>
                <p:cNvSpPr txBox="1"/>
                <p:nvPr/>
              </p:nvSpPr>
              <p:spPr>
                <a:xfrm>
                  <a:off x="6567473" y="3656981"/>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Hardware</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96E0A8D8-9439-47E6-8E31-35B7F54F6DFA}"/>
                    </a:ext>
                  </a:extLst>
                </p:cNvPr>
                <p:cNvSpPr txBox="1"/>
                <p:nvPr/>
              </p:nvSpPr>
              <p:spPr>
                <a:xfrm>
                  <a:off x="6837215" y="4118423"/>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IT Personnel</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5C2D5119-3396-49CA-9EE5-D52842D8041C}"/>
                    </a:ext>
                  </a:extLst>
                </p:cNvPr>
                <p:cNvSpPr txBox="1"/>
                <p:nvPr/>
              </p:nvSpPr>
              <p:spPr>
                <a:xfrm>
                  <a:off x="7101239" y="4573009"/>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Maintenance</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DFCE17B4-E1A1-47D4-84A4-B674BCF59C36}"/>
                    </a:ext>
                  </a:extLst>
                </p:cNvPr>
                <p:cNvSpPr txBox="1"/>
                <p:nvPr/>
              </p:nvSpPr>
              <p:spPr>
                <a:xfrm>
                  <a:off x="8027662" y="5058454"/>
                  <a:ext cx="1038398"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Upgrades</a:t>
                  </a:r>
                  <a:endParaRPr kumimoji="0" sz="1200" b="0" i="0" u="none" strike="noStrike" kern="0" cap="none" spc="0" normalizeH="0" baseline="0">
                    <a:ln>
                      <a:noFill/>
                    </a:ln>
                    <a:solidFill>
                      <a:srgbClr val="000000"/>
                    </a:solidFill>
                    <a:effectLst/>
                    <a:uLnTx/>
                    <a:uFillTx/>
                    <a:latin typeface="Segoe UI"/>
                    <a:ea typeface="+mn-ea"/>
                    <a:cs typeface="+mn-cs"/>
                  </a:endParaRPr>
                </a:p>
              </p:txBody>
            </p:sp>
            <p:cxnSp>
              <p:nvCxnSpPr>
                <p:cNvPr id="26" name="Straight Connector 25">
                  <a:extLst>
                    <a:ext uri="{FF2B5EF4-FFF2-40B4-BE49-F238E27FC236}">
                      <a16:creationId xmlns:a16="http://schemas.microsoft.com/office/drawing/2014/main" id="{4D260BC7-FAD4-43FB-BA03-C3CC13666DE8}"/>
                    </a:ext>
                  </a:extLst>
                </p:cNvPr>
                <p:cNvCxnSpPr>
                  <a:cxnSpLocks/>
                </p:cNvCxnSpPr>
                <p:nvPr/>
              </p:nvCxnSpPr>
              <p:spPr>
                <a:xfrm>
                  <a:off x="8081457" y="3266362"/>
                  <a:ext cx="219091" cy="0"/>
                </a:xfrm>
                <a:prstGeom prst="line">
                  <a:avLst/>
                </a:prstGeom>
                <a:noFill/>
                <a:ln w="6350" cap="flat" cmpd="sng" algn="ctr">
                  <a:solidFill>
                    <a:schemeClr val="accent1"/>
                  </a:solidFill>
                  <a:prstDash val="solid"/>
                  <a:headEnd type="oval" w="sm" len="sm"/>
                  <a:tailEnd type="none"/>
                </a:ln>
                <a:effectLst/>
              </p:spPr>
            </p:cxnSp>
            <p:cxnSp>
              <p:nvCxnSpPr>
                <p:cNvPr id="27" name="Straight Connector 26">
                  <a:extLst>
                    <a:ext uri="{FF2B5EF4-FFF2-40B4-BE49-F238E27FC236}">
                      <a16:creationId xmlns:a16="http://schemas.microsoft.com/office/drawing/2014/main" id="{8476EF59-2EB4-4800-BE4E-E0F36B974C77}"/>
                    </a:ext>
                  </a:extLst>
                </p:cNvPr>
                <p:cNvCxnSpPr>
                  <a:cxnSpLocks/>
                </p:cNvCxnSpPr>
                <p:nvPr/>
              </p:nvCxnSpPr>
              <p:spPr>
                <a:xfrm>
                  <a:off x="8314622" y="3742980"/>
                  <a:ext cx="219091" cy="0"/>
                </a:xfrm>
                <a:prstGeom prst="line">
                  <a:avLst/>
                </a:prstGeom>
                <a:noFill/>
                <a:ln w="6350" cap="flat" cmpd="sng" algn="ctr">
                  <a:solidFill>
                    <a:schemeClr val="accent1"/>
                  </a:solidFill>
                  <a:prstDash val="solid"/>
                  <a:headEnd type="oval" w="sm" len="sm"/>
                  <a:tailEnd type="none"/>
                </a:ln>
                <a:effectLst/>
              </p:spPr>
            </p:cxnSp>
            <p:cxnSp>
              <p:nvCxnSpPr>
                <p:cNvPr id="28" name="Straight Connector 27">
                  <a:extLst>
                    <a:ext uri="{FF2B5EF4-FFF2-40B4-BE49-F238E27FC236}">
                      <a16:creationId xmlns:a16="http://schemas.microsoft.com/office/drawing/2014/main" id="{A7F46DAF-2F7C-498C-9613-704ACDB4E122}"/>
                    </a:ext>
                  </a:extLst>
                </p:cNvPr>
                <p:cNvCxnSpPr>
                  <a:cxnSpLocks/>
                </p:cNvCxnSpPr>
                <p:nvPr/>
              </p:nvCxnSpPr>
              <p:spPr>
                <a:xfrm>
                  <a:off x="8582077" y="4199024"/>
                  <a:ext cx="219091" cy="0"/>
                </a:xfrm>
                <a:prstGeom prst="line">
                  <a:avLst/>
                </a:prstGeom>
                <a:noFill/>
                <a:ln w="6350" cap="flat" cmpd="sng" algn="ctr">
                  <a:solidFill>
                    <a:schemeClr val="accent1"/>
                  </a:solidFill>
                  <a:prstDash val="solid"/>
                  <a:headEnd type="oval" w="sm" len="sm"/>
                  <a:tailEnd type="none"/>
                </a:ln>
                <a:effectLst/>
              </p:spPr>
            </p:cxnSp>
            <p:cxnSp>
              <p:nvCxnSpPr>
                <p:cNvPr id="29" name="Straight Connector 28">
                  <a:extLst>
                    <a:ext uri="{FF2B5EF4-FFF2-40B4-BE49-F238E27FC236}">
                      <a16:creationId xmlns:a16="http://schemas.microsoft.com/office/drawing/2014/main" id="{744D27E4-5938-4C2C-A94D-7E8F0C284AF4}"/>
                    </a:ext>
                  </a:extLst>
                </p:cNvPr>
                <p:cNvCxnSpPr>
                  <a:cxnSpLocks/>
                </p:cNvCxnSpPr>
                <p:nvPr/>
              </p:nvCxnSpPr>
              <p:spPr>
                <a:xfrm>
                  <a:off x="8866676" y="4658497"/>
                  <a:ext cx="219091" cy="0"/>
                </a:xfrm>
                <a:prstGeom prst="line">
                  <a:avLst/>
                </a:prstGeom>
                <a:noFill/>
                <a:ln w="6350" cap="flat" cmpd="sng" algn="ctr">
                  <a:solidFill>
                    <a:schemeClr val="accent1"/>
                  </a:solidFill>
                  <a:prstDash val="solid"/>
                  <a:headEnd type="oval" w="sm" len="sm"/>
                  <a:tailEnd type="none"/>
                </a:ln>
                <a:effectLst/>
              </p:spPr>
            </p:cxnSp>
            <p:cxnSp>
              <p:nvCxnSpPr>
                <p:cNvPr id="30" name="Straight Connector 29">
                  <a:extLst>
                    <a:ext uri="{FF2B5EF4-FFF2-40B4-BE49-F238E27FC236}">
                      <a16:creationId xmlns:a16="http://schemas.microsoft.com/office/drawing/2014/main" id="{8098B298-49A8-487D-8EF0-2470944CB99B}"/>
                    </a:ext>
                  </a:extLst>
                </p:cNvPr>
                <p:cNvCxnSpPr>
                  <a:cxnSpLocks/>
                </p:cNvCxnSpPr>
                <p:nvPr/>
              </p:nvCxnSpPr>
              <p:spPr>
                <a:xfrm>
                  <a:off x="9188993" y="5141972"/>
                  <a:ext cx="219091" cy="0"/>
                </a:xfrm>
                <a:prstGeom prst="line">
                  <a:avLst/>
                </a:prstGeom>
                <a:noFill/>
                <a:ln w="6350" cap="flat" cmpd="sng" algn="ctr">
                  <a:solidFill>
                    <a:schemeClr val="accent1"/>
                  </a:solidFill>
                  <a:prstDash val="solid"/>
                  <a:headEnd type="oval" w="sm" len="sm"/>
                  <a:tailEnd type="none"/>
                </a:ln>
                <a:effectLst/>
              </p:spPr>
            </p:cxnSp>
            <p:cxnSp>
              <p:nvCxnSpPr>
                <p:cNvPr id="31" name="Straight Connector 30">
                  <a:extLst>
                    <a:ext uri="{FF2B5EF4-FFF2-40B4-BE49-F238E27FC236}">
                      <a16:creationId xmlns:a16="http://schemas.microsoft.com/office/drawing/2014/main" id="{780EA6B7-C2B3-4838-A608-8A4C6698A8F9}"/>
                    </a:ext>
                  </a:extLst>
                </p:cNvPr>
                <p:cNvCxnSpPr>
                  <a:cxnSpLocks/>
                </p:cNvCxnSpPr>
                <p:nvPr/>
              </p:nvCxnSpPr>
              <p:spPr>
                <a:xfrm>
                  <a:off x="8261410" y="3187678"/>
                  <a:ext cx="80829" cy="156899"/>
                </a:xfrm>
                <a:prstGeom prst="line">
                  <a:avLst/>
                </a:prstGeom>
                <a:noFill/>
                <a:ln w="6350" cap="flat" cmpd="sng" algn="ctr">
                  <a:solidFill>
                    <a:schemeClr val="accent1"/>
                  </a:solidFill>
                  <a:prstDash val="solid"/>
                  <a:headEnd type="none"/>
                  <a:tailEnd type="none"/>
                </a:ln>
                <a:effectLst/>
              </p:spPr>
            </p:cxnSp>
            <p:cxnSp>
              <p:nvCxnSpPr>
                <p:cNvPr id="32" name="Straight Connector 31">
                  <a:extLst>
                    <a:ext uri="{FF2B5EF4-FFF2-40B4-BE49-F238E27FC236}">
                      <a16:creationId xmlns:a16="http://schemas.microsoft.com/office/drawing/2014/main" id="{CAD2FD77-DB6E-42AA-B03C-E3C66EE9E777}"/>
                    </a:ext>
                  </a:extLst>
                </p:cNvPr>
                <p:cNvCxnSpPr>
                  <a:cxnSpLocks/>
                </p:cNvCxnSpPr>
                <p:nvPr/>
              </p:nvCxnSpPr>
              <p:spPr>
                <a:xfrm>
                  <a:off x="8490934" y="3661016"/>
                  <a:ext cx="80829" cy="156899"/>
                </a:xfrm>
                <a:prstGeom prst="line">
                  <a:avLst/>
                </a:prstGeom>
                <a:noFill/>
                <a:ln w="6350" cap="flat" cmpd="sng" algn="ctr">
                  <a:solidFill>
                    <a:schemeClr val="accent1"/>
                  </a:solidFill>
                  <a:prstDash val="solid"/>
                  <a:headEnd type="none"/>
                  <a:tailEnd type="none"/>
                </a:ln>
                <a:effectLst/>
              </p:spPr>
            </p:cxnSp>
            <p:cxnSp>
              <p:nvCxnSpPr>
                <p:cNvPr id="33" name="Straight Connector 32">
                  <a:extLst>
                    <a:ext uri="{FF2B5EF4-FFF2-40B4-BE49-F238E27FC236}">
                      <a16:creationId xmlns:a16="http://schemas.microsoft.com/office/drawing/2014/main" id="{4DD21DB6-0528-4B2E-9F1E-9CC6BDF5AE36}"/>
                    </a:ext>
                  </a:extLst>
                </p:cNvPr>
                <p:cNvCxnSpPr>
                  <a:cxnSpLocks/>
                </p:cNvCxnSpPr>
                <p:nvPr/>
              </p:nvCxnSpPr>
              <p:spPr>
                <a:xfrm>
                  <a:off x="8760804" y="4131243"/>
                  <a:ext cx="80963" cy="140694"/>
                </a:xfrm>
                <a:prstGeom prst="line">
                  <a:avLst/>
                </a:prstGeom>
                <a:noFill/>
                <a:ln w="6350" cap="flat" cmpd="sng" algn="ctr">
                  <a:solidFill>
                    <a:schemeClr val="accent1"/>
                  </a:solidFill>
                  <a:prstDash val="solid"/>
                  <a:headEnd type="none"/>
                  <a:tailEnd type="none"/>
                </a:ln>
                <a:effectLst/>
              </p:spPr>
            </p:cxnSp>
            <p:cxnSp>
              <p:nvCxnSpPr>
                <p:cNvPr id="34" name="Straight Connector 33">
                  <a:extLst>
                    <a:ext uri="{FF2B5EF4-FFF2-40B4-BE49-F238E27FC236}">
                      <a16:creationId xmlns:a16="http://schemas.microsoft.com/office/drawing/2014/main" id="{396F2CBE-4D1E-4B60-BFBC-D7E148E6F9CF}"/>
                    </a:ext>
                  </a:extLst>
                </p:cNvPr>
                <p:cNvCxnSpPr>
                  <a:cxnSpLocks/>
                </p:cNvCxnSpPr>
                <p:nvPr/>
              </p:nvCxnSpPr>
              <p:spPr>
                <a:xfrm>
                  <a:off x="9042109" y="4584842"/>
                  <a:ext cx="87603" cy="134866"/>
                </a:xfrm>
                <a:prstGeom prst="line">
                  <a:avLst/>
                </a:prstGeom>
                <a:noFill/>
                <a:ln w="6350" cap="flat" cmpd="sng" algn="ctr">
                  <a:solidFill>
                    <a:schemeClr val="accent1"/>
                  </a:solidFill>
                  <a:prstDash val="solid"/>
                  <a:headEnd type="none"/>
                  <a:tailEnd type="none"/>
                </a:ln>
                <a:effectLst/>
              </p:spPr>
            </p:cxnSp>
            <p:cxnSp>
              <p:nvCxnSpPr>
                <p:cNvPr id="35" name="Straight Connector 34">
                  <a:extLst>
                    <a:ext uri="{FF2B5EF4-FFF2-40B4-BE49-F238E27FC236}">
                      <a16:creationId xmlns:a16="http://schemas.microsoft.com/office/drawing/2014/main" id="{2DA5F028-2073-4886-8CD4-E69B1411E549}"/>
                    </a:ext>
                  </a:extLst>
                </p:cNvPr>
                <p:cNvCxnSpPr>
                  <a:cxnSpLocks/>
                </p:cNvCxnSpPr>
                <p:nvPr/>
              </p:nvCxnSpPr>
              <p:spPr>
                <a:xfrm>
                  <a:off x="9365451" y="5069943"/>
                  <a:ext cx="85730" cy="133158"/>
                </a:xfrm>
                <a:prstGeom prst="line">
                  <a:avLst/>
                </a:prstGeom>
                <a:noFill/>
                <a:ln w="6350" cap="flat" cmpd="sng" algn="ctr">
                  <a:solidFill>
                    <a:schemeClr val="accent1"/>
                  </a:solidFill>
                  <a:prstDash val="solid"/>
                  <a:headEnd type="none"/>
                  <a:tailEnd type="none"/>
                </a:ln>
                <a:effectLst/>
              </p:spPr>
            </p:cxnSp>
          </p:grpSp>
          <p:grpSp>
            <p:nvGrpSpPr>
              <p:cNvPr id="18" name="Group 17">
                <a:extLst>
                  <a:ext uri="{FF2B5EF4-FFF2-40B4-BE49-F238E27FC236}">
                    <a16:creationId xmlns:a16="http://schemas.microsoft.com/office/drawing/2014/main" id="{AF5BB1D4-0F07-4026-B8DC-2D1B07DBAE61}"/>
                  </a:ext>
                </a:extLst>
              </p:cNvPr>
              <p:cNvGrpSpPr/>
              <p:nvPr/>
            </p:nvGrpSpPr>
            <p:grpSpPr>
              <a:xfrm>
                <a:off x="8175394" y="2172895"/>
                <a:ext cx="598987" cy="167077"/>
                <a:chOff x="8175394" y="2349177"/>
                <a:chExt cx="598987" cy="167077"/>
              </a:xfrm>
            </p:grpSpPr>
            <p:cxnSp>
              <p:nvCxnSpPr>
                <p:cNvPr id="19" name="Straight Connector 18">
                  <a:extLst>
                    <a:ext uri="{FF2B5EF4-FFF2-40B4-BE49-F238E27FC236}">
                      <a16:creationId xmlns:a16="http://schemas.microsoft.com/office/drawing/2014/main" id="{DD89C3E8-669A-451F-8BA6-B72C16EC47F3}"/>
                    </a:ext>
                  </a:extLst>
                </p:cNvPr>
                <p:cNvCxnSpPr>
                  <a:cxnSpLocks/>
                </p:cNvCxnSpPr>
                <p:nvPr/>
              </p:nvCxnSpPr>
              <p:spPr>
                <a:xfrm flipH="1">
                  <a:off x="8175394" y="2427715"/>
                  <a:ext cx="520586" cy="0"/>
                </a:xfrm>
                <a:prstGeom prst="line">
                  <a:avLst/>
                </a:prstGeom>
                <a:noFill/>
                <a:ln w="6350" cap="flat" cmpd="sng" algn="ctr">
                  <a:solidFill>
                    <a:schemeClr val="accent1"/>
                  </a:solidFill>
                  <a:prstDash val="solid"/>
                  <a:headEnd type="none"/>
                  <a:tailEnd type="oval" w="sm" len="sm"/>
                </a:ln>
                <a:effectLst/>
              </p:spPr>
            </p:cxnSp>
            <p:cxnSp>
              <p:nvCxnSpPr>
                <p:cNvPr id="20" name="Straight Connector 19">
                  <a:extLst>
                    <a:ext uri="{FF2B5EF4-FFF2-40B4-BE49-F238E27FC236}">
                      <a16:creationId xmlns:a16="http://schemas.microsoft.com/office/drawing/2014/main" id="{BA83EEA8-1171-4D3E-9822-F903654E2ACE}"/>
                    </a:ext>
                  </a:extLst>
                </p:cNvPr>
                <p:cNvCxnSpPr>
                  <a:cxnSpLocks/>
                </p:cNvCxnSpPr>
                <p:nvPr/>
              </p:nvCxnSpPr>
              <p:spPr>
                <a:xfrm flipH="1">
                  <a:off x="8604405" y="2349177"/>
                  <a:ext cx="169976" cy="167077"/>
                </a:xfrm>
                <a:prstGeom prst="line">
                  <a:avLst/>
                </a:prstGeom>
                <a:noFill/>
                <a:ln w="6350" cap="flat" cmpd="sng" algn="ctr">
                  <a:solidFill>
                    <a:schemeClr val="accent1"/>
                  </a:solidFill>
                  <a:prstDash val="solid"/>
                  <a:headEnd type="none"/>
                  <a:tailEnd type="none"/>
                </a:ln>
                <a:effectLst/>
              </p:spPr>
            </p:cxnSp>
          </p:grpSp>
        </p:grpSp>
        <p:sp>
          <p:nvSpPr>
            <p:cNvPr id="14" name="Text Placeholder 6">
              <a:extLst>
                <a:ext uri="{FF2B5EF4-FFF2-40B4-BE49-F238E27FC236}">
                  <a16:creationId xmlns:a16="http://schemas.microsoft.com/office/drawing/2014/main" id="{5E85EE90-0C19-42EF-BE99-D6C788725B45}"/>
                </a:ext>
              </a:extLst>
            </p:cNvPr>
            <p:cNvSpPr txBox="1">
              <a:spLocks/>
            </p:cNvSpPr>
            <p:nvPr/>
          </p:nvSpPr>
          <p:spPr>
            <a:xfrm>
              <a:off x="8264806" y="1460829"/>
              <a:ext cx="1333097" cy="229094"/>
            </a:xfrm>
            <a:prstGeom prst="rect">
              <a:avLst/>
            </a:prstGeom>
          </p:spPr>
          <p:txBody>
            <a:bodyPr vert="horz" wrap="square" lIns="0" tIns="0" rIns="0" bIns="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800" spc="-49">
                  <a:ln>
                    <a:noFill/>
                  </a:ln>
                  <a:solidFill>
                    <a:srgbClr val="243A5E"/>
                  </a:solidFill>
                  <a:effectLst/>
                  <a:uLnTx/>
                  <a:uFillTx/>
                  <a:latin typeface="Segoe UI Semibold"/>
                  <a:cs typeface="Segoe UI Semibold" panose="020B0702040204020203" pitchFamily="34" charset="0"/>
                </a:defRPr>
              </a:pPr>
              <a:r>
                <a:t>On-Premises</a:t>
              </a:r>
            </a:p>
          </p:txBody>
        </p:sp>
      </p:grpSp>
      <p:grpSp>
        <p:nvGrpSpPr>
          <p:cNvPr id="126" name="Group 125">
            <a:extLst>
              <a:ext uri="{FF2B5EF4-FFF2-40B4-BE49-F238E27FC236}">
                <a16:creationId xmlns:a16="http://schemas.microsoft.com/office/drawing/2014/main" id="{BE6E60BC-00B1-45B8-BF9D-26B89514E10B}"/>
              </a:ext>
            </a:extLst>
          </p:cNvPr>
          <p:cNvGrpSpPr/>
          <p:nvPr/>
        </p:nvGrpSpPr>
        <p:grpSpPr>
          <a:xfrm>
            <a:off x="6512373" y="1246648"/>
            <a:ext cx="5573706" cy="5218545"/>
            <a:chOff x="304800" y="1465300"/>
            <a:chExt cx="5573706" cy="5011700"/>
          </a:xfrm>
        </p:grpSpPr>
        <p:sp>
          <p:nvSpPr>
            <p:cNvPr id="96" name="Rectangle 95">
              <a:extLst>
                <a:ext uri="{FF2B5EF4-FFF2-40B4-BE49-F238E27FC236}">
                  <a16:creationId xmlns:a16="http://schemas.microsoft.com/office/drawing/2014/main" id="{DD57364D-B609-4AA6-BFD4-5698B3A18A4A}"/>
                </a:ext>
              </a:extLst>
            </p:cNvPr>
            <p:cNvSpPr/>
            <p:nvPr/>
          </p:nvSpPr>
          <p:spPr bwMode="auto">
            <a:xfrm>
              <a:off x="304800"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Subscription fees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Training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Configuration</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System Administration</a:t>
              </a:r>
              <a:endParaRPr kumimoji="0" sz="1200" b="0" i="0" u="none" strike="noStrike" kern="0" cap="none" spc="0" normalizeH="0" baseline="0">
                <a:ln>
                  <a:noFill/>
                </a:ln>
                <a:solidFill>
                  <a:srgbClr val="000000"/>
                </a:solidFill>
                <a:effectLst/>
                <a:uLnTx/>
                <a:uFillTx/>
                <a:latin typeface="Segoe UI"/>
                <a:ea typeface="Segoe UI" pitchFamily="34" charset="0"/>
                <a:cs typeface="Segoe UI" pitchFamily="34" charset="0"/>
              </a:endParaRPr>
            </a:p>
          </p:txBody>
        </p:sp>
        <p:grpSp>
          <p:nvGrpSpPr>
            <p:cNvPr id="97" name="Group 96">
              <a:extLst>
                <a:ext uri="{FF2B5EF4-FFF2-40B4-BE49-F238E27FC236}">
                  <a16:creationId xmlns:a16="http://schemas.microsoft.com/office/drawing/2014/main" id="{68FF94E2-86AD-417D-94E2-82E04C11EC2B}"/>
                </a:ext>
              </a:extLst>
            </p:cNvPr>
            <p:cNvGrpSpPr/>
            <p:nvPr/>
          </p:nvGrpSpPr>
          <p:grpSpPr>
            <a:xfrm>
              <a:off x="1395240" y="1801577"/>
              <a:ext cx="3971707" cy="2357834"/>
              <a:chOff x="1396663" y="1801577"/>
              <a:chExt cx="3971707" cy="2357834"/>
            </a:xfrm>
          </p:grpSpPr>
          <p:grpSp>
            <p:nvGrpSpPr>
              <p:cNvPr id="99" name="Group 1066">
                <a:extLst>
                  <a:ext uri="{FF2B5EF4-FFF2-40B4-BE49-F238E27FC236}">
                    <a16:creationId xmlns:a16="http://schemas.microsoft.com/office/drawing/2014/main" id="{33320B10-EAED-4BF3-AC20-76320B74AE23}"/>
                  </a:ext>
                </a:extLst>
              </p:cNvPr>
              <p:cNvGrpSpPr/>
              <p:nvPr/>
            </p:nvGrpSpPr>
            <p:grpSpPr>
              <a:xfrm>
                <a:off x="1396663" y="1801577"/>
                <a:ext cx="2074385" cy="2357834"/>
                <a:chOff x="7402112" y="763927"/>
                <a:chExt cx="3266882" cy="3713277"/>
              </a:xfrm>
            </p:grpSpPr>
            <p:grpSp>
              <p:nvGrpSpPr>
                <p:cNvPr id="106" name="Group 31">
                  <a:extLst>
                    <a:ext uri="{FF2B5EF4-FFF2-40B4-BE49-F238E27FC236}">
                      <a16:creationId xmlns:a16="http://schemas.microsoft.com/office/drawing/2014/main" id="{EB899AFA-6FF6-478E-A23B-7C2E60531565}"/>
                    </a:ext>
                  </a:extLst>
                </p:cNvPr>
                <p:cNvGrpSpPr/>
                <p:nvPr/>
              </p:nvGrpSpPr>
              <p:grpSpPr>
                <a:xfrm>
                  <a:off x="7402112" y="763927"/>
                  <a:ext cx="3266882" cy="3713277"/>
                  <a:chOff x="4771840" y="1938608"/>
                  <a:chExt cx="2560342" cy="3310341"/>
                </a:xfrm>
              </p:grpSpPr>
              <p:sp>
                <p:nvSpPr>
                  <p:cNvPr id="109" name="Freeform 5">
                    <a:extLst>
                      <a:ext uri="{FF2B5EF4-FFF2-40B4-BE49-F238E27FC236}">
                        <a16:creationId xmlns:a16="http://schemas.microsoft.com/office/drawing/2014/main" id="{DB969605-0319-4F60-B593-340C33DDE373}"/>
                      </a:ext>
                    </a:extLst>
                  </p:cNvPr>
                  <p:cNvSpPr>
                    <a:spLocks/>
                  </p:cNvSpPr>
                  <p:nvPr/>
                </p:nvSpPr>
                <p:spPr bwMode="auto">
                  <a:xfrm>
                    <a:off x="6283003" y="2599202"/>
                    <a:ext cx="641166" cy="196452"/>
                  </a:xfrm>
                  <a:custGeom>
                    <a:avLst/>
                    <a:gdLst/>
                    <a:ahLst/>
                    <a:cxnLst>
                      <a:cxn ang="0">
                        <a:pos x="0" y="40"/>
                      </a:cxn>
                      <a:cxn ang="0">
                        <a:pos x="160" y="0"/>
                      </a:cxn>
                      <a:cxn ang="0">
                        <a:pos x="223" y="0"/>
                      </a:cxn>
                      <a:cxn ang="0">
                        <a:pos x="297" y="91"/>
                      </a:cxn>
                      <a:cxn ang="0">
                        <a:pos x="0" y="40"/>
                      </a:cxn>
                    </a:cxnLst>
                    <a:rect l="0" t="0" r="r" b="b"/>
                    <a:pathLst>
                      <a:path w="297" h="91">
                        <a:moveTo>
                          <a:pt x="0" y="40"/>
                        </a:moveTo>
                        <a:lnTo>
                          <a:pt x="160" y="0"/>
                        </a:lnTo>
                        <a:lnTo>
                          <a:pt x="223" y="0"/>
                        </a:lnTo>
                        <a:lnTo>
                          <a:pt x="297" y="91"/>
                        </a:lnTo>
                        <a:lnTo>
                          <a:pt x="0" y="4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0" name="Freeform 6">
                    <a:extLst>
                      <a:ext uri="{FF2B5EF4-FFF2-40B4-BE49-F238E27FC236}">
                        <a16:creationId xmlns:a16="http://schemas.microsoft.com/office/drawing/2014/main" id="{EAD904DB-AB1A-4B4D-8FAC-71F8FB00C49D}"/>
                      </a:ext>
                    </a:extLst>
                  </p:cNvPr>
                  <p:cNvSpPr>
                    <a:spLocks/>
                  </p:cNvSpPr>
                  <p:nvPr/>
                </p:nvSpPr>
                <p:spPr bwMode="auto">
                  <a:xfrm>
                    <a:off x="5780002" y="2551708"/>
                    <a:ext cx="503002" cy="272009"/>
                  </a:xfrm>
                  <a:custGeom>
                    <a:avLst/>
                    <a:gdLst/>
                    <a:ahLst/>
                    <a:cxnLst>
                      <a:cxn ang="0">
                        <a:pos x="233" y="62"/>
                      </a:cxn>
                      <a:cxn ang="0">
                        <a:pos x="0" y="126"/>
                      </a:cxn>
                      <a:cxn ang="0">
                        <a:pos x="8" y="19"/>
                      </a:cxn>
                      <a:cxn ang="0">
                        <a:pos x="100" y="0"/>
                      </a:cxn>
                      <a:cxn ang="0">
                        <a:pos x="233" y="62"/>
                      </a:cxn>
                    </a:cxnLst>
                    <a:rect l="0" t="0" r="r" b="b"/>
                    <a:pathLst>
                      <a:path w="233" h="126">
                        <a:moveTo>
                          <a:pt x="233" y="62"/>
                        </a:moveTo>
                        <a:lnTo>
                          <a:pt x="0" y="126"/>
                        </a:lnTo>
                        <a:lnTo>
                          <a:pt x="8" y="19"/>
                        </a:lnTo>
                        <a:lnTo>
                          <a:pt x="100" y="0"/>
                        </a:lnTo>
                        <a:lnTo>
                          <a:pt x="233" y="62"/>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1" name="Freeform 7">
                    <a:extLst>
                      <a:ext uri="{FF2B5EF4-FFF2-40B4-BE49-F238E27FC236}">
                        <a16:creationId xmlns:a16="http://schemas.microsoft.com/office/drawing/2014/main" id="{E9EF89AC-5F31-493A-AB35-4839B238B347}"/>
                      </a:ext>
                    </a:extLst>
                  </p:cNvPr>
                  <p:cNvSpPr>
                    <a:spLocks/>
                  </p:cNvSpPr>
                  <p:nvPr/>
                </p:nvSpPr>
                <p:spPr bwMode="auto">
                  <a:xfrm>
                    <a:off x="5043849" y="2817242"/>
                    <a:ext cx="675706" cy="1426970"/>
                  </a:xfrm>
                  <a:custGeom>
                    <a:avLst/>
                    <a:gdLst/>
                    <a:ahLst/>
                    <a:cxnLst>
                      <a:cxn ang="0">
                        <a:pos x="0" y="549"/>
                      </a:cxn>
                      <a:cxn ang="0">
                        <a:pos x="42" y="212"/>
                      </a:cxn>
                      <a:cxn ang="0">
                        <a:pos x="187" y="0"/>
                      </a:cxn>
                      <a:cxn ang="0">
                        <a:pos x="191" y="0"/>
                      </a:cxn>
                      <a:cxn ang="0">
                        <a:pos x="313" y="661"/>
                      </a:cxn>
                      <a:cxn ang="0">
                        <a:pos x="0" y="549"/>
                      </a:cxn>
                    </a:cxnLst>
                    <a:rect l="0" t="0" r="r" b="b"/>
                    <a:pathLst>
                      <a:path w="313" h="661">
                        <a:moveTo>
                          <a:pt x="0" y="549"/>
                        </a:moveTo>
                        <a:lnTo>
                          <a:pt x="42" y="212"/>
                        </a:lnTo>
                        <a:lnTo>
                          <a:pt x="187" y="0"/>
                        </a:lnTo>
                        <a:lnTo>
                          <a:pt x="191" y="0"/>
                        </a:lnTo>
                        <a:lnTo>
                          <a:pt x="313" y="661"/>
                        </a:lnTo>
                        <a:lnTo>
                          <a:pt x="0" y="549"/>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2" name="Freeform 8">
                    <a:extLst>
                      <a:ext uri="{FF2B5EF4-FFF2-40B4-BE49-F238E27FC236}">
                        <a16:creationId xmlns:a16="http://schemas.microsoft.com/office/drawing/2014/main" id="{42AE9258-D6CD-454F-8C35-E045A68EA780}"/>
                      </a:ext>
                    </a:extLst>
                  </p:cNvPr>
                  <p:cNvSpPr>
                    <a:spLocks/>
                  </p:cNvSpPr>
                  <p:nvPr/>
                </p:nvSpPr>
                <p:spPr bwMode="auto">
                  <a:xfrm>
                    <a:off x="5456182" y="2817242"/>
                    <a:ext cx="684342" cy="1426970"/>
                  </a:xfrm>
                  <a:custGeom>
                    <a:avLst/>
                    <a:gdLst/>
                    <a:ahLst/>
                    <a:cxnLst>
                      <a:cxn ang="0">
                        <a:pos x="150" y="3"/>
                      </a:cxn>
                      <a:cxn ang="0">
                        <a:pos x="317" y="228"/>
                      </a:cxn>
                      <a:cxn ang="0">
                        <a:pos x="122" y="661"/>
                      </a:cxn>
                      <a:cxn ang="0">
                        <a:pos x="0" y="0"/>
                      </a:cxn>
                      <a:cxn ang="0">
                        <a:pos x="150" y="3"/>
                      </a:cxn>
                    </a:cxnLst>
                    <a:rect l="0" t="0" r="r" b="b"/>
                    <a:pathLst>
                      <a:path w="317" h="661">
                        <a:moveTo>
                          <a:pt x="150" y="3"/>
                        </a:moveTo>
                        <a:lnTo>
                          <a:pt x="317" y="228"/>
                        </a:lnTo>
                        <a:lnTo>
                          <a:pt x="122" y="661"/>
                        </a:lnTo>
                        <a:lnTo>
                          <a:pt x="0" y="0"/>
                        </a:lnTo>
                        <a:lnTo>
                          <a:pt x="150" y="3"/>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3" name="Freeform 10">
                    <a:extLst>
                      <a:ext uri="{FF2B5EF4-FFF2-40B4-BE49-F238E27FC236}">
                        <a16:creationId xmlns:a16="http://schemas.microsoft.com/office/drawing/2014/main" id="{ABAFE1E7-7B9D-4C63-B146-F18271F998F5}"/>
                      </a:ext>
                    </a:extLst>
                  </p:cNvPr>
                  <p:cNvSpPr>
                    <a:spLocks/>
                  </p:cNvSpPr>
                  <p:nvPr/>
                </p:nvSpPr>
                <p:spPr bwMode="auto">
                  <a:xfrm>
                    <a:off x="4771840" y="4028330"/>
                    <a:ext cx="1327665" cy="695135"/>
                  </a:xfrm>
                  <a:custGeom>
                    <a:avLst/>
                    <a:gdLst/>
                    <a:ahLst/>
                    <a:cxnLst>
                      <a:cxn ang="0">
                        <a:pos x="0" y="49"/>
                      </a:cxn>
                      <a:cxn ang="0">
                        <a:pos x="100" y="0"/>
                      </a:cxn>
                      <a:cxn ang="0">
                        <a:pos x="233" y="177"/>
                      </a:cxn>
                      <a:cxn ang="0">
                        <a:pos x="439" y="100"/>
                      </a:cxn>
                      <a:cxn ang="0">
                        <a:pos x="615" y="223"/>
                      </a:cxn>
                      <a:cxn ang="0">
                        <a:pos x="608" y="225"/>
                      </a:cxn>
                      <a:cxn ang="0">
                        <a:pos x="610" y="225"/>
                      </a:cxn>
                      <a:cxn ang="0">
                        <a:pos x="286" y="322"/>
                      </a:cxn>
                      <a:cxn ang="0">
                        <a:pos x="191" y="235"/>
                      </a:cxn>
                      <a:cxn ang="0">
                        <a:pos x="110" y="56"/>
                      </a:cxn>
                      <a:cxn ang="0">
                        <a:pos x="44" y="87"/>
                      </a:cxn>
                      <a:cxn ang="0">
                        <a:pos x="0" y="49"/>
                      </a:cxn>
                    </a:cxnLst>
                    <a:rect l="0" t="0" r="r" b="b"/>
                    <a:pathLst>
                      <a:path w="615" h="322">
                        <a:moveTo>
                          <a:pt x="0" y="49"/>
                        </a:moveTo>
                        <a:lnTo>
                          <a:pt x="100" y="0"/>
                        </a:lnTo>
                        <a:lnTo>
                          <a:pt x="233" y="177"/>
                        </a:lnTo>
                        <a:lnTo>
                          <a:pt x="439" y="100"/>
                        </a:lnTo>
                        <a:lnTo>
                          <a:pt x="615" y="223"/>
                        </a:lnTo>
                        <a:lnTo>
                          <a:pt x="608" y="225"/>
                        </a:lnTo>
                        <a:lnTo>
                          <a:pt x="610" y="225"/>
                        </a:lnTo>
                        <a:lnTo>
                          <a:pt x="286" y="322"/>
                        </a:lnTo>
                        <a:lnTo>
                          <a:pt x="191" y="235"/>
                        </a:lnTo>
                        <a:lnTo>
                          <a:pt x="110" y="56"/>
                        </a:lnTo>
                        <a:lnTo>
                          <a:pt x="44" y="87"/>
                        </a:lnTo>
                        <a:lnTo>
                          <a:pt x="0" y="49"/>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4" name="Freeform 11">
                    <a:extLst>
                      <a:ext uri="{FF2B5EF4-FFF2-40B4-BE49-F238E27FC236}">
                        <a16:creationId xmlns:a16="http://schemas.microsoft.com/office/drawing/2014/main" id="{138D1528-5B25-4760-B481-E1597BD48F33}"/>
                      </a:ext>
                    </a:extLst>
                  </p:cNvPr>
                  <p:cNvSpPr>
                    <a:spLocks/>
                  </p:cNvSpPr>
                  <p:nvPr/>
                </p:nvSpPr>
                <p:spPr bwMode="auto">
                  <a:xfrm>
                    <a:off x="5995883" y="1938608"/>
                    <a:ext cx="287122" cy="746946"/>
                  </a:xfrm>
                  <a:custGeom>
                    <a:avLst/>
                    <a:gdLst/>
                    <a:ahLst/>
                    <a:cxnLst>
                      <a:cxn ang="0">
                        <a:pos x="123" y="0"/>
                      </a:cxn>
                      <a:cxn ang="0">
                        <a:pos x="133" y="346"/>
                      </a:cxn>
                      <a:cxn ang="0">
                        <a:pos x="0" y="284"/>
                      </a:cxn>
                      <a:cxn ang="0">
                        <a:pos x="123" y="0"/>
                      </a:cxn>
                    </a:cxnLst>
                    <a:rect l="0" t="0" r="r" b="b"/>
                    <a:pathLst>
                      <a:path w="133" h="346">
                        <a:moveTo>
                          <a:pt x="123" y="0"/>
                        </a:moveTo>
                        <a:lnTo>
                          <a:pt x="133" y="346"/>
                        </a:lnTo>
                        <a:lnTo>
                          <a:pt x="0" y="284"/>
                        </a:lnTo>
                        <a:lnTo>
                          <a:pt x="123" y="0"/>
                        </a:lnTo>
                        <a:close/>
                      </a:path>
                    </a:pathLst>
                  </a:custGeom>
                  <a:solidFill>
                    <a:srgbClr val="C3E5F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15" name="Freeform 12">
                    <a:extLst>
                      <a:ext uri="{FF2B5EF4-FFF2-40B4-BE49-F238E27FC236}">
                        <a16:creationId xmlns:a16="http://schemas.microsoft.com/office/drawing/2014/main" id="{36566247-3108-4E4E-B855-F088A9B7D165}"/>
                      </a:ext>
                    </a:extLst>
                  </p:cNvPr>
                  <p:cNvSpPr>
                    <a:spLocks/>
                  </p:cNvSpPr>
                  <p:nvPr/>
                </p:nvSpPr>
                <p:spPr bwMode="auto">
                  <a:xfrm>
                    <a:off x="5769629" y="2685554"/>
                    <a:ext cx="1245209" cy="623895"/>
                  </a:xfrm>
                  <a:custGeom>
                    <a:avLst/>
                    <a:gdLst>
                      <a:gd name="connsiteX0" fmla="*/ 5591 w 10084"/>
                      <a:gd name="connsiteY0" fmla="*/ 5294 h 10000"/>
                      <a:gd name="connsiteX1" fmla="*/ 3004 w 10084"/>
                      <a:gd name="connsiteY1" fmla="*/ 10000 h 10000"/>
                      <a:gd name="connsiteX2" fmla="*/ 0 w 10084"/>
                      <a:gd name="connsiteY2" fmla="*/ 2215 h 10000"/>
                      <a:gd name="connsiteX3" fmla="*/ 4157 w 10084"/>
                      <a:gd name="connsiteY3" fmla="*/ 0 h 10000"/>
                      <a:gd name="connsiteX4" fmla="*/ 9350 w 10084"/>
                      <a:gd name="connsiteY4" fmla="*/ 1765 h 10000"/>
                      <a:gd name="connsiteX5" fmla="*/ 10084 w 10084"/>
                      <a:gd name="connsiteY5" fmla="*/ 6298 h 10000"/>
                      <a:gd name="connsiteX6" fmla="*/ 5591 w 10084"/>
                      <a:gd name="connsiteY6" fmla="*/ 529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4" h="10000">
                        <a:moveTo>
                          <a:pt x="5591" y="5294"/>
                        </a:moveTo>
                        <a:lnTo>
                          <a:pt x="3004" y="10000"/>
                        </a:lnTo>
                        <a:lnTo>
                          <a:pt x="0" y="2215"/>
                        </a:lnTo>
                        <a:lnTo>
                          <a:pt x="4157" y="0"/>
                        </a:lnTo>
                        <a:lnTo>
                          <a:pt x="9350" y="1765"/>
                        </a:lnTo>
                        <a:lnTo>
                          <a:pt x="10084" y="6298"/>
                        </a:lnTo>
                        <a:lnTo>
                          <a:pt x="5591" y="5294"/>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6" name="Freeform 13">
                    <a:extLst>
                      <a:ext uri="{FF2B5EF4-FFF2-40B4-BE49-F238E27FC236}">
                        <a16:creationId xmlns:a16="http://schemas.microsoft.com/office/drawing/2014/main" id="{C4643FF3-D0BF-41FD-95A2-2BA1EBECE1A2}"/>
                      </a:ext>
                    </a:extLst>
                  </p:cNvPr>
                  <p:cNvSpPr>
                    <a:spLocks/>
                  </p:cNvSpPr>
                  <p:nvPr/>
                </p:nvSpPr>
                <p:spPr bwMode="auto">
                  <a:xfrm>
                    <a:off x="6255243" y="1938608"/>
                    <a:ext cx="373168" cy="746946"/>
                  </a:xfrm>
                  <a:custGeom>
                    <a:avLst/>
                    <a:gdLst/>
                    <a:ahLst/>
                    <a:cxnLst>
                      <a:cxn ang="0">
                        <a:pos x="170" y="306"/>
                      </a:cxn>
                      <a:cxn ang="0">
                        <a:pos x="10" y="346"/>
                      </a:cxn>
                      <a:cxn ang="0">
                        <a:pos x="0" y="0"/>
                      </a:cxn>
                      <a:cxn ang="0">
                        <a:pos x="170" y="306"/>
                      </a:cxn>
                    </a:cxnLst>
                    <a:rect l="0" t="0" r="r" b="b"/>
                    <a:pathLst>
                      <a:path w="170" h="346">
                        <a:moveTo>
                          <a:pt x="170" y="306"/>
                        </a:moveTo>
                        <a:lnTo>
                          <a:pt x="10" y="346"/>
                        </a:lnTo>
                        <a:lnTo>
                          <a:pt x="0" y="0"/>
                        </a:lnTo>
                        <a:lnTo>
                          <a:pt x="170" y="30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17" name="Freeform 14">
                    <a:extLst>
                      <a:ext uri="{FF2B5EF4-FFF2-40B4-BE49-F238E27FC236}">
                        <a16:creationId xmlns:a16="http://schemas.microsoft.com/office/drawing/2014/main" id="{BF085A3C-5FB9-4142-B416-9D1121531004}"/>
                      </a:ext>
                    </a:extLst>
                  </p:cNvPr>
                  <p:cNvSpPr>
                    <a:spLocks/>
                  </p:cNvSpPr>
                  <p:nvPr/>
                </p:nvSpPr>
                <p:spPr bwMode="auto">
                  <a:xfrm>
                    <a:off x="4987720" y="4002424"/>
                    <a:ext cx="731835" cy="408015"/>
                  </a:xfrm>
                  <a:custGeom>
                    <a:avLst/>
                    <a:gdLst/>
                    <a:ahLst/>
                    <a:cxnLst>
                      <a:cxn ang="0">
                        <a:pos x="0" y="12"/>
                      </a:cxn>
                      <a:cxn ang="0">
                        <a:pos x="26" y="0"/>
                      </a:cxn>
                      <a:cxn ang="0">
                        <a:pos x="339" y="112"/>
                      </a:cxn>
                      <a:cxn ang="0">
                        <a:pos x="133" y="189"/>
                      </a:cxn>
                      <a:cxn ang="0">
                        <a:pos x="0" y="12"/>
                      </a:cxn>
                    </a:cxnLst>
                    <a:rect l="0" t="0" r="r" b="b"/>
                    <a:pathLst>
                      <a:path w="339" h="189">
                        <a:moveTo>
                          <a:pt x="0" y="12"/>
                        </a:moveTo>
                        <a:lnTo>
                          <a:pt x="26" y="0"/>
                        </a:lnTo>
                        <a:lnTo>
                          <a:pt x="339" y="112"/>
                        </a:lnTo>
                        <a:lnTo>
                          <a:pt x="133" y="189"/>
                        </a:lnTo>
                        <a:lnTo>
                          <a:pt x="0" y="12"/>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8" name="Freeform 15">
                    <a:extLst>
                      <a:ext uri="{FF2B5EF4-FFF2-40B4-BE49-F238E27FC236}">
                        <a16:creationId xmlns:a16="http://schemas.microsoft.com/office/drawing/2014/main" id="{2AC2E066-F10D-4982-A18D-B1E63B36A78A}"/>
                      </a:ext>
                    </a:extLst>
                  </p:cNvPr>
                  <p:cNvSpPr>
                    <a:spLocks/>
                  </p:cNvSpPr>
                  <p:nvPr/>
                </p:nvSpPr>
                <p:spPr bwMode="auto">
                  <a:xfrm>
                    <a:off x="5389258" y="4509744"/>
                    <a:ext cx="1249948" cy="739205"/>
                  </a:xfrm>
                  <a:custGeom>
                    <a:avLst/>
                    <a:gdLst>
                      <a:gd name="connsiteX0" fmla="*/ 0 w 10000"/>
                      <a:gd name="connsiteY0" fmla="*/ 2426 h 8824"/>
                      <a:gd name="connsiteX1" fmla="*/ 5596 w 10000"/>
                      <a:gd name="connsiteY1" fmla="*/ 49 h 8824"/>
                      <a:gd name="connsiteX2" fmla="*/ 5682 w 10000"/>
                      <a:gd name="connsiteY2" fmla="*/ 0 h 8824"/>
                      <a:gd name="connsiteX3" fmla="*/ 7824 w 10000"/>
                      <a:gd name="connsiteY3" fmla="*/ 4510 h 8824"/>
                      <a:gd name="connsiteX4" fmla="*/ 9240 w 10000"/>
                      <a:gd name="connsiteY4" fmla="*/ 2500 h 8824"/>
                      <a:gd name="connsiteX5" fmla="*/ 10000 w 10000"/>
                      <a:gd name="connsiteY5" fmla="*/ 5294 h 8824"/>
                      <a:gd name="connsiteX6" fmla="*/ 4352 w 10000"/>
                      <a:gd name="connsiteY6" fmla="*/ 2745 h 8824"/>
                      <a:gd name="connsiteX7" fmla="*/ 4387 w 10000"/>
                      <a:gd name="connsiteY7" fmla="*/ 2990 h 8824"/>
                      <a:gd name="connsiteX8" fmla="*/ 4387 w 10000"/>
                      <a:gd name="connsiteY8" fmla="*/ 2990 h 8824"/>
                      <a:gd name="connsiteX9" fmla="*/ 3143 w 10000"/>
                      <a:gd name="connsiteY9" fmla="*/ 4534 h 8824"/>
                      <a:gd name="connsiteX10" fmla="*/ 2090 w 10000"/>
                      <a:gd name="connsiteY10" fmla="*/ 8824 h 8824"/>
                      <a:gd name="connsiteX11" fmla="*/ 0 w 10000"/>
                      <a:gd name="connsiteY11" fmla="*/ 2426 h 8824"/>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4387 w 10000"/>
                      <a:gd name="connsiteY7" fmla="*/ 3388 h 10000"/>
                      <a:gd name="connsiteX8" fmla="*/ 3143 w 10000"/>
                      <a:gd name="connsiteY8" fmla="*/ 5138 h 10000"/>
                      <a:gd name="connsiteX9" fmla="*/ 2090 w 10000"/>
                      <a:gd name="connsiteY9" fmla="*/ 10000 h 10000"/>
                      <a:gd name="connsiteX10" fmla="*/ 0 w 10000"/>
                      <a:gd name="connsiteY10"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3143 w 10000"/>
                      <a:gd name="connsiteY7" fmla="*/ 5138 h 10000"/>
                      <a:gd name="connsiteX8" fmla="*/ 2090 w 10000"/>
                      <a:gd name="connsiteY8" fmla="*/ 10000 h 10000"/>
                      <a:gd name="connsiteX9" fmla="*/ 0 w 10000"/>
                      <a:gd name="connsiteY9"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3143 w 10000"/>
                      <a:gd name="connsiteY6" fmla="*/ 5138 h 10000"/>
                      <a:gd name="connsiteX7" fmla="*/ 2090 w 10000"/>
                      <a:gd name="connsiteY7" fmla="*/ 10000 h 10000"/>
                      <a:gd name="connsiteX8" fmla="*/ 0 w 10000"/>
                      <a:gd name="connsiteY8"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2090 w 10000"/>
                      <a:gd name="connsiteY6" fmla="*/ 10000 h 10000"/>
                      <a:gd name="connsiteX7" fmla="*/ 0 w 10000"/>
                      <a:gd name="connsiteY7" fmla="*/ 2749 h 10000"/>
                      <a:gd name="connsiteX0" fmla="*/ 0 w 10000"/>
                      <a:gd name="connsiteY0" fmla="*/ 2749 h 9511"/>
                      <a:gd name="connsiteX1" fmla="*/ 5596 w 10000"/>
                      <a:gd name="connsiteY1" fmla="*/ 56 h 9511"/>
                      <a:gd name="connsiteX2" fmla="*/ 5682 w 10000"/>
                      <a:gd name="connsiteY2" fmla="*/ 0 h 9511"/>
                      <a:gd name="connsiteX3" fmla="*/ 7824 w 10000"/>
                      <a:gd name="connsiteY3" fmla="*/ 5111 h 9511"/>
                      <a:gd name="connsiteX4" fmla="*/ 9240 w 10000"/>
                      <a:gd name="connsiteY4" fmla="*/ 2833 h 9511"/>
                      <a:gd name="connsiteX5" fmla="*/ 10000 w 10000"/>
                      <a:gd name="connsiteY5" fmla="*/ 6000 h 9511"/>
                      <a:gd name="connsiteX6" fmla="*/ 2396 w 10000"/>
                      <a:gd name="connsiteY6" fmla="*/ 9511 h 9511"/>
                      <a:gd name="connsiteX7" fmla="*/ 0 w 10000"/>
                      <a:gd name="connsiteY7" fmla="*/ 2749 h 9511"/>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332 w 10000"/>
                      <a:gd name="connsiteY6" fmla="*/ 8497 h 10000"/>
                      <a:gd name="connsiteX7" fmla="*/ 2396 w 10000"/>
                      <a:gd name="connsiteY7" fmla="*/ 10000 h 10000"/>
                      <a:gd name="connsiteX8" fmla="*/ 0 w 10000"/>
                      <a:gd name="connsiteY8" fmla="*/ 2890 h 10000"/>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179 w 10000"/>
                      <a:gd name="connsiteY6" fmla="*/ 7321 h 10000"/>
                      <a:gd name="connsiteX7" fmla="*/ 2396 w 10000"/>
                      <a:gd name="connsiteY7" fmla="*/ 10000 h 10000"/>
                      <a:gd name="connsiteX8" fmla="*/ 0 w 10000"/>
                      <a:gd name="connsiteY8" fmla="*/ 289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0" y="2890"/>
                        </a:moveTo>
                        <a:lnTo>
                          <a:pt x="5596" y="59"/>
                        </a:lnTo>
                        <a:cubicBezTo>
                          <a:pt x="5625" y="39"/>
                          <a:pt x="5653" y="19"/>
                          <a:pt x="5682" y="0"/>
                        </a:cubicBezTo>
                        <a:lnTo>
                          <a:pt x="7824" y="5374"/>
                        </a:lnTo>
                        <a:lnTo>
                          <a:pt x="9240" y="2979"/>
                        </a:lnTo>
                        <a:lnTo>
                          <a:pt x="10000" y="6308"/>
                        </a:lnTo>
                        <a:lnTo>
                          <a:pt x="5179" y="7321"/>
                        </a:lnTo>
                        <a:lnTo>
                          <a:pt x="2396" y="10000"/>
                        </a:lnTo>
                        <a:lnTo>
                          <a:pt x="0" y="289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9" name="Freeform 16">
                    <a:extLst>
                      <a:ext uri="{FF2B5EF4-FFF2-40B4-BE49-F238E27FC236}">
                        <a16:creationId xmlns:a16="http://schemas.microsoft.com/office/drawing/2014/main" id="{DF03489D-2826-4169-8D7F-600D02781B9A}"/>
                      </a:ext>
                    </a:extLst>
                  </p:cNvPr>
                  <p:cNvSpPr>
                    <a:spLocks/>
                  </p:cNvSpPr>
                  <p:nvPr/>
                </p:nvSpPr>
                <p:spPr bwMode="auto">
                  <a:xfrm>
                    <a:off x="6099507" y="3797339"/>
                    <a:ext cx="1144165" cy="1178706"/>
                  </a:xfrm>
                  <a:custGeom>
                    <a:avLst/>
                    <a:gdLst/>
                    <a:ahLst/>
                    <a:cxnLst>
                      <a:cxn ang="0">
                        <a:pos x="0" y="330"/>
                      </a:cxn>
                      <a:cxn ang="0">
                        <a:pos x="276" y="247"/>
                      </a:cxn>
                      <a:cxn ang="0">
                        <a:pos x="298" y="25"/>
                      </a:cxn>
                      <a:cxn ang="0">
                        <a:pos x="419" y="0"/>
                      </a:cxn>
                      <a:cxn ang="0">
                        <a:pos x="530" y="245"/>
                      </a:cxn>
                      <a:cxn ang="0">
                        <a:pos x="400" y="435"/>
                      </a:cxn>
                      <a:cxn ang="0">
                        <a:pos x="250" y="546"/>
                      </a:cxn>
                      <a:cxn ang="0">
                        <a:pos x="206" y="432"/>
                      </a:cxn>
                      <a:cxn ang="0">
                        <a:pos x="124" y="514"/>
                      </a:cxn>
                      <a:cxn ang="0">
                        <a:pos x="0" y="330"/>
                      </a:cxn>
                      <a:cxn ang="0">
                        <a:pos x="2" y="330"/>
                      </a:cxn>
                      <a:cxn ang="0">
                        <a:pos x="0" y="330"/>
                      </a:cxn>
                    </a:cxnLst>
                    <a:rect l="0" t="0" r="r" b="b"/>
                    <a:pathLst>
                      <a:path w="530" h="546">
                        <a:moveTo>
                          <a:pt x="0" y="330"/>
                        </a:moveTo>
                        <a:lnTo>
                          <a:pt x="276" y="247"/>
                        </a:lnTo>
                        <a:lnTo>
                          <a:pt x="298" y="25"/>
                        </a:lnTo>
                        <a:lnTo>
                          <a:pt x="419" y="0"/>
                        </a:lnTo>
                        <a:lnTo>
                          <a:pt x="530" y="245"/>
                        </a:lnTo>
                        <a:lnTo>
                          <a:pt x="400" y="435"/>
                        </a:lnTo>
                        <a:lnTo>
                          <a:pt x="250" y="546"/>
                        </a:lnTo>
                        <a:lnTo>
                          <a:pt x="206" y="432"/>
                        </a:lnTo>
                        <a:lnTo>
                          <a:pt x="124" y="514"/>
                        </a:lnTo>
                        <a:lnTo>
                          <a:pt x="0" y="330"/>
                        </a:lnTo>
                        <a:lnTo>
                          <a:pt x="2" y="330"/>
                        </a:lnTo>
                        <a:lnTo>
                          <a:pt x="0" y="33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0" name="Freeform 17">
                    <a:extLst>
                      <a:ext uri="{FF2B5EF4-FFF2-40B4-BE49-F238E27FC236}">
                        <a16:creationId xmlns:a16="http://schemas.microsoft.com/office/drawing/2014/main" id="{4B9B79EF-DD90-4C2A-A891-F50918970CC1}"/>
                      </a:ext>
                    </a:extLst>
                  </p:cNvPr>
                  <p:cNvSpPr>
                    <a:spLocks/>
                  </p:cNvSpPr>
                  <p:nvPr/>
                </p:nvSpPr>
                <p:spPr bwMode="auto">
                  <a:xfrm>
                    <a:off x="5719556" y="3309449"/>
                    <a:ext cx="1023273" cy="1200295"/>
                  </a:xfrm>
                  <a:custGeom>
                    <a:avLst/>
                    <a:gdLst/>
                    <a:ahLst/>
                    <a:cxnLst>
                      <a:cxn ang="0">
                        <a:pos x="176" y="556"/>
                      </a:cxn>
                      <a:cxn ang="0">
                        <a:pos x="0" y="433"/>
                      </a:cxn>
                      <a:cxn ang="0">
                        <a:pos x="195" y="0"/>
                      </a:cxn>
                      <a:cxn ang="0">
                        <a:pos x="474" y="251"/>
                      </a:cxn>
                      <a:cxn ang="0">
                        <a:pos x="254" y="231"/>
                      </a:cxn>
                      <a:cxn ang="0">
                        <a:pos x="176" y="556"/>
                      </a:cxn>
                    </a:cxnLst>
                    <a:rect l="0" t="0" r="r" b="b"/>
                    <a:pathLst>
                      <a:path w="474" h="556">
                        <a:moveTo>
                          <a:pt x="176" y="556"/>
                        </a:moveTo>
                        <a:lnTo>
                          <a:pt x="0" y="433"/>
                        </a:lnTo>
                        <a:lnTo>
                          <a:pt x="195" y="0"/>
                        </a:lnTo>
                        <a:lnTo>
                          <a:pt x="474" y="251"/>
                        </a:lnTo>
                        <a:lnTo>
                          <a:pt x="254" y="231"/>
                        </a:lnTo>
                        <a:lnTo>
                          <a:pt x="176" y="556"/>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1" name="Freeform 18">
                    <a:extLst>
                      <a:ext uri="{FF2B5EF4-FFF2-40B4-BE49-F238E27FC236}">
                        <a16:creationId xmlns:a16="http://schemas.microsoft.com/office/drawing/2014/main" id="{E8B9E5DD-D03A-4216-9C9C-FD56AD1B49FF}"/>
                      </a:ext>
                    </a:extLst>
                  </p:cNvPr>
                  <p:cNvSpPr>
                    <a:spLocks/>
                  </p:cNvSpPr>
                  <p:nvPr/>
                </p:nvSpPr>
                <p:spPr bwMode="auto">
                  <a:xfrm>
                    <a:off x="6099505" y="3808132"/>
                    <a:ext cx="643324" cy="701612"/>
                  </a:xfrm>
                  <a:custGeom>
                    <a:avLst/>
                    <a:gdLst/>
                    <a:ahLst/>
                    <a:cxnLst>
                      <a:cxn ang="0">
                        <a:pos x="298" y="20"/>
                      </a:cxn>
                      <a:cxn ang="0">
                        <a:pos x="276" y="242"/>
                      </a:cxn>
                      <a:cxn ang="0">
                        <a:pos x="0" y="325"/>
                      </a:cxn>
                      <a:cxn ang="0">
                        <a:pos x="78" y="0"/>
                      </a:cxn>
                      <a:cxn ang="0">
                        <a:pos x="298" y="20"/>
                      </a:cxn>
                    </a:cxnLst>
                    <a:rect l="0" t="0" r="r" b="b"/>
                    <a:pathLst>
                      <a:path w="298" h="325">
                        <a:moveTo>
                          <a:pt x="298" y="20"/>
                        </a:moveTo>
                        <a:lnTo>
                          <a:pt x="276" y="242"/>
                        </a:lnTo>
                        <a:lnTo>
                          <a:pt x="0" y="325"/>
                        </a:lnTo>
                        <a:lnTo>
                          <a:pt x="78" y="0"/>
                        </a:lnTo>
                        <a:lnTo>
                          <a:pt x="298" y="2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2" name="Freeform 19">
                    <a:extLst>
                      <a:ext uri="{FF2B5EF4-FFF2-40B4-BE49-F238E27FC236}">
                        <a16:creationId xmlns:a16="http://schemas.microsoft.com/office/drawing/2014/main" id="{B019B202-046B-4C6D-94DE-00227BEBAA6C}"/>
                      </a:ext>
                    </a:extLst>
                  </p:cNvPr>
                  <p:cNvSpPr>
                    <a:spLocks/>
                  </p:cNvSpPr>
                  <p:nvPr/>
                </p:nvSpPr>
                <p:spPr bwMode="auto">
                  <a:xfrm>
                    <a:off x="6460025" y="3015852"/>
                    <a:ext cx="872157" cy="1310395"/>
                  </a:xfrm>
                  <a:custGeom>
                    <a:avLst/>
                    <a:gdLst/>
                    <a:ahLst/>
                    <a:cxnLst>
                      <a:cxn ang="0">
                        <a:pos x="363" y="607"/>
                      </a:cxn>
                      <a:cxn ang="0">
                        <a:pos x="252" y="362"/>
                      </a:cxn>
                      <a:cxn ang="0">
                        <a:pos x="131" y="387"/>
                      </a:cxn>
                      <a:cxn ang="0">
                        <a:pos x="0" y="0"/>
                      </a:cxn>
                      <a:cxn ang="0">
                        <a:pos x="245" y="287"/>
                      </a:cxn>
                      <a:cxn ang="0">
                        <a:pos x="358" y="144"/>
                      </a:cxn>
                      <a:cxn ang="0">
                        <a:pos x="404" y="207"/>
                      </a:cxn>
                      <a:cxn ang="0">
                        <a:pos x="404" y="478"/>
                      </a:cxn>
                      <a:cxn ang="0">
                        <a:pos x="365" y="449"/>
                      </a:cxn>
                      <a:cxn ang="0">
                        <a:pos x="363" y="607"/>
                      </a:cxn>
                    </a:cxnLst>
                    <a:rect l="0" t="0" r="r" b="b"/>
                    <a:pathLst>
                      <a:path w="404" h="607">
                        <a:moveTo>
                          <a:pt x="363" y="607"/>
                        </a:moveTo>
                        <a:lnTo>
                          <a:pt x="252" y="362"/>
                        </a:lnTo>
                        <a:lnTo>
                          <a:pt x="131" y="387"/>
                        </a:lnTo>
                        <a:lnTo>
                          <a:pt x="0" y="0"/>
                        </a:lnTo>
                        <a:lnTo>
                          <a:pt x="245" y="287"/>
                        </a:lnTo>
                        <a:lnTo>
                          <a:pt x="358" y="144"/>
                        </a:lnTo>
                        <a:lnTo>
                          <a:pt x="404" y="207"/>
                        </a:lnTo>
                        <a:lnTo>
                          <a:pt x="404" y="478"/>
                        </a:lnTo>
                        <a:lnTo>
                          <a:pt x="365" y="449"/>
                        </a:lnTo>
                        <a:lnTo>
                          <a:pt x="363" y="607"/>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3" name="Freeform 20">
                    <a:extLst>
                      <a:ext uri="{FF2B5EF4-FFF2-40B4-BE49-F238E27FC236}">
                        <a16:creationId xmlns:a16="http://schemas.microsoft.com/office/drawing/2014/main" id="{894EC38E-67FF-4237-B0A2-1ACC2255085D}"/>
                      </a:ext>
                    </a:extLst>
                  </p:cNvPr>
                  <p:cNvSpPr>
                    <a:spLocks/>
                  </p:cNvSpPr>
                  <p:nvPr/>
                </p:nvSpPr>
                <p:spPr bwMode="auto">
                  <a:xfrm>
                    <a:off x="6460025" y="3015852"/>
                    <a:ext cx="772852" cy="619577"/>
                  </a:xfrm>
                  <a:custGeom>
                    <a:avLst/>
                    <a:gdLst/>
                    <a:ahLst/>
                    <a:cxnLst>
                      <a:cxn ang="0">
                        <a:pos x="0" y="0"/>
                      </a:cxn>
                      <a:cxn ang="0">
                        <a:pos x="257" y="29"/>
                      </a:cxn>
                      <a:cxn ang="0">
                        <a:pos x="358" y="144"/>
                      </a:cxn>
                      <a:cxn ang="0">
                        <a:pos x="245" y="287"/>
                      </a:cxn>
                      <a:cxn ang="0">
                        <a:pos x="0" y="0"/>
                      </a:cxn>
                    </a:cxnLst>
                    <a:rect l="0" t="0" r="r" b="b"/>
                    <a:pathLst>
                      <a:path w="358" h="287">
                        <a:moveTo>
                          <a:pt x="0" y="0"/>
                        </a:moveTo>
                        <a:lnTo>
                          <a:pt x="257" y="29"/>
                        </a:lnTo>
                        <a:lnTo>
                          <a:pt x="358" y="144"/>
                        </a:lnTo>
                        <a:lnTo>
                          <a:pt x="245" y="287"/>
                        </a:lnTo>
                        <a:lnTo>
                          <a:pt x="0" y="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4" name="Freeform 21">
                    <a:extLst>
                      <a:ext uri="{FF2B5EF4-FFF2-40B4-BE49-F238E27FC236}">
                        <a16:creationId xmlns:a16="http://schemas.microsoft.com/office/drawing/2014/main" id="{8E631ECE-4AB2-4578-BE4D-12E9AF91846E}"/>
                      </a:ext>
                    </a:extLst>
                  </p:cNvPr>
                  <p:cNvSpPr>
                    <a:spLocks/>
                  </p:cNvSpPr>
                  <p:nvPr/>
                </p:nvSpPr>
                <p:spPr bwMode="auto">
                  <a:xfrm>
                    <a:off x="6140522" y="3015852"/>
                    <a:ext cx="602307" cy="835458"/>
                  </a:xfrm>
                  <a:custGeom>
                    <a:avLst/>
                    <a:gdLst/>
                    <a:ahLst/>
                    <a:cxnLst>
                      <a:cxn ang="0">
                        <a:pos x="0" y="136"/>
                      </a:cxn>
                      <a:cxn ang="0">
                        <a:pos x="148" y="0"/>
                      </a:cxn>
                      <a:cxn ang="0">
                        <a:pos x="279" y="387"/>
                      </a:cxn>
                      <a:cxn ang="0">
                        <a:pos x="0" y="136"/>
                      </a:cxn>
                    </a:cxnLst>
                    <a:rect l="0" t="0" r="r" b="b"/>
                    <a:pathLst>
                      <a:path w="279" h="387">
                        <a:moveTo>
                          <a:pt x="0" y="136"/>
                        </a:moveTo>
                        <a:lnTo>
                          <a:pt x="148" y="0"/>
                        </a:lnTo>
                        <a:lnTo>
                          <a:pt x="279" y="387"/>
                        </a:lnTo>
                        <a:lnTo>
                          <a:pt x="0" y="13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25" name="Freeform 25">
                    <a:extLst>
                      <a:ext uri="{FF2B5EF4-FFF2-40B4-BE49-F238E27FC236}">
                        <a16:creationId xmlns:a16="http://schemas.microsoft.com/office/drawing/2014/main" id="{2FC9B6D8-D5B9-4A77-B1CC-1C43E713F489}"/>
                      </a:ext>
                    </a:extLst>
                  </p:cNvPr>
                  <p:cNvSpPr>
                    <a:spLocks/>
                  </p:cNvSpPr>
                  <p:nvPr/>
                </p:nvSpPr>
                <p:spPr bwMode="auto">
                  <a:xfrm>
                    <a:off x="4771840" y="3274908"/>
                    <a:ext cx="362679" cy="859204"/>
                  </a:xfrm>
                  <a:custGeom>
                    <a:avLst/>
                    <a:gdLst/>
                    <a:ahLst/>
                    <a:cxnLst>
                      <a:cxn ang="0">
                        <a:pos x="168" y="0"/>
                      </a:cxn>
                      <a:cxn ang="0">
                        <a:pos x="126" y="337"/>
                      </a:cxn>
                      <a:cxn ang="0">
                        <a:pos x="100" y="349"/>
                      </a:cxn>
                      <a:cxn ang="0">
                        <a:pos x="0" y="398"/>
                      </a:cxn>
                      <a:cxn ang="0">
                        <a:pos x="44" y="320"/>
                      </a:cxn>
                      <a:cxn ang="0">
                        <a:pos x="34" y="108"/>
                      </a:cxn>
                      <a:cxn ang="0">
                        <a:pos x="168" y="0"/>
                      </a:cxn>
                    </a:cxnLst>
                    <a:rect l="0" t="0" r="r" b="b"/>
                    <a:pathLst>
                      <a:path w="168" h="398">
                        <a:moveTo>
                          <a:pt x="168" y="0"/>
                        </a:moveTo>
                        <a:lnTo>
                          <a:pt x="126" y="337"/>
                        </a:lnTo>
                        <a:lnTo>
                          <a:pt x="100" y="349"/>
                        </a:lnTo>
                        <a:lnTo>
                          <a:pt x="0" y="398"/>
                        </a:lnTo>
                        <a:lnTo>
                          <a:pt x="44" y="320"/>
                        </a:lnTo>
                        <a:lnTo>
                          <a:pt x="34" y="108"/>
                        </a:lnTo>
                        <a:lnTo>
                          <a:pt x="168" y="0"/>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grpSp>
            <p:sp>
              <p:nvSpPr>
                <p:cNvPr id="107" name="Freeform: Shape 106">
                  <a:extLst>
                    <a:ext uri="{FF2B5EF4-FFF2-40B4-BE49-F238E27FC236}">
                      <a16:creationId xmlns:a16="http://schemas.microsoft.com/office/drawing/2014/main" id="{77371EB4-BAB9-44DC-AA3A-ED9EB2E04DB5}"/>
                    </a:ext>
                  </a:extLst>
                </p:cNvPr>
                <p:cNvSpPr/>
                <p:nvPr/>
              </p:nvSpPr>
              <p:spPr bwMode="auto">
                <a:xfrm>
                  <a:off x="8572500" y="3634740"/>
                  <a:ext cx="533400" cy="693420"/>
                </a:xfrm>
                <a:custGeom>
                  <a:avLst/>
                  <a:gdLst>
                    <a:gd name="connsiteX0" fmla="*/ 304800 w 533400"/>
                    <a:gd name="connsiteY0" fmla="*/ 693420 h 693420"/>
                    <a:gd name="connsiteX1" fmla="*/ 304800 w 533400"/>
                    <a:gd name="connsiteY1" fmla="*/ 693420 h 693420"/>
                    <a:gd name="connsiteX2" fmla="*/ 0 w 533400"/>
                    <a:gd name="connsiteY2" fmla="*/ 144780 h 693420"/>
                    <a:gd name="connsiteX3" fmla="*/ 533400 w 533400"/>
                    <a:gd name="connsiteY3" fmla="*/ 0 h 693420"/>
                    <a:gd name="connsiteX4" fmla="*/ 304800 w 533400"/>
                    <a:gd name="connsiteY4" fmla="*/ 693420 h 693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693420">
                      <a:moveTo>
                        <a:pt x="304800" y="693420"/>
                      </a:moveTo>
                      <a:lnTo>
                        <a:pt x="304800" y="693420"/>
                      </a:lnTo>
                      <a:lnTo>
                        <a:pt x="0" y="144780"/>
                      </a:lnTo>
                      <a:lnTo>
                        <a:pt x="533400" y="0"/>
                      </a:lnTo>
                      <a:lnTo>
                        <a:pt x="304800" y="693420"/>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08" name="Freeform: Shape 107">
                  <a:extLst>
                    <a:ext uri="{FF2B5EF4-FFF2-40B4-BE49-F238E27FC236}">
                      <a16:creationId xmlns:a16="http://schemas.microsoft.com/office/drawing/2014/main" id="{1F87FF93-3985-48C5-A542-31198EBA287E}"/>
                    </a:ext>
                  </a:extLst>
                </p:cNvPr>
                <p:cNvSpPr/>
                <p:nvPr/>
              </p:nvSpPr>
              <p:spPr bwMode="auto">
                <a:xfrm>
                  <a:off x="8892540" y="3649980"/>
                  <a:ext cx="556260" cy="670560"/>
                </a:xfrm>
                <a:custGeom>
                  <a:avLst/>
                  <a:gdLst>
                    <a:gd name="connsiteX0" fmla="*/ 0 w 556260"/>
                    <a:gd name="connsiteY0" fmla="*/ 670560 h 670560"/>
                    <a:gd name="connsiteX1" fmla="*/ 129540 w 556260"/>
                    <a:gd name="connsiteY1" fmla="*/ 609600 h 670560"/>
                    <a:gd name="connsiteX2" fmla="*/ 556260 w 556260"/>
                    <a:gd name="connsiteY2" fmla="*/ 548640 h 670560"/>
                    <a:gd name="connsiteX3" fmla="*/ 556260 w 556260"/>
                    <a:gd name="connsiteY3" fmla="*/ 365760 h 670560"/>
                    <a:gd name="connsiteX4" fmla="*/ 198120 w 556260"/>
                    <a:gd name="connsiteY4" fmla="*/ 0 h 670560"/>
                    <a:gd name="connsiteX5" fmla="*/ 0 w 556260"/>
                    <a:gd name="connsiteY5"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6260" h="670560">
                      <a:moveTo>
                        <a:pt x="0" y="670560"/>
                      </a:moveTo>
                      <a:lnTo>
                        <a:pt x="129540" y="609600"/>
                      </a:lnTo>
                      <a:lnTo>
                        <a:pt x="556260" y="548640"/>
                      </a:lnTo>
                      <a:lnTo>
                        <a:pt x="556260" y="365760"/>
                      </a:lnTo>
                      <a:lnTo>
                        <a:pt x="198120" y="0"/>
                      </a:lnTo>
                      <a:lnTo>
                        <a:pt x="0" y="67056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grpSp>
          <p:sp>
            <p:nvSpPr>
              <p:cNvPr id="100" name="TextBox 99">
                <a:extLst>
                  <a:ext uri="{FF2B5EF4-FFF2-40B4-BE49-F238E27FC236}">
                    <a16:creationId xmlns:a16="http://schemas.microsoft.com/office/drawing/2014/main" id="{C62DB540-7FB5-423D-8267-87D56450B10D}"/>
                  </a:ext>
                </a:extLst>
              </p:cNvPr>
              <p:cNvSpPr txBox="1"/>
              <p:nvPr/>
            </p:nvSpPr>
            <p:spPr>
              <a:xfrm>
                <a:off x="3918118" y="2433056"/>
                <a:ext cx="1247777" cy="177346"/>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sz="1200" kern="1200">
                    <a:ln>
                      <a:noFill/>
                    </a:ln>
                    <a:solidFill>
                      <a:srgbClr val="000000"/>
                    </a:solidFill>
                    <a:effectLst/>
                    <a:uLnTx/>
                    <a:uFillTx/>
                    <a:latin typeface="Segoe UI Semibold" panose="020B0702040204020203" pitchFamily="34" charset="0"/>
                    <a:ea typeface="+mn-ea"/>
                    <a:cs typeface="Segoe UI Semibold" panose="020B0702040204020203" pitchFamily="34" charset="0"/>
                  </a:defRPr>
                </a:pPr>
                <a:r>
                  <a:t>Subscription Fees</a:t>
                </a:r>
                <a:endParaRPr kumimoji="0" sz="1200" b="0" i="0" u="none" strike="noStrike" kern="120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101" name="TextBox 100">
                <a:extLst>
                  <a:ext uri="{FF2B5EF4-FFF2-40B4-BE49-F238E27FC236}">
                    <a16:creationId xmlns:a16="http://schemas.microsoft.com/office/drawing/2014/main" id="{087A7AFA-E5F1-4C16-AFC2-DED022889844}"/>
                  </a:ext>
                </a:extLst>
              </p:cNvPr>
              <p:cNvSpPr txBox="1"/>
              <p:nvPr/>
            </p:nvSpPr>
            <p:spPr>
              <a:xfrm>
                <a:off x="3800148" y="3155622"/>
                <a:ext cx="1568222" cy="532039"/>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Implementation, Customization &amp; Training</a:t>
                </a:r>
                <a:endParaRPr kumimoji="0" sz="1200" b="0" i="0" u="none" strike="noStrike" kern="0" cap="none" spc="0" normalizeH="0" baseline="0">
                  <a:ln>
                    <a:noFill/>
                  </a:ln>
                  <a:solidFill>
                    <a:srgbClr val="000000"/>
                  </a:solidFill>
                  <a:effectLst/>
                  <a:uLnTx/>
                  <a:uFillTx/>
                  <a:latin typeface="Segoe UI"/>
                  <a:ea typeface="+mn-ea"/>
                  <a:cs typeface="+mn-cs"/>
                </a:endParaRPr>
              </a:p>
            </p:txBody>
          </p:sp>
          <p:cxnSp>
            <p:nvCxnSpPr>
              <p:cNvPr id="102" name="Straight Connector 101">
                <a:extLst>
                  <a:ext uri="{FF2B5EF4-FFF2-40B4-BE49-F238E27FC236}">
                    <a16:creationId xmlns:a16="http://schemas.microsoft.com/office/drawing/2014/main" id="{CB72FC8A-0AD7-4066-84FE-F08CBBEB584F}"/>
                  </a:ext>
                </a:extLst>
              </p:cNvPr>
              <p:cNvCxnSpPr>
                <a:cxnSpLocks/>
              </p:cNvCxnSpPr>
              <p:nvPr/>
            </p:nvCxnSpPr>
            <p:spPr>
              <a:xfrm>
                <a:off x="3247166" y="2430112"/>
                <a:ext cx="155177" cy="194562"/>
              </a:xfrm>
              <a:prstGeom prst="line">
                <a:avLst/>
              </a:prstGeom>
              <a:noFill/>
              <a:ln w="6350" cap="flat" cmpd="sng" algn="ctr">
                <a:solidFill>
                  <a:schemeClr val="accent1"/>
                </a:solidFill>
                <a:prstDash val="solid"/>
                <a:headEnd type="none"/>
                <a:tailEnd type="none"/>
              </a:ln>
              <a:effectLst/>
            </p:spPr>
          </p:cxnSp>
          <p:cxnSp>
            <p:nvCxnSpPr>
              <p:cNvPr id="103" name="Straight Connector 102">
                <a:extLst>
                  <a:ext uri="{FF2B5EF4-FFF2-40B4-BE49-F238E27FC236}">
                    <a16:creationId xmlns:a16="http://schemas.microsoft.com/office/drawing/2014/main" id="{3FA6DC6A-A5E2-4443-B639-B1F4699B3294}"/>
                  </a:ext>
                </a:extLst>
              </p:cNvPr>
              <p:cNvCxnSpPr>
                <a:cxnSpLocks/>
              </p:cNvCxnSpPr>
              <p:nvPr/>
            </p:nvCxnSpPr>
            <p:spPr>
              <a:xfrm flipH="1">
                <a:off x="3320057" y="2527703"/>
                <a:ext cx="480091" cy="0"/>
              </a:xfrm>
              <a:prstGeom prst="line">
                <a:avLst/>
              </a:prstGeom>
              <a:noFill/>
              <a:ln w="6350" cap="flat" cmpd="sng" algn="ctr">
                <a:solidFill>
                  <a:schemeClr val="accent1"/>
                </a:solidFill>
                <a:prstDash val="solid"/>
                <a:headEnd type="oval" w="sm" len="sm"/>
                <a:tailEnd type="none"/>
              </a:ln>
              <a:effectLst/>
            </p:spPr>
          </p:cxnSp>
          <p:cxnSp>
            <p:nvCxnSpPr>
              <p:cNvPr id="104" name="Straight Connector 103">
                <a:extLst>
                  <a:ext uri="{FF2B5EF4-FFF2-40B4-BE49-F238E27FC236}">
                    <a16:creationId xmlns:a16="http://schemas.microsoft.com/office/drawing/2014/main" id="{BBE97BF8-8662-4D7B-9C2D-2D4756A513D0}"/>
                  </a:ext>
                </a:extLst>
              </p:cNvPr>
              <p:cNvCxnSpPr>
                <a:cxnSpLocks/>
              </p:cNvCxnSpPr>
              <p:nvPr/>
            </p:nvCxnSpPr>
            <p:spPr>
              <a:xfrm>
                <a:off x="3489458" y="3400752"/>
                <a:ext cx="194162" cy="0"/>
              </a:xfrm>
              <a:prstGeom prst="line">
                <a:avLst/>
              </a:prstGeom>
              <a:noFill/>
              <a:ln w="6350" cap="flat" cmpd="sng" algn="ctr">
                <a:solidFill>
                  <a:schemeClr val="accent1"/>
                </a:solidFill>
                <a:prstDash val="solid"/>
                <a:headEnd type="none"/>
                <a:tailEnd type="oval" w="sm" len="sm"/>
              </a:ln>
              <a:effectLst/>
            </p:spPr>
          </p:cxnSp>
          <p:cxnSp>
            <p:nvCxnSpPr>
              <p:cNvPr id="105" name="Straight Connector 104">
                <a:extLst>
                  <a:ext uri="{FF2B5EF4-FFF2-40B4-BE49-F238E27FC236}">
                    <a16:creationId xmlns:a16="http://schemas.microsoft.com/office/drawing/2014/main" id="{8F6E5ADD-23AA-4C2B-A3CD-47B4F0F595BC}"/>
                  </a:ext>
                </a:extLst>
              </p:cNvPr>
              <p:cNvCxnSpPr>
                <a:cxnSpLocks/>
              </p:cNvCxnSpPr>
              <p:nvPr/>
            </p:nvCxnSpPr>
            <p:spPr>
              <a:xfrm>
                <a:off x="3486313" y="3318456"/>
                <a:ext cx="0" cy="164592"/>
              </a:xfrm>
              <a:prstGeom prst="line">
                <a:avLst/>
              </a:prstGeom>
              <a:noFill/>
              <a:ln w="6350" cap="flat" cmpd="sng" algn="ctr">
                <a:solidFill>
                  <a:schemeClr val="accent1"/>
                </a:solidFill>
                <a:prstDash val="solid"/>
                <a:headEnd type="none"/>
                <a:tailEnd type="none"/>
              </a:ln>
              <a:effectLst/>
            </p:spPr>
          </p:cxnSp>
        </p:grpSp>
        <p:sp>
          <p:nvSpPr>
            <p:cNvPr id="98" name="Text Placeholder 6">
              <a:extLst>
                <a:ext uri="{FF2B5EF4-FFF2-40B4-BE49-F238E27FC236}">
                  <a16:creationId xmlns:a16="http://schemas.microsoft.com/office/drawing/2014/main" id="{19E629D2-97CF-4623-9F51-475176342621}"/>
                </a:ext>
              </a:extLst>
            </p:cNvPr>
            <p:cNvSpPr txBox="1">
              <a:spLocks/>
            </p:cNvSpPr>
            <p:nvPr/>
          </p:nvSpPr>
          <p:spPr>
            <a:xfrm>
              <a:off x="2292480" y="1465300"/>
              <a:ext cx="1231394" cy="246221"/>
            </a:xfrm>
            <a:prstGeom prst="rect">
              <a:avLst/>
            </a:prstGeom>
          </p:spPr>
          <p:txBody>
            <a:bodyPr vert="horz" wrap="square" lIns="0" tIns="0" rIns="0" bIns="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800" spc="-49">
                  <a:ln>
                    <a:noFill/>
                  </a:ln>
                  <a:solidFill>
                    <a:srgbClr val="243A5E"/>
                  </a:solidFill>
                  <a:effectLst/>
                  <a:uLnTx/>
                  <a:uFillTx/>
                  <a:latin typeface="Segoe UI Semibold"/>
                  <a:cs typeface="Segoe UI Semibold" panose="020B0702040204020203" pitchFamily="34" charset="0"/>
                </a:defRPr>
              </a:pPr>
              <a:r>
                <a:t>Cloud</a:t>
              </a:r>
            </a:p>
          </p:txBody>
        </p:sp>
      </p:grpSp>
      <p:cxnSp>
        <p:nvCxnSpPr>
          <p:cNvPr id="128" name="Straight Connector 127">
            <a:extLst>
              <a:ext uri="{FF2B5EF4-FFF2-40B4-BE49-F238E27FC236}">
                <a16:creationId xmlns:a16="http://schemas.microsoft.com/office/drawing/2014/main" id="{E11C64CC-04A4-47C8-BA99-C647EE11E821}"/>
              </a:ext>
            </a:extLst>
          </p:cNvPr>
          <p:cNvCxnSpPr>
            <a:cxnSpLocks/>
            <a:endCxn id="10" idx="2"/>
          </p:cNvCxnSpPr>
          <p:nvPr/>
        </p:nvCxnSpPr>
        <p:spPr>
          <a:xfrm>
            <a:off x="6096001" y="1394411"/>
            <a:ext cx="0" cy="3680771"/>
          </a:xfrm>
          <a:prstGeom prst="line">
            <a:avLst/>
          </a:prstGeom>
          <a:noFill/>
          <a:ln w="6350" cap="rnd" cmpd="sng" algn="ctr">
            <a:solidFill>
              <a:schemeClr val="bg1">
                <a:lumMod val="85000"/>
              </a:schemeClr>
            </a:solidFill>
            <a:prstDash val="solid"/>
            <a:headEnd type="none"/>
            <a:tailEnd type="none"/>
          </a:ln>
          <a:effectLst/>
        </p:spPr>
      </p:cxnSp>
    </p:spTree>
    <p:extLst>
      <p:ext uri="{BB962C8B-B14F-4D97-AF65-F5344CB8AC3E}">
        <p14:creationId xmlns:p14="http://schemas.microsoft.com/office/powerpoint/2010/main" val="39364374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2" name="Group 221">
            <a:extLst>
              <a:ext uri="{FF2B5EF4-FFF2-40B4-BE49-F238E27FC236}">
                <a16:creationId xmlns:a16="http://schemas.microsoft.com/office/drawing/2014/main" id="{924AFC3C-1EB6-4071-8766-6EF0DFCF4EAF}"/>
              </a:ext>
            </a:extLst>
          </p:cNvPr>
          <p:cNvGrpSpPr/>
          <p:nvPr/>
        </p:nvGrpSpPr>
        <p:grpSpPr>
          <a:xfrm>
            <a:off x="1077281" y="2050288"/>
            <a:ext cx="10016867" cy="586898"/>
            <a:chOff x="1077281" y="2050288"/>
            <a:chExt cx="10016867" cy="586898"/>
          </a:xfrm>
        </p:grpSpPr>
        <p:grpSp>
          <p:nvGrpSpPr>
            <p:cNvPr id="163" name="Group 162">
              <a:extLst>
                <a:ext uri="{FF2B5EF4-FFF2-40B4-BE49-F238E27FC236}">
                  <a16:creationId xmlns:a16="http://schemas.microsoft.com/office/drawing/2014/main" id="{F68CFE52-5412-4661-9BFF-AB024E85BE4E}"/>
                </a:ext>
              </a:extLst>
            </p:cNvPr>
            <p:cNvGrpSpPr/>
            <p:nvPr/>
          </p:nvGrpSpPr>
          <p:grpSpPr>
            <a:xfrm>
              <a:off x="1077281" y="2050288"/>
              <a:ext cx="457376" cy="561966"/>
              <a:chOff x="1934849" y="3590859"/>
              <a:chExt cx="525016" cy="645073"/>
            </a:xfrm>
          </p:grpSpPr>
          <p:sp>
            <p:nvSpPr>
              <p:cNvPr id="164" name="Freeform 29">
                <a:extLst>
                  <a:ext uri="{FF2B5EF4-FFF2-40B4-BE49-F238E27FC236}">
                    <a16:creationId xmlns:a16="http://schemas.microsoft.com/office/drawing/2014/main" id="{7D559D95-4527-4098-8430-56D78681D77E}"/>
                  </a:ext>
                </a:extLst>
              </p:cNvPr>
              <p:cNvSpPr>
                <a:spLocks/>
              </p:cNvSpPr>
              <p:nvPr/>
            </p:nvSpPr>
            <p:spPr bwMode="auto">
              <a:xfrm>
                <a:off x="1934849" y="4026854"/>
                <a:ext cx="525016" cy="209078"/>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65" name="Freeform: Shape 164">
                <a:extLst>
                  <a:ext uri="{FF2B5EF4-FFF2-40B4-BE49-F238E27FC236}">
                    <a16:creationId xmlns:a16="http://schemas.microsoft.com/office/drawing/2014/main" id="{97166B10-F402-46F0-BE82-AE52EB92B480}"/>
                  </a:ext>
                </a:extLst>
              </p:cNvPr>
              <p:cNvSpPr/>
              <p:nvPr/>
            </p:nvSpPr>
            <p:spPr>
              <a:xfrm rot="10800000">
                <a:off x="2039250" y="3788870"/>
                <a:ext cx="327618" cy="201071"/>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3C3C41"/>
                  </a:solidFill>
                  <a:effectLst/>
                  <a:uLnTx/>
                  <a:uFillTx/>
                  <a:latin typeface="Segoe UI"/>
                  <a:ea typeface="+mn-ea"/>
                  <a:cs typeface="+mn-cs"/>
                </a:endParaRPr>
              </a:p>
            </p:txBody>
          </p:sp>
          <p:grpSp>
            <p:nvGrpSpPr>
              <p:cNvPr id="166" name="Group 165">
                <a:extLst>
                  <a:ext uri="{FF2B5EF4-FFF2-40B4-BE49-F238E27FC236}">
                    <a16:creationId xmlns:a16="http://schemas.microsoft.com/office/drawing/2014/main" id="{E841A786-01DF-446F-B745-BC4B097D5F7D}"/>
                  </a:ext>
                </a:extLst>
              </p:cNvPr>
              <p:cNvGrpSpPr/>
              <p:nvPr/>
            </p:nvGrpSpPr>
            <p:grpSpPr>
              <a:xfrm>
                <a:off x="2001225" y="3590859"/>
                <a:ext cx="413986" cy="209386"/>
                <a:chOff x="2001225" y="3308284"/>
                <a:chExt cx="413986" cy="209386"/>
              </a:xfrm>
            </p:grpSpPr>
            <p:sp>
              <p:nvSpPr>
                <p:cNvPr id="167" name="Freeform: Shape 166">
                  <a:extLst>
                    <a:ext uri="{FF2B5EF4-FFF2-40B4-BE49-F238E27FC236}">
                      <a16:creationId xmlns:a16="http://schemas.microsoft.com/office/drawing/2014/main" id="{B55E24B6-9E6A-4F8F-9A1E-957D7FAB71A1}"/>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nvGrpSpPr>
                <p:cNvPr id="168" name="Group 167">
                  <a:extLst>
                    <a:ext uri="{FF2B5EF4-FFF2-40B4-BE49-F238E27FC236}">
                      <a16:creationId xmlns:a16="http://schemas.microsoft.com/office/drawing/2014/main" id="{C648E237-508C-45A4-BE8D-83B4FD55E8DD}"/>
                    </a:ext>
                  </a:extLst>
                </p:cNvPr>
                <p:cNvGrpSpPr/>
                <p:nvPr/>
              </p:nvGrpSpPr>
              <p:grpSpPr>
                <a:xfrm>
                  <a:off x="2164613" y="3336319"/>
                  <a:ext cx="83583" cy="83583"/>
                  <a:chOff x="2164613" y="3613603"/>
                  <a:chExt cx="83583" cy="83583"/>
                </a:xfrm>
              </p:grpSpPr>
              <p:pic>
                <p:nvPicPr>
                  <p:cNvPr id="169" name="Graphic 168">
                    <a:extLst>
                      <a:ext uri="{FF2B5EF4-FFF2-40B4-BE49-F238E27FC236}">
                        <a16:creationId xmlns:a16="http://schemas.microsoft.com/office/drawing/2014/main" id="{D885C817-B126-4D36-96D8-B4528BC8FF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flipV="1">
                    <a:off x="2164613" y="3613603"/>
                    <a:ext cx="83583" cy="83583"/>
                  </a:xfrm>
                  <a:prstGeom prst="rect">
                    <a:avLst/>
                  </a:prstGeom>
                </p:spPr>
              </p:pic>
              <p:sp>
                <p:nvSpPr>
                  <p:cNvPr id="170" name="Oval 169">
                    <a:extLst>
                      <a:ext uri="{FF2B5EF4-FFF2-40B4-BE49-F238E27FC236}">
                        <a16:creationId xmlns:a16="http://schemas.microsoft.com/office/drawing/2014/main" id="{2D2A7EB8-AB55-4288-B54B-A7FC1ACF06C9}"/>
                      </a:ext>
                    </a:extLst>
                  </p:cNvPr>
                  <p:cNvSpPr/>
                  <p:nvPr/>
                </p:nvSpPr>
                <p:spPr>
                  <a:xfrm>
                    <a:off x="2179131" y="3628334"/>
                    <a:ext cx="52878" cy="52878"/>
                  </a:xfrm>
                  <a:prstGeom prst="ellipse">
                    <a:avLst/>
                  </a:prstGeom>
                  <a:solidFill>
                    <a:srgbClr val="50E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grpSp>
        </p:grpSp>
        <p:grpSp>
          <p:nvGrpSpPr>
            <p:cNvPr id="171" name="Group 170">
              <a:extLst>
                <a:ext uri="{FF2B5EF4-FFF2-40B4-BE49-F238E27FC236}">
                  <a16:creationId xmlns:a16="http://schemas.microsoft.com/office/drawing/2014/main" id="{D1E27D16-7BD0-4A8B-A1AA-63718553688C}"/>
                </a:ext>
              </a:extLst>
            </p:cNvPr>
            <p:cNvGrpSpPr/>
            <p:nvPr/>
          </p:nvGrpSpPr>
          <p:grpSpPr>
            <a:xfrm>
              <a:off x="2879728" y="2097073"/>
              <a:ext cx="542442" cy="540113"/>
              <a:chOff x="2868146" y="1774497"/>
              <a:chExt cx="542442" cy="540113"/>
            </a:xfrm>
          </p:grpSpPr>
          <p:grpSp>
            <p:nvGrpSpPr>
              <p:cNvPr id="172" name="Group 171">
                <a:extLst>
                  <a:ext uri="{FF2B5EF4-FFF2-40B4-BE49-F238E27FC236}">
                    <a16:creationId xmlns:a16="http://schemas.microsoft.com/office/drawing/2014/main" id="{653D9D67-AA2B-48C7-8889-DD6D0254FCEC}"/>
                  </a:ext>
                </a:extLst>
              </p:cNvPr>
              <p:cNvGrpSpPr/>
              <p:nvPr/>
            </p:nvGrpSpPr>
            <p:grpSpPr>
              <a:xfrm>
                <a:off x="3015623" y="1898371"/>
                <a:ext cx="247488" cy="272415"/>
                <a:chOff x="946239" y="3360106"/>
                <a:chExt cx="293157" cy="322684"/>
              </a:xfrm>
              <a:solidFill>
                <a:srgbClr val="50E6FF"/>
              </a:solidFill>
            </p:grpSpPr>
            <p:sp>
              <p:nvSpPr>
                <p:cNvPr id="174" name="Freeform 20">
                  <a:extLst>
                    <a:ext uri="{FF2B5EF4-FFF2-40B4-BE49-F238E27FC236}">
                      <a16:creationId xmlns:a16="http://schemas.microsoft.com/office/drawing/2014/main" id="{036EFDB0-A5CB-4FB2-9213-D1D6C0BB6F31}"/>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75" name="Oval 21">
                  <a:extLst>
                    <a:ext uri="{FF2B5EF4-FFF2-40B4-BE49-F238E27FC236}">
                      <a16:creationId xmlns:a16="http://schemas.microsoft.com/office/drawing/2014/main" id="{2B8E8798-3B9E-44C3-BCEB-25658B98C5CA}"/>
                    </a:ext>
                  </a:extLst>
                </p:cNvPr>
                <p:cNvSpPr>
                  <a:spLocks noChangeArrowheads="1"/>
                </p:cNvSpPr>
                <p:nvPr/>
              </p:nvSpPr>
              <p:spPr bwMode="auto">
                <a:xfrm>
                  <a:off x="1017947" y="3360106"/>
                  <a:ext cx="147633" cy="14552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76" name="Isosceles Triangle 175">
                  <a:extLst>
                    <a:ext uri="{FF2B5EF4-FFF2-40B4-BE49-F238E27FC236}">
                      <a16:creationId xmlns:a16="http://schemas.microsoft.com/office/drawing/2014/main" id="{9B9B3D87-1275-4A4A-9C3A-5BA2CB44C5CC}"/>
                    </a:ext>
                  </a:extLst>
                </p:cNvPr>
                <p:cNvSpPr/>
                <p:nvPr/>
              </p:nvSpPr>
              <p:spPr bwMode="auto">
                <a:xfrm rot="10800000">
                  <a:off x="1069157" y="3627314"/>
                  <a:ext cx="45719" cy="52981"/>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7" name="Isosceles Triangle 176">
                  <a:extLst>
                    <a:ext uri="{FF2B5EF4-FFF2-40B4-BE49-F238E27FC236}">
                      <a16:creationId xmlns:a16="http://schemas.microsoft.com/office/drawing/2014/main" id="{83B6C8E8-C20A-4665-A539-3F29972D43EF}"/>
                    </a:ext>
                  </a:extLst>
                </p:cNvPr>
                <p:cNvSpPr/>
                <p:nvPr/>
              </p:nvSpPr>
              <p:spPr bwMode="auto">
                <a:xfrm>
                  <a:off x="1069157" y="3548355"/>
                  <a:ext cx="45719" cy="80309"/>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8" name="Isosceles Triangle 177">
                  <a:extLst>
                    <a:ext uri="{FF2B5EF4-FFF2-40B4-BE49-F238E27FC236}">
                      <a16:creationId xmlns:a16="http://schemas.microsoft.com/office/drawing/2014/main" id="{70D60CE7-C12F-4EEA-81FB-72F4F81C88E9}"/>
                    </a:ext>
                  </a:extLst>
                </p:cNvPr>
                <p:cNvSpPr/>
                <p:nvPr/>
              </p:nvSpPr>
              <p:spPr bwMode="auto">
                <a:xfrm rot="10800000">
                  <a:off x="1069157" y="3536372"/>
                  <a:ext cx="45719" cy="24093"/>
                </a:xfrm>
                <a:prstGeom prst="triangl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73" name="Freeform: Shape 172">
                <a:extLst>
                  <a:ext uri="{FF2B5EF4-FFF2-40B4-BE49-F238E27FC236}">
                    <a16:creationId xmlns:a16="http://schemas.microsoft.com/office/drawing/2014/main" id="{82B17981-51CC-41AD-A88F-2A7058AFA233}"/>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179" name="Group 178">
              <a:extLst>
                <a:ext uri="{FF2B5EF4-FFF2-40B4-BE49-F238E27FC236}">
                  <a16:creationId xmlns:a16="http://schemas.microsoft.com/office/drawing/2014/main" id="{7CE4FF2D-BC07-45FB-870D-C7DD028006CF}"/>
                </a:ext>
              </a:extLst>
            </p:cNvPr>
            <p:cNvGrpSpPr/>
            <p:nvPr/>
          </p:nvGrpSpPr>
          <p:grpSpPr>
            <a:xfrm>
              <a:off x="4909751" y="2126219"/>
              <a:ext cx="452835" cy="468331"/>
              <a:chOff x="5830418" y="3154323"/>
              <a:chExt cx="513231" cy="530794"/>
            </a:xfrm>
          </p:grpSpPr>
          <p:sp>
            <p:nvSpPr>
              <p:cNvPr id="180" name="Oval 179">
                <a:extLst>
                  <a:ext uri="{FF2B5EF4-FFF2-40B4-BE49-F238E27FC236}">
                    <a16:creationId xmlns:a16="http://schemas.microsoft.com/office/drawing/2014/main" id="{55436564-B5D7-4CD6-A141-117B497D9078}"/>
                  </a:ext>
                </a:extLst>
              </p:cNvPr>
              <p:cNvSpPr/>
              <p:nvPr/>
            </p:nvSpPr>
            <p:spPr bwMode="auto">
              <a:xfrm>
                <a:off x="6307073" y="3411752"/>
                <a:ext cx="36576" cy="3657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1" name="Oval 180">
                <a:extLst>
                  <a:ext uri="{FF2B5EF4-FFF2-40B4-BE49-F238E27FC236}">
                    <a16:creationId xmlns:a16="http://schemas.microsoft.com/office/drawing/2014/main" id="{07AF09B4-3A7C-48BB-96FA-1BE9C403A02A}"/>
                  </a:ext>
                </a:extLst>
              </p:cNvPr>
              <p:cNvSpPr/>
              <p:nvPr/>
            </p:nvSpPr>
            <p:spPr bwMode="auto">
              <a:xfrm>
                <a:off x="6234131" y="3567148"/>
                <a:ext cx="45719" cy="45719"/>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2" name="Oval 181">
                <a:extLst>
                  <a:ext uri="{FF2B5EF4-FFF2-40B4-BE49-F238E27FC236}">
                    <a16:creationId xmlns:a16="http://schemas.microsoft.com/office/drawing/2014/main" id="{A2E307F9-D006-4885-99C3-972F7A7677E0}"/>
                  </a:ext>
                </a:extLst>
              </p:cNvPr>
              <p:cNvSpPr/>
              <p:nvPr/>
            </p:nvSpPr>
            <p:spPr bwMode="auto">
              <a:xfrm>
                <a:off x="6068992" y="3630253"/>
                <a:ext cx="54864" cy="54864"/>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3" name="Oval 182">
                <a:extLst>
                  <a:ext uri="{FF2B5EF4-FFF2-40B4-BE49-F238E27FC236}">
                    <a16:creationId xmlns:a16="http://schemas.microsoft.com/office/drawing/2014/main" id="{ABFA2D01-A998-44EB-B22D-F8A0FF0D6DD3}"/>
                  </a:ext>
                </a:extLst>
              </p:cNvPr>
              <p:cNvSpPr/>
              <p:nvPr/>
            </p:nvSpPr>
            <p:spPr bwMode="auto">
              <a:xfrm>
                <a:off x="5902364" y="3559072"/>
                <a:ext cx="64008" cy="6400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4" name="Oval 183">
                <a:extLst>
                  <a:ext uri="{FF2B5EF4-FFF2-40B4-BE49-F238E27FC236}">
                    <a16:creationId xmlns:a16="http://schemas.microsoft.com/office/drawing/2014/main" id="{3E8A49B5-E58B-4144-BC06-6E1352DD56D1}"/>
                  </a:ext>
                </a:extLst>
              </p:cNvPr>
              <p:cNvSpPr/>
              <p:nvPr/>
            </p:nvSpPr>
            <p:spPr bwMode="auto">
              <a:xfrm>
                <a:off x="5830418" y="3391703"/>
                <a:ext cx="73152" cy="73152"/>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5" name="Oval 184">
                <a:extLst>
                  <a:ext uri="{FF2B5EF4-FFF2-40B4-BE49-F238E27FC236}">
                    <a16:creationId xmlns:a16="http://schemas.microsoft.com/office/drawing/2014/main" id="{7683A5C4-7168-4A56-BE2C-87618AD52244}"/>
                  </a:ext>
                </a:extLst>
              </p:cNvPr>
              <p:cNvSpPr/>
              <p:nvPr/>
            </p:nvSpPr>
            <p:spPr bwMode="auto">
              <a:xfrm>
                <a:off x="5893220" y="3225769"/>
                <a:ext cx="82296" cy="82296"/>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6" name="Oval 185">
                <a:extLst>
                  <a:ext uri="{FF2B5EF4-FFF2-40B4-BE49-F238E27FC236}">
                    <a16:creationId xmlns:a16="http://schemas.microsoft.com/office/drawing/2014/main" id="{BB3304A8-1589-43D0-B633-9D8EAB3EC818}"/>
                  </a:ext>
                </a:extLst>
              </p:cNvPr>
              <p:cNvSpPr/>
              <p:nvPr/>
            </p:nvSpPr>
            <p:spPr bwMode="auto">
              <a:xfrm>
                <a:off x="6050280" y="3154323"/>
                <a:ext cx="91440" cy="914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7" name="Oval 186">
                <a:extLst>
                  <a:ext uri="{FF2B5EF4-FFF2-40B4-BE49-F238E27FC236}">
                    <a16:creationId xmlns:a16="http://schemas.microsoft.com/office/drawing/2014/main" id="{C9738067-2285-4E3B-A0C9-297A10D0134F}"/>
                  </a:ext>
                </a:extLst>
              </p:cNvPr>
              <p:cNvSpPr/>
              <p:nvPr/>
            </p:nvSpPr>
            <p:spPr bwMode="auto">
              <a:xfrm>
                <a:off x="6207547" y="3218346"/>
                <a:ext cx="100584" cy="1005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grpSp>
          <p:nvGrpSpPr>
            <p:cNvPr id="188" name="Group 160">
              <a:extLst>
                <a:ext uri="{FF2B5EF4-FFF2-40B4-BE49-F238E27FC236}">
                  <a16:creationId xmlns:a16="http://schemas.microsoft.com/office/drawing/2014/main" id="{C792C335-2360-4BEF-A56E-1DF09329F20C}"/>
                </a:ext>
              </a:extLst>
            </p:cNvPr>
            <p:cNvGrpSpPr>
              <a:grpSpLocks noChangeAspect="1"/>
            </p:cNvGrpSpPr>
            <p:nvPr/>
          </p:nvGrpSpPr>
          <p:grpSpPr bwMode="auto">
            <a:xfrm>
              <a:off x="6857518" y="2135721"/>
              <a:ext cx="460504" cy="456591"/>
              <a:chOff x="3425" y="2301"/>
              <a:chExt cx="353" cy="350"/>
            </a:xfrm>
          </p:grpSpPr>
          <p:sp>
            <p:nvSpPr>
              <p:cNvPr id="189" name="Freeform 161">
                <a:extLst>
                  <a:ext uri="{FF2B5EF4-FFF2-40B4-BE49-F238E27FC236}">
                    <a16:creationId xmlns:a16="http://schemas.microsoft.com/office/drawing/2014/main" id="{54FC7251-9066-4AAB-B1BC-D2B3BDB6E6D4}"/>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0" name="Freeform 162">
                <a:extLst>
                  <a:ext uri="{FF2B5EF4-FFF2-40B4-BE49-F238E27FC236}">
                    <a16:creationId xmlns:a16="http://schemas.microsoft.com/office/drawing/2014/main" id="{FB162388-993F-4136-A784-CC416B9AC865}"/>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1" name="Freeform 163">
                <a:extLst>
                  <a:ext uri="{FF2B5EF4-FFF2-40B4-BE49-F238E27FC236}">
                    <a16:creationId xmlns:a16="http://schemas.microsoft.com/office/drawing/2014/main" id="{B60E97C4-231D-4F00-8923-E168AAC7F1D4}"/>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2" name="Freeform 164">
                <a:extLst>
                  <a:ext uri="{FF2B5EF4-FFF2-40B4-BE49-F238E27FC236}">
                    <a16:creationId xmlns:a16="http://schemas.microsoft.com/office/drawing/2014/main" id="{D5AEF40E-82B4-4A90-B10D-6C37CDE9C7F6}"/>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3" name="Freeform 165">
                <a:extLst>
                  <a:ext uri="{FF2B5EF4-FFF2-40B4-BE49-F238E27FC236}">
                    <a16:creationId xmlns:a16="http://schemas.microsoft.com/office/drawing/2014/main" id="{9D5ED713-CC95-4CCC-A4B6-E40319579644}"/>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4" name="Freeform 166">
                <a:extLst>
                  <a:ext uri="{FF2B5EF4-FFF2-40B4-BE49-F238E27FC236}">
                    <a16:creationId xmlns:a16="http://schemas.microsoft.com/office/drawing/2014/main" id="{7C883CB4-00B2-4B7C-8225-C873ED517D72}"/>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5" name="Freeform 167">
                <a:extLst>
                  <a:ext uri="{FF2B5EF4-FFF2-40B4-BE49-F238E27FC236}">
                    <a16:creationId xmlns:a16="http://schemas.microsoft.com/office/drawing/2014/main" id="{AC2115F5-7EE1-4950-9813-F040E9E6A603}"/>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6" name="Freeform 168">
                <a:extLst>
                  <a:ext uri="{FF2B5EF4-FFF2-40B4-BE49-F238E27FC236}">
                    <a16:creationId xmlns:a16="http://schemas.microsoft.com/office/drawing/2014/main" id="{700816A5-0C1B-49E9-8CAD-21973639B868}"/>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7" name="Freeform 169">
                <a:extLst>
                  <a:ext uri="{FF2B5EF4-FFF2-40B4-BE49-F238E27FC236}">
                    <a16:creationId xmlns:a16="http://schemas.microsoft.com/office/drawing/2014/main" id="{539F540D-EDEB-42DE-8A29-CEA55D0FB6AE}"/>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198" name="Group 197">
              <a:extLst>
                <a:ext uri="{FF2B5EF4-FFF2-40B4-BE49-F238E27FC236}">
                  <a16:creationId xmlns:a16="http://schemas.microsoft.com/office/drawing/2014/main" id="{E034C02A-8E48-4D3B-8F33-58A4BEDA7179}"/>
                </a:ext>
              </a:extLst>
            </p:cNvPr>
            <p:cNvGrpSpPr/>
            <p:nvPr/>
          </p:nvGrpSpPr>
          <p:grpSpPr>
            <a:xfrm>
              <a:off x="8678502" y="2111804"/>
              <a:ext cx="580693" cy="520142"/>
              <a:chOff x="281386" y="2226775"/>
              <a:chExt cx="983343" cy="826469"/>
            </a:xfrm>
          </p:grpSpPr>
          <p:sp>
            <p:nvSpPr>
              <p:cNvPr id="199" name="Freeform: Shape 198">
                <a:extLst>
                  <a:ext uri="{FF2B5EF4-FFF2-40B4-BE49-F238E27FC236}">
                    <a16:creationId xmlns:a16="http://schemas.microsoft.com/office/drawing/2014/main" id="{D670D0FC-7F9C-41B3-A968-3BF5D5748CF0}"/>
                  </a:ext>
                </a:extLst>
              </p:cNvPr>
              <p:cNvSpPr>
                <a:spLocks/>
              </p:cNvSpPr>
              <p:nvPr/>
            </p:nvSpPr>
            <p:spPr bwMode="auto">
              <a:xfrm>
                <a:off x="281386" y="2226775"/>
                <a:ext cx="983343" cy="542361"/>
              </a:xfrm>
              <a:custGeom>
                <a:avLst/>
                <a:gdLst>
                  <a:gd name="connsiteX0" fmla="*/ 398992 w 983343"/>
                  <a:gd name="connsiteY0" fmla="*/ 0 h 542361"/>
                  <a:gd name="connsiteX1" fmla="*/ 499526 w 983343"/>
                  <a:gd name="connsiteY1" fmla="*/ 25226 h 542361"/>
                  <a:gd name="connsiteX2" fmla="*/ 574926 w 983343"/>
                  <a:gd name="connsiteY2" fmla="*/ 97751 h 542361"/>
                  <a:gd name="connsiteX3" fmla="*/ 587492 w 983343"/>
                  <a:gd name="connsiteY3" fmla="*/ 116671 h 542361"/>
                  <a:gd name="connsiteX4" fmla="*/ 606343 w 983343"/>
                  <a:gd name="connsiteY4" fmla="*/ 107211 h 542361"/>
                  <a:gd name="connsiteX5" fmla="*/ 650326 w 983343"/>
                  <a:gd name="connsiteY5" fmla="*/ 91445 h 542361"/>
                  <a:gd name="connsiteX6" fmla="*/ 763426 w 983343"/>
                  <a:gd name="connsiteY6" fmla="*/ 97751 h 542361"/>
                  <a:gd name="connsiteX7" fmla="*/ 816835 w 983343"/>
                  <a:gd name="connsiteY7" fmla="*/ 135590 h 542361"/>
                  <a:gd name="connsiteX8" fmla="*/ 848251 w 983343"/>
                  <a:gd name="connsiteY8" fmla="*/ 189196 h 542361"/>
                  <a:gd name="connsiteX9" fmla="*/ 860818 w 983343"/>
                  <a:gd name="connsiteY9" fmla="*/ 258568 h 542361"/>
                  <a:gd name="connsiteX10" fmla="*/ 857676 w 983343"/>
                  <a:gd name="connsiteY10" fmla="*/ 296407 h 542361"/>
                  <a:gd name="connsiteX11" fmla="*/ 882810 w 983343"/>
                  <a:gd name="connsiteY11" fmla="*/ 296407 h 542361"/>
                  <a:gd name="connsiteX12" fmla="*/ 923651 w 983343"/>
                  <a:gd name="connsiteY12" fmla="*/ 309020 h 542361"/>
                  <a:gd name="connsiteX13" fmla="*/ 955068 w 983343"/>
                  <a:gd name="connsiteY13" fmla="*/ 337399 h 542361"/>
                  <a:gd name="connsiteX14" fmla="*/ 977060 w 983343"/>
                  <a:gd name="connsiteY14" fmla="*/ 375238 h 542361"/>
                  <a:gd name="connsiteX15" fmla="*/ 983343 w 983343"/>
                  <a:gd name="connsiteY15" fmla="*/ 419384 h 542361"/>
                  <a:gd name="connsiteX16" fmla="*/ 977060 w 983343"/>
                  <a:gd name="connsiteY16" fmla="*/ 463530 h 542361"/>
                  <a:gd name="connsiteX17" fmla="*/ 951926 w 983343"/>
                  <a:gd name="connsiteY17" fmla="*/ 504522 h 542361"/>
                  <a:gd name="connsiteX18" fmla="*/ 917368 w 983343"/>
                  <a:gd name="connsiteY18" fmla="*/ 532901 h 542361"/>
                  <a:gd name="connsiteX19" fmla="*/ 876526 w 983343"/>
                  <a:gd name="connsiteY19" fmla="*/ 542361 h 542361"/>
                  <a:gd name="connsiteX20" fmla="*/ 611323 w 983343"/>
                  <a:gd name="connsiteY20" fmla="*/ 542361 h 542361"/>
                  <a:gd name="connsiteX21" fmla="*/ 615449 w 983343"/>
                  <a:gd name="connsiteY21" fmla="*/ 529384 h 542361"/>
                  <a:gd name="connsiteX22" fmla="*/ 527128 w 983343"/>
                  <a:gd name="connsiteY22" fmla="*/ 444783 h 542361"/>
                  <a:gd name="connsiteX23" fmla="*/ 505328 w 983343"/>
                  <a:gd name="connsiteY23" fmla="*/ 441988 h 542361"/>
                  <a:gd name="connsiteX24" fmla="*/ 505328 w 983343"/>
                  <a:gd name="connsiteY24" fmla="*/ 398950 h 542361"/>
                  <a:gd name="connsiteX25" fmla="*/ 420440 w 983343"/>
                  <a:gd name="connsiteY25" fmla="*/ 398950 h 542361"/>
                  <a:gd name="connsiteX26" fmla="*/ 420440 w 983343"/>
                  <a:gd name="connsiteY26" fmla="*/ 444028 h 542361"/>
                  <a:gd name="connsiteX27" fmla="*/ 414552 w 983343"/>
                  <a:gd name="connsiteY27" fmla="*/ 444783 h 542361"/>
                  <a:gd name="connsiteX28" fmla="*/ 350928 w 983343"/>
                  <a:gd name="connsiteY28" fmla="*/ 478048 h 542361"/>
                  <a:gd name="connsiteX29" fmla="*/ 343795 w 983343"/>
                  <a:gd name="connsiteY29" fmla="*/ 487470 h 542361"/>
                  <a:gd name="connsiteX30" fmla="*/ 339248 w 983343"/>
                  <a:gd name="connsiteY30" fmla="*/ 490993 h 542361"/>
                  <a:gd name="connsiteX31" fmla="*/ 332783 w 983343"/>
                  <a:gd name="connsiteY31" fmla="*/ 502014 h 542361"/>
                  <a:gd name="connsiteX32" fmla="*/ 332732 w 983343"/>
                  <a:gd name="connsiteY32" fmla="*/ 502080 h 542361"/>
                  <a:gd name="connsiteX33" fmla="*/ 332725 w 983343"/>
                  <a:gd name="connsiteY33" fmla="*/ 502113 h 542361"/>
                  <a:gd name="connsiteX34" fmla="*/ 323428 w 983343"/>
                  <a:gd name="connsiteY34" fmla="*/ 517961 h 542361"/>
                  <a:gd name="connsiteX35" fmla="*/ 319142 w 983343"/>
                  <a:gd name="connsiteY35" fmla="*/ 542361 h 542361"/>
                  <a:gd name="connsiteX36" fmla="*/ 166509 w 983343"/>
                  <a:gd name="connsiteY36" fmla="*/ 542361 h 542361"/>
                  <a:gd name="connsiteX37" fmla="*/ 94250 w 983343"/>
                  <a:gd name="connsiteY37" fmla="*/ 529748 h 542361"/>
                  <a:gd name="connsiteX38" fmla="*/ 43983 w 983343"/>
                  <a:gd name="connsiteY38" fmla="*/ 498215 h 542361"/>
                  <a:gd name="connsiteX39" fmla="*/ 12567 w 983343"/>
                  <a:gd name="connsiteY39" fmla="*/ 444610 h 542361"/>
                  <a:gd name="connsiteX40" fmla="*/ 0 w 983343"/>
                  <a:gd name="connsiteY40" fmla="*/ 372085 h 542361"/>
                  <a:gd name="connsiteX41" fmla="*/ 12567 w 983343"/>
                  <a:gd name="connsiteY41" fmla="*/ 312173 h 542361"/>
                  <a:gd name="connsiteX42" fmla="*/ 47125 w 983343"/>
                  <a:gd name="connsiteY42" fmla="*/ 268027 h 542361"/>
                  <a:gd name="connsiteX43" fmla="*/ 97392 w 983343"/>
                  <a:gd name="connsiteY43" fmla="*/ 236495 h 542361"/>
                  <a:gd name="connsiteX44" fmla="*/ 160225 w 983343"/>
                  <a:gd name="connsiteY44" fmla="*/ 227035 h 542361"/>
                  <a:gd name="connsiteX45" fmla="*/ 182217 w 983343"/>
                  <a:gd name="connsiteY45" fmla="*/ 223882 h 542361"/>
                  <a:gd name="connsiteX46" fmla="*/ 182217 w 983343"/>
                  <a:gd name="connsiteY46" fmla="*/ 204962 h 542361"/>
                  <a:gd name="connsiteX47" fmla="*/ 197925 w 983343"/>
                  <a:gd name="connsiteY47" fmla="*/ 138744 h 542361"/>
                  <a:gd name="connsiteX48" fmla="*/ 232484 w 983343"/>
                  <a:gd name="connsiteY48" fmla="*/ 78832 h 542361"/>
                  <a:gd name="connsiteX49" fmla="*/ 279609 w 983343"/>
                  <a:gd name="connsiteY49" fmla="*/ 34686 h 542361"/>
                  <a:gd name="connsiteX50" fmla="*/ 339301 w 983343"/>
                  <a:gd name="connsiteY50" fmla="*/ 9460 h 542361"/>
                  <a:gd name="connsiteX51" fmla="*/ 398992 w 983343"/>
                  <a:gd name="connsiteY51" fmla="*/ 0 h 54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83343" h="542361">
                    <a:moveTo>
                      <a:pt x="398992" y="0"/>
                    </a:moveTo>
                    <a:cubicBezTo>
                      <a:pt x="436692" y="0"/>
                      <a:pt x="471251" y="9460"/>
                      <a:pt x="499526" y="25226"/>
                    </a:cubicBezTo>
                    <a:cubicBezTo>
                      <a:pt x="527801" y="44146"/>
                      <a:pt x="552934" y="66219"/>
                      <a:pt x="574926" y="97751"/>
                    </a:cubicBezTo>
                    <a:lnTo>
                      <a:pt x="587492" y="116671"/>
                    </a:lnTo>
                    <a:lnTo>
                      <a:pt x="606343" y="107211"/>
                    </a:lnTo>
                    <a:cubicBezTo>
                      <a:pt x="618909" y="100905"/>
                      <a:pt x="631476" y="94598"/>
                      <a:pt x="650326" y="91445"/>
                    </a:cubicBezTo>
                    <a:cubicBezTo>
                      <a:pt x="697451" y="78832"/>
                      <a:pt x="732009" y="85138"/>
                      <a:pt x="763426" y="97751"/>
                    </a:cubicBezTo>
                    <a:cubicBezTo>
                      <a:pt x="785418" y="107211"/>
                      <a:pt x="801126" y="119824"/>
                      <a:pt x="816835" y="135590"/>
                    </a:cubicBezTo>
                    <a:cubicBezTo>
                      <a:pt x="829401" y="148203"/>
                      <a:pt x="841968" y="167123"/>
                      <a:pt x="848251" y="189196"/>
                    </a:cubicBezTo>
                    <a:cubicBezTo>
                      <a:pt x="857676" y="211269"/>
                      <a:pt x="860818" y="233341"/>
                      <a:pt x="860818" y="258568"/>
                    </a:cubicBezTo>
                    <a:lnTo>
                      <a:pt x="857676" y="296407"/>
                    </a:lnTo>
                    <a:lnTo>
                      <a:pt x="882810" y="296407"/>
                    </a:lnTo>
                    <a:cubicBezTo>
                      <a:pt x="898518" y="299560"/>
                      <a:pt x="911085" y="302713"/>
                      <a:pt x="923651" y="309020"/>
                    </a:cubicBezTo>
                    <a:cubicBezTo>
                      <a:pt x="936218" y="315326"/>
                      <a:pt x="948785" y="324786"/>
                      <a:pt x="955068" y="337399"/>
                    </a:cubicBezTo>
                    <a:cubicBezTo>
                      <a:pt x="964493" y="346859"/>
                      <a:pt x="970776" y="359472"/>
                      <a:pt x="977060" y="375238"/>
                    </a:cubicBezTo>
                    <a:cubicBezTo>
                      <a:pt x="980201" y="387851"/>
                      <a:pt x="983343" y="403618"/>
                      <a:pt x="983343" y="419384"/>
                    </a:cubicBezTo>
                    <a:cubicBezTo>
                      <a:pt x="983343" y="435150"/>
                      <a:pt x="980201" y="450917"/>
                      <a:pt x="977060" y="463530"/>
                    </a:cubicBezTo>
                    <a:cubicBezTo>
                      <a:pt x="970776" y="479296"/>
                      <a:pt x="961351" y="491909"/>
                      <a:pt x="951926" y="504522"/>
                    </a:cubicBezTo>
                    <a:cubicBezTo>
                      <a:pt x="942501" y="517135"/>
                      <a:pt x="929935" y="523442"/>
                      <a:pt x="917368" y="532901"/>
                    </a:cubicBezTo>
                    <a:cubicBezTo>
                      <a:pt x="904801" y="539208"/>
                      <a:pt x="892235" y="542361"/>
                      <a:pt x="876526" y="542361"/>
                    </a:cubicBezTo>
                    <a:lnTo>
                      <a:pt x="611323" y="542361"/>
                    </a:lnTo>
                    <a:lnTo>
                      <a:pt x="615449" y="529384"/>
                    </a:lnTo>
                    <a:cubicBezTo>
                      <a:pt x="615449" y="491352"/>
                      <a:pt x="579031" y="458721"/>
                      <a:pt x="527128" y="444783"/>
                    </a:cubicBezTo>
                    <a:lnTo>
                      <a:pt x="505328" y="441988"/>
                    </a:lnTo>
                    <a:lnTo>
                      <a:pt x="505328" y="398950"/>
                    </a:lnTo>
                    <a:lnTo>
                      <a:pt x="420440" y="398950"/>
                    </a:lnTo>
                    <a:lnTo>
                      <a:pt x="420440" y="444028"/>
                    </a:lnTo>
                    <a:lnTo>
                      <a:pt x="414552" y="444783"/>
                    </a:lnTo>
                    <a:cubicBezTo>
                      <a:pt x="388601" y="451752"/>
                      <a:pt x="366521" y="463394"/>
                      <a:pt x="350928" y="478048"/>
                    </a:cubicBezTo>
                    <a:lnTo>
                      <a:pt x="343795" y="487470"/>
                    </a:lnTo>
                    <a:lnTo>
                      <a:pt x="339248" y="490993"/>
                    </a:lnTo>
                    <a:lnTo>
                      <a:pt x="332783" y="502014"/>
                    </a:lnTo>
                    <a:lnTo>
                      <a:pt x="332732" y="502080"/>
                    </a:lnTo>
                    <a:lnTo>
                      <a:pt x="332725" y="502113"/>
                    </a:lnTo>
                    <a:lnTo>
                      <a:pt x="323428" y="517961"/>
                    </a:lnTo>
                    <a:lnTo>
                      <a:pt x="319142" y="542361"/>
                    </a:lnTo>
                    <a:lnTo>
                      <a:pt x="166509" y="542361"/>
                    </a:lnTo>
                    <a:cubicBezTo>
                      <a:pt x="138234" y="542361"/>
                      <a:pt x="116242" y="539208"/>
                      <a:pt x="94250" y="529748"/>
                    </a:cubicBezTo>
                    <a:cubicBezTo>
                      <a:pt x="75400" y="523442"/>
                      <a:pt x="56550" y="510829"/>
                      <a:pt x="43983" y="498215"/>
                    </a:cubicBezTo>
                    <a:cubicBezTo>
                      <a:pt x="31417" y="482449"/>
                      <a:pt x="18850" y="463530"/>
                      <a:pt x="12567" y="444610"/>
                    </a:cubicBezTo>
                    <a:cubicBezTo>
                      <a:pt x="6283" y="422537"/>
                      <a:pt x="0" y="400464"/>
                      <a:pt x="0" y="372085"/>
                    </a:cubicBezTo>
                    <a:cubicBezTo>
                      <a:pt x="0" y="350012"/>
                      <a:pt x="6283" y="327939"/>
                      <a:pt x="12567" y="312173"/>
                    </a:cubicBezTo>
                    <a:cubicBezTo>
                      <a:pt x="21992" y="293253"/>
                      <a:pt x="34558" y="280640"/>
                      <a:pt x="47125" y="268027"/>
                    </a:cubicBezTo>
                    <a:cubicBezTo>
                      <a:pt x="62833" y="255414"/>
                      <a:pt x="78542" y="242801"/>
                      <a:pt x="97392" y="236495"/>
                    </a:cubicBezTo>
                    <a:cubicBezTo>
                      <a:pt x="116242" y="230188"/>
                      <a:pt x="138234" y="227035"/>
                      <a:pt x="160225" y="227035"/>
                    </a:cubicBezTo>
                    <a:lnTo>
                      <a:pt x="182217" y="223882"/>
                    </a:lnTo>
                    <a:lnTo>
                      <a:pt x="182217" y="204962"/>
                    </a:lnTo>
                    <a:cubicBezTo>
                      <a:pt x="185359" y="179736"/>
                      <a:pt x="188500" y="157663"/>
                      <a:pt x="197925" y="138744"/>
                    </a:cubicBezTo>
                    <a:cubicBezTo>
                      <a:pt x="207350" y="116671"/>
                      <a:pt x="216775" y="97751"/>
                      <a:pt x="232484" y="78832"/>
                    </a:cubicBezTo>
                    <a:cubicBezTo>
                      <a:pt x="245050" y="63065"/>
                      <a:pt x="260759" y="47299"/>
                      <a:pt x="279609" y="34686"/>
                    </a:cubicBezTo>
                    <a:cubicBezTo>
                      <a:pt x="295317" y="22073"/>
                      <a:pt x="317309" y="12613"/>
                      <a:pt x="339301" y="9460"/>
                    </a:cubicBezTo>
                    <a:cubicBezTo>
                      <a:pt x="358151" y="3153"/>
                      <a:pt x="380142" y="0"/>
                      <a:pt x="398992" y="0"/>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0" name="Freeform 52">
                <a:extLst>
                  <a:ext uri="{FF2B5EF4-FFF2-40B4-BE49-F238E27FC236}">
                    <a16:creationId xmlns:a16="http://schemas.microsoft.com/office/drawing/2014/main" id="{7D4C2026-1218-471E-B868-04FAFBA3CAFC}"/>
                  </a:ext>
                </a:extLst>
              </p:cNvPr>
              <p:cNvSpPr>
                <a:spLocks noEditPoints="1"/>
              </p:cNvSpPr>
              <p:nvPr/>
            </p:nvSpPr>
            <p:spPr bwMode="auto">
              <a:xfrm>
                <a:off x="631577" y="2654138"/>
                <a:ext cx="227241" cy="399106"/>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1" name="Rectangle 200">
                <a:extLst>
                  <a:ext uri="{FF2B5EF4-FFF2-40B4-BE49-F238E27FC236}">
                    <a16:creationId xmlns:a16="http://schemas.microsoft.com/office/drawing/2014/main" id="{38DE0D2E-5A00-4950-AFC2-25CAD1F15B59}"/>
                  </a:ext>
                </a:extLst>
              </p:cNvPr>
              <p:cNvSpPr/>
              <p:nvPr/>
            </p:nvSpPr>
            <p:spPr bwMode="auto">
              <a:xfrm>
                <a:off x="863267" y="2644605"/>
                <a:ext cx="77327" cy="124531"/>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2" name="Group 201">
              <a:extLst>
                <a:ext uri="{FF2B5EF4-FFF2-40B4-BE49-F238E27FC236}">
                  <a16:creationId xmlns:a16="http://schemas.microsoft.com/office/drawing/2014/main" id="{8423F16B-50F1-4A91-9AC0-F691DA2A2CD0}"/>
                </a:ext>
              </a:extLst>
            </p:cNvPr>
            <p:cNvGrpSpPr/>
            <p:nvPr/>
          </p:nvGrpSpPr>
          <p:grpSpPr>
            <a:xfrm>
              <a:off x="10520407" y="2183899"/>
              <a:ext cx="573741" cy="344081"/>
              <a:chOff x="4398903" y="2811318"/>
              <a:chExt cx="733084" cy="439641"/>
            </a:xfrm>
          </p:grpSpPr>
          <p:grpSp>
            <p:nvGrpSpPr>
              <p:cNvPr id="203" name="Group 202">
                <a:extLst>
                  <a:ext uri="{FF2B5EF4-FFF2-40B4-BE49-F238E27FC236}">
                    <a16:creationId xmlns:a16="http://schemas.microsoft.com/office/drawing/2014/main" id="{C552ECAE-A752-4857-B9DB-79C88566E075}"/>
                  </a:ext>
                </a:extLst>
              </p:cNvPr>
              <p:cNvGrpSpPr/>
              <p:nvPr/>
            </p:nvGrpSpPr>
            <p:grpSpPr>
              <a:xfrm>
                <a:off x="4398903" y="2894541"/>
                <a:ext cx="642927" cy="356418"/>
                <a:chOff x="4377491" y="2839748"/>
                <a:chExt cx="642927" cy="356418"/>
              </a:xfrm>
            </p:grpSpPr>
            <p:sp>
              <p:nvSpPr>
                <p:cNvPr id="214" name="Freeform 70">
                  <a:extLst>
                    <a:ext uri="{FF2B5EF4-FFF2-40B4-BE49-F238E27FC236}">
                      <a16:creationId xmlns:a16="http://schemas.microsoft.com/office/drawing/2014/main" id="{51883494-BC88-4B4F-8CAC-C1282701AB38}"/>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5" name="Freeform 70">
                  <a:extLst>
                    <a:ext uri="{FF2B5EF4-FFF2-40B4-BE49-F238E27FC236}">
                      <a16:creationId xmlns:a16="http://schemas.microsoft.com/office/drawing/2014/main" id="{9F950CAB-6B66-4573-A5CA-F88861265301}"/>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6" name="Oval 215">
                  <a:extLst>
                    <a:ext uri="{FF2B5EF4-FFF2-40B4-BE49-F238E27FC236}">
                      <a16:creationId xmlns:a16="http://schemas.microsoft.com/office/drawing/2014/main" id="{8104EBA4-0000-439F-A2FB-54AACF2580F3}"/>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7" name="Oval 216">
                  <a:extLst>
                    <a:ext uri="{FF2B5EF4-FFF2-40B4-BE49-F238E27FC236}">
                      <a16:creationId xmlns:a16="http://schemas.microsoft.com/office/drawing/2014/main" id="{38214BFF-E844-4CD8-8036-48AB84553C8D}"/>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8" name="Oval 217">
                  <a:extLst>
                    <a:ext uri="{FF2B5EF4-FFF2-40B4-BE49-F238E27FC236}">
                      <a16:creationId xmlns:a16="http://schemas.microsoft.com/office/drawing/2014/main" id="{9302E15A-C399-4A2B-8C75-9926F5243FF4}"/>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9" name="Oval 218">
                  <a:extLst>
                    <a:ext uri="{FF2B5EF4-FFF2-40B4-BE49-F238E27FC236}">
                      <a16:creationId xmlns:a16="http://schemas.microsoft.com/office/drawing/2014/main" id="{3A7F3BA3-D6A4-40CA-9AD7-A623A328BECB}"/>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20" name="Oval 219">
                  <a:extLst>
                    <a:ext uri="{FF2B5EF4-FFF2-40B4-BE49-F238E27FC236}">
                      <a16:creationId xmlns:a16="http://schemas.microsoft.com/office/drawing/2014/main" id="{BCAF60C2-67BD-4A07-BBCB-0D4BBE3AB749}"/>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21" name="Freeform 9">
                  <a:extLst>
                    <a:ext uri="{FF2B5EF4-FFF2-40B4-BE49-F238E27FC236}">
                      <a16:creationId xmlns:a16="http://schemas.microsoft.com/office/drawing/2014/main" id="{EB3A6DC6-407C-439A-8746-8F10CC227601}"/>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04" name="Rectangle 203">
                <a:extLst>
                  <a:ext uri="{FF2B5EF4-FFF2-40B4-BE49-F238E27FC236}">
                    <a16:creationId xmlns:a16="http://schemas.microsoft.com/office/drawing/2014/main" id="{E8C15B4F-32B3-4E96-9D2E-9494EC52EBF9}"/>
                  </a:ext>
                </a:extLst>
              </p:cNvPr>
              <p:cNvSpPr/>
              <p:nvPr/>
            </p:nvSpPr>
            <p:spPr bwMode="auto">
              <a:xfrm>
                <a:off x="4468783" y="2811318"/>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nvGrpSpPr>
              <p:cNvPr id="205" name="Group 204">
                <a:extLst>
                  <a:ext uri="{FF2B5EF4-FFF2-40B4-BE49-F238E27FC236}">
                    <a16:creationId xmlns:a16="http://schemas.microsoft.com/office/drawing/2014/main" id="{19D70671-CE8C-47FC-B760-D2B1683E6B90}"/>
                  </a:ext>
                </a:extLst>
              </p:cNvPr>
              <p:cNvGrpSpPr/>
              <p:nvPr/>
            </p:nvGrpSpPr>
            <p:grpSpPr>
              <a:xfrm>
                <a:off x="4489060" y="2811319"/>
                <a:ext cx="642927" cy="356418"/>
                <a:chOff x="4377491" y="2839748"/>
                <a:chExt cx="642927" cy="356418"/>
              </a:xfrm>
            </p:grpSpPr>
            <p:sp>
              <p:nvSpPr>
                <p:cNvPr id="206" name="Freeform 70">
                  <a:extLst>
                    <a:ext uri="{FF2B5EF4-FFF2-40B4-BE49-F238E27FC236}">
                      <a16:creationId xmlns:a16="http://schemas.microsoft.com/office/drawing/2014/main" id="{AD8D1D61-B711-46BE-8FF6-1427826680B4}"/>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7" name="Freeform 70">
                  <a:extLst>
                    <a:ext uri="{FF2B5EF4-FFF2-40B4-BE49-F238E27FC236}">
                      <a16:creationId xmlns:a16="http://schemas.microsoft.com/office/drawing/2014/main" id="{C7A22C5E-DC1B-49CB-B535-6869011256FE}"/>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8" name="Oval 207">
                  <a:extLst>
                    <a:ext uri="{FF2B5EF4-FFF2-40B4-BE49-F238E27FC236}">
                      <a16:creationId xmlns:a16="http://schemas.microsoft.com/office/drawing/2014/main" id="{F575731B-0801-45F6-8A9A-7F6BD8A88A4F}"/>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09" name="Oval 208">
                  <a:extLst>
                    <a:ext uri="{FF2B5EF4-FFF2-40B4-BE49-F238E27FC236}">
                      <a16:creationId xmlns:a16="http://schemas.microsoft.com/office/drawing/2014/main" id="{707F92E9-E429-47F0-B991-3F8F93E3DD11}"/>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0" name="Oval 209">
                  <a:extLst>
                    <a:ext uri="{FF2B5EF4-FFF2-40B4-BE49-F238E27FC236}">
                      <a16:creationId xmlns:a16="http://schemas.microsoft.com/office/drawing/2014/main" id="{A07A9CB1-90EE-4278-A1E5-4EC95892B5C1}"/>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1" name="Oval 210">
                  <a:extLst>
                    <a:ext uri="{FF2B5EF4-FFF2-40B4-BE49-F238E27FC236}">
                      <a16:creationId xmlns:a16="http://schemas.microsoft.com/office/drawing/2014/main" id="{D29F18DA-E113-4E25-8900-19707ECFB88A}"/>
                    </a:ext>
                  </a:extLst>
                </p:cNvPr>
                <p:cNvSpPr/>
                <p:nvPr/>
              </p:nvSpPr>
              <p:spPr bwMode="auto">
                <a:xfrm>
                  <a:off x="4949045"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2" name="Oval 211">
                  <a:extLst>
                    <a:ext uri="{FF2B5EF4-FFF2-40B4-BE49-F238E27FC236}">
                      <a16:creationId xmlns:a16="http://schemas.microsoft.com/office/drawing/2014/main" id="{2FE3A0F7-ADB3-4BD0-871B-C3DF7023129F}"/>
                    </a:ext>
                  </a:extLst>
                </p:cNvPr>
                <p:cNvSpPr/>
                <p:nvPr/>
              </p:nvSpPr>
              <p:spPr bwMode="auto">
                <a:xfrm>
                  <a:off x="4582909" y="2901912"/>
                  <a:ext cx="232091" cy="232091"/>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3" name="Freeform 9">
                  <a:extLst>
                    <a:ext uri="{FF2B5EF4-FFF2-40B4-BE49-F238E27FC236}">
                      <a16:creationId xmlns:a16="http://schemas.microsoft.com/office/drawing/2014/main" id="{96C9F3D7-0F4D-479B-A082-C7EC272CE25E}"/>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grpSp>
      <p:sp>
        <p:nvSpPr>
          <p:cNvPr id="2" name="Title 1">
            <a:extLst>
              <a:ext uri="{FF2B5EF4-FFF2-40B4-BE49-F238E27FC236}">
                <a16:creationId xmlns:a16="http://schemas.microsoft.com/office/drawing/2014/main" id="{D1AC5515-EC69-43EF-BF5B-F44D9283A37D}"/>
              </a:ext>
            </a:extLst>
          </p:cNvPr>
          <p:cNvSpPr>
            <a:spLocks noGrp="1"/>
          </p:cNvSpPr>
          <p:nvPr>
            <p:ph type="title"/>
          </p:nvPr>
        </p:nvSpPr>
        <p:spPr/>
        <p:txBody>
          <a:bodyPr/>
          <a:lstStyle/>
          <a:p>
            <a:r>
              <a:t>ERP business trends – cloud as the new standard</a:t>
            </a:r>
          </a:p>
        </p:txBody>
      </p:sp>
      <p:cxnSp>
        <p:nvCxnSpPr>
          <p:cNvPr id="5" name="Straight Connector 4">
            <a:extLst>
              <a:ext uri="{FF2B5EF4-FFF2-40B4-BE49-F238E27FC236}">
                <a16:creationId xmlns:a16="http://schemas.microsoft.com/office/drawing/2014/main" id="{42269A11-3F8C-41EA-ACA0-EEA7CC1D6344}"/>
              </a:ext>
            </a:extLst>
          </p:cNvPr>
          <p:cNvCxnSpPr>
            <a:cxnSpLocks/>
          </p:cNvCxnSpPr>
          <p:nvPr/>
        </p:nvCxnSpPr>
        <p:spPr>
          <a:xfrm>
            <a:off x="226816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95187AC-3A1D-4DD7-AD35-2F8D4EADC92B}"/>
              </a:ext>
            </a:extLst>
          </p:cNvPr>
          <p:cNvCxnSpPr>
            <a:cxnSpLocks/>
          </p:cNvCxnSpPr>
          <p:nvPr/>
        </p:nvCxnSpPr>
        <p:spPr>
          <a:xfrm>
            <a:off x="411521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909A701-DD13-497B-AF44-825A7B2DD10C}"/>
              </a:ext>
            </a:extLst>
          </p:cNvPr>
          <p:cNvCxnSpPr>
            <a:cxnSpLocks/>
          </p:cNvCxnSpPr>
          <p:nvPr/>
        </p:nvCxnSpPr>
        <p:spPr>
          <a:xfrm>
            <a:off x="618964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F2F709-05D3-4E6C-B12B-C21E28E2865D}"/>
              </a:ext>
            </a:extLst>
          </p:cNvPr>
          <p:cNvCxnSpPr>
            <a:cxnSpLocks/>
          </p:cNvCxnSpPr>
          <p:nvPr/>
        </p:nvCxnSpPr>
        <p:spPr>
          <a:xfrm>
            <a:off x="8036699"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7B23182-E6DF-46A2-B8B0-B782C61F5676}"/>
              </a:ext>
            </a:extLst>
          </p:cNvPr>
          <p:cNvCxnSpPr>
            <a:cxnSpLocks/>
          </p:cNvCxnSpPr>
          <p:nvPr/>
        </p:nvCxnSpPr>
        <p:spPr>
          <a:xfrm>
            <a:off x="991085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54A1DA65-4084-4E60-B240-48B9A73D6107}"/>
              </a:ext>
            </a:extLst>
          </p:cNvPr>
          <p:cNvGrpSpPr/>
          <p:nvPr/>
        </p:nvGrpSpPr>
        <p:grpSpPr>
          <a:xfrm>
            <a:off x="9910853" y="1500101"/>
            <a:ext cx="1792850" cy="3976888"/>
            <a:chOff x="9910853" y="1500101"/>
            <a:chExt cx="1792850" cy="3976888"/>
          </a:xfrm>
        </p:grpSpPr>
        <p:sp>
          <p:nvSpPr>
            <p:cNvPr id="37" name="Rectangle 36">
              <a:extLst>
                <a:ext uri="{FF2B5EF4-FFF2-40B4-BE49-F238E27FC236}">
                  <a16:creationId xmlns:a16="http://schemas.microsoft.com/office/drawing/2014/main" id="{D817062E-02FF-4D67-A7CA-40EA05DB3DC2}"/>
                </a:ext>
              </a:extLst>
            </p:cNvPr>
            <p:cNvSpPr/>
            <p:nvPr/>
          </p:nvSpPr>
          <p:spPr bwMode="auto">
            <a:xfrm>
              <a:off x="9910853" y="298493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sz="1568" kern="1200">
                  <a:ln>
                    <a:noFill/>
                  </a:ln>
                  <a:solidFill>
                    <a:srgbClr val="353535"/>
                  </a:solidFill>
                  <a:effectLst/>
                  <a:uLnTx/>
                  <a:uFillTx/>
                  <a:latin typeface="Segoe UI Semilight"/>
                  <a:ea typeface="Segoe UI" pitchFamily="34" charset="0"/>
                  <a:cs typeface="Segoe UI" pitchFamily="34" charset="0"/>
                </a:defRPr>
              </a:pPr>
              <a:r>
                <a:t>On average,&lt;x id="1" /&gt;on-premises ERP set-up cost is 3X more than&lt;x id="2" /&gt;cloud ERP set-up cost***</a:t>
              </a:r>
            </a:p>
          </p:txBody>
        </p:sp>
        <p:graphicFrame>
          <p:nvGraphicFramePr>
            <p:cNvPr id="38" name="Chart 37">
              <a:extLst>
                <a:ext uri="{FF2B5EF4-FFF2-40B4-BE49-F238E27FC236}">
                  <a16:creationId xmlns:a16="http://schemas.microsoft.com/office/drawing/2014/main" id="{29EC9341-C988-4843-8D40-62482AA2BFE8}"/>
                </a:ext>
              </a:extLst>
            </p:cNvPr>
            <p:cNvGraphicFramePr/>
            <p:nvPr/>
          </p:nvGraphicFramePr>
          <p:xfrm>
            <a:off x="10026153" y="1500101"/>
            <a:ext cx="1562250" cy="1737548"/>
          </p:xfrm>
          <a:graphic>
            <a:graphicData uri="http://schemas.openxmlformats.org/drawingml/2006/chart">
              <c:chart xmlns:c="http://schemas.openxmlformats.org/drawingml/2006/chart" xmlns:r="http://schemas.openxmlformats.org/officeDocument/2006/relationships" r:id="rId5"/>
            </a:graphicData>
          </a:graphic>
        </p:graphicFrame>
        <p:sp>
          <p:nvSpPr>
            <p:cNvPr id="39" name="Oval 38">
              <a:extLst>
                <a:ext uri="{FF2B5EF4-FFF2-40B4-BE49-F238E27FC236}">
                  <a16:creationId xmlns:a16="http://schemas.microsoft.com/office/drawing/2014/main" id="{E7D2FEA4-0D55-48C9-BFB1-69A837AECB2C}"/>
                </a:ext>
              </a:extLst>
            </p:cNvPr>
            <p:cNvSpPr/>
            <p:nvPr/>
          </p:nvSpPr>
          <p:spPr bwMode="auto">
            <a:xfrm>
              <a:off x="10383092"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2" name="Group 161">
              <a:extLst>
                <a:ext uri="{FF2B5EF4-FFF2-40B4-BE49-F238E27FC236}">
                  <a16:creationId xmlns:a16="http://schemas.microsoft.com/office/drawing/2014/main" id="{7C3BDEA5-8691-4F70-AA6C-04628DF8B8EF}"/>
                </a:ext>
              </a:extLst>
            </p:cNvPr>
            <p:cNvGrpSpPr/>
            <p:nvPr/>
          </p:nvGrpSpPr>
          <p:grpSpPr>
            <a:xfrm>
              <a:off x="10520407" y="2182708"/>
              <a:ext cx="573742" cy="344081"/>
              <a:chOff x="10409379" y="1910964"/>
              <a:chExt cx="733084" cy="439641"/>
            </a:xfrm>
          </p:grpSpPr>
          <p:grpSp>
            <p:nvGrpSpPr>
              <p:cNvPr id="113" name="Group 112">
                <a:extLst>
                  <a:ext uri="{FF2B5EF4-FFF2-40B4-BE49-F238E27FC236}">
                    <a16:creationId xmlns:a16="http://schemas.microsoft.com/office/drawing/2014/main" id="{2AE86EE8-3386-4F70-9E20-3442D485DA93}"/>
                  </a:ext>
                </a:extLst>
              </p:cNvPr>
              <p:cNvGrpSpPr/>
              <p:nvPr/>
            </p:nvGrpSpPr>
            <p:grpSpPr>
              <a:xfrm>
                <a:off x="10409379" y="1994187"/>
                <a:ext cx="642927" cy="356418"/>
                <a:chOff x="4377491" y="2839748"/>
                <a:chExt cx="642927" cy="356418"/>
              </a:xfrm>
            </p:grpSpPr>
            <p:sp>
              <p:nvSpPr>
                <p:cNvPr id="124" name="Freeform 70">
                  <a:extLst>
                    <a:ext uri="{FF2B5EF4-FFF2-40B4-BE49-F238E27FC236}">
                      <a16:creationId xmlns:a16="http://schemas.microsoft.com/office/drawing/2014/main" id="{6870080B-95E7-4DC6-94EA-B75C63E78852}"/>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25" name="Freeform 70">
                  <a:extLst>
                    <a:ext uri="{FF2B5EF4-FFF2-40B4-BE49-F238E27FC236}">
                      <a16:creationId xmlns:a16="http://schemas.microsoft.com/office/drawing/2014/main" id="{BF3DD173-AD29-4A41-872B-80C7E7F6C316}"/>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26" name="Oval 125">
                  <a:extLst>
                    <a:ext uri="{FF2B5EF4-FFF2-40B4-BE49-F238E27FC236}">
                      <a16:creationId xmlns:a16="http://schemas.microsoft.com/office/drawing/2014/main" id="{92616082-8510-47AA-8C02-73C09CAD0E90}"/>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7" name="Oval 126">
                  <a:extLst>
                    <a:ext uri="{FF2B5EF4-FFF2-40B4-BE49-F238E27FC236}">
                      <a16:creationId xmlns:a16="http://schemas.microsoft.com/office/drawing/2014/main" id="{6F4FF371-A70B-4292-B966-EEACA3792164}"/>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8" name="Oval 127">
                  <a:extLst>
                    <a:ext uri="{FF2B5EF4-FFF2-40B4-BE49-F238E27FC236}">
                      <a16:creationId xmlns:a16="http://schemas.microsoft.com/office/drawing/2014/main" id="{0212AA72-5CA3-4BAE-BC1E-B3303D109244}"/>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9" name="Oval 128">
                  <a:extLst>
                    <a:ext uri="{FF2B5EF4-FFF2-40B4-BE49-F238E27FC236}">
                      <a16:creationId xmlns:a16="http://schemas.microsoft.com/office/drawing/2014/main" id="{DA111F51-3820-424E-A507-7CAD7181EEF1}"/>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30" name="Oval 129">
                  <a:extLst>
                    <a:ext uri="{FF2B5EF4-FFF2-40B4-BE49-F238E27FC236}">
                      <a16:creationId xmlns:a16="http://schemas.microsoft.com/office/drawing/2014/main" id="{4704129F-ADCB-4F39-85EC-B8518A5DF0CE}"/>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31" name="Freeform 9">
                  <a:extLst>
                    <a:ext uri="{FF2B5EF4-FFF2-40B4-BE49-F238E27FC236}">
                      <a16:creationId xmlns:a16="http://schemas.microsoft.com/office/drawing/2014/main" id="{BE79DE56-E488-476E-8A85-8D555D6403C3}"/>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114" name="Rectangle 113">
                <a:extLst>
                  <a:ext uri="{FF2B5EF4-FFF2-40B4-BE49-F238E27FC236}">
                    <a16:creationId xmlns:a16="http://schemas.microsoft.com/office/drawing/2014/main" id="{2452884F-3EBA-4066-8146-9F4A24BA0F74}"/>
                  </a:ext>
                </a:extLst>
              </p:cNvPr>
              <p:cNvSpPr/>
              <p:nvPr/>
            </p:nvSpPr>
            <p:spPr bwMode="auto">
              <a:xfrm>
                <a:off x="10479259" y="1910964"/>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nvGrpSpPr>
              <p:cNvPr id="115" name="Group 114">
                <a:extLst>
                  <a:ext uri="{FF2B5EF4-FFF2-40B4-BE49-F238E27FC236}">
                    <a16:creationId xmlns:a16="http://schemas.microsoft.com/office/drawing/2014/main" id="{F8F9E193-E7F9-4950-ABA1-F4CA76F4BF90}"/>
                  </a:ext>
                </a:extLst>
              </p:cNvPr>
              <p:cNvGrpSpPr/>
              <p:nvPr/>
            </p:nvGrpSpPr>
            <p:grpSpPr>
              <a:xfrm>
                <a:off x="10499536" y="1910965"/>
                <a:ext cx="642927" cy="356418"/>
                <a:chOff x="4377491" y="2839748"/>
                <a:chExt cx="642927" cy="356418"/>
              </a:xfrm>
            </p:grpSpPr>
            <p:sp>
              <p:nvSpPr>
                <p:cNvPr id="116" name="Freeform 70">
                  <a:extLst>
                    <a:ext uri="{FF2B5EF4-FFF2-40B4-BE49-F238E27FC236}">
                      <a16:creationId xmlns:a16="http://schemas.microsoft.com/office/drawing/2014/main" id="{822E41FC-FDC4-4DE4-8148-52DAA0742A00}"/>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17" name="Freeform 70">
                  <a:extLst>
                    <a:ext uri="{FF2B5EF4-FFF2-40B4-BE49-F238E27FC236}">
                      <a16:creationId xmlns:a16="http://schemas.microsoft.com/office/drawing/2014/main" id="{82070F32-CB49-4BC7-A010-803D450647FD}"/>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18" name="Oval 117">
                  <a:extLst>
                    <a:ext uri="{FF2B5EF4-FFF2-40B4-BE49-F238E27FC236}">
                      <a16:creationId xmlns:a16="http://schemas.microsoft.com/office/drawing/2014/main" id="{C5C10C48-73BE-4929-832E-91096848FA48}"/>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19" name="Oval 118">
                  <a:extLst>
                    <a:ext uri="{FF2B5EF4-FFF2-40B4-BE49-F238E27FC236}">
                      <a16:creationId xmlns:a16="http://schemas.microsoft.com/office/drawing/2014/main" id="{7EBF93EF-9BF1-4714-A99B-1260A88C5EBA}"/>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0" name="Oval 119">
                  <a:extLst>
                    <a:ext uri="{FF2B5EF4-FFF2-40B4-BE49-F238E27FC236}">
                      <a16:creationId xmlns:a16="http://schemas.microsoft.com/office/drawing/2014/main" id="{47B67A78-4DBC-40B9-8AB4-9B89452DEE8F}"/>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1" name="Oval 120">
                  <a:extLst>
                    <a:ext uri="{FF2B5EF4-FFF2-40B4-BE49-F238E27FC236}">
                      <a16:creationId xmlns:a16="http://schemas.microsoft.com/office/drawing/2014/main" id="{2278675D-F7F0-4F7E-86DC-81271A8F5243}"/>
                    </a:ext>
                  </a:extLst>
                </p:cNvPr>
                <p:cNvSpPr/>
                <p:nvPr/>
              </p:nvSpPr>
              <p:spPr bwMode="auto">
                <a:xfrm>
                  <a:off x="4949045"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2" name="Oval 121">
                  <a:extLst>
                    <a:ext uri="{FF2B5EF4-FFF2-40B4-BE49-F238E27FC236}">
                      <a16:creationId xmlns:a16="http://schemas.microsoft.com/office/drawing/2014/main" id="{1B663DEF-3461-4FC8-B711-1293FE47CCBC}"/>
                    </a:ext>
                  </a:extLst>
                </p:cNvPr>
                <p:cNvSpPr/>
                <p:nvPr/>
              </p:nvSpPr>
              <p:spPr bwMode="auto">
                <a:xfrm>
                  <a:off x="4582909" y="2901912"/>
                  <a:ext cx="232091" cy="232091"/>
                </a:xfrm>
                <a:prstGeom prst="ellipse">
                  <a:avLst/>
                </a:pr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3" name="Freeform 9">
                  <a:extLst>
                    <a:ext uri="{FF2B5EF4-FFF2-40B4-BE49-F238E27FC236}">
                      <a16:creationId xmlns:a16="http://schemas.microsoft.com/office/drawing/2014/main" id="{FEF46350-084A-4489-A9E8-5E202AFDC774}"/>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alpha val="2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sp>
          <p:nvSpPr>
            <p:cNvPr id="41" name="TextBox 40">
              <a:extLst>
                <a:ext uri="{FF2B5EF4-FFF2-40B4-BE49-F238E27FC236}">
                  <a16:creationId xmlns:a16="http://schemas.microsoft.com/office/drawing/2014/main" id="{84FDA9FA-EE06-4259-AE10-BF3772FCDA8A}"/>
                </a:ext>
              </a:extLst>
            </p:cNvPr>
            <p:cNvSpPr txBox="1"/>
            <p:nvPr/>
          </p:nvSpPr>
          <p:spPr>
            <a:xfrm>
              <a:off x="10468054" y="2205946"/>
              <a:ext cx="678448"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3X</a:t>
              </a:r>
            </a:p>
          </p:txBody>
        </p:sp>
      </p:grpSp>
      <p:sp>
        <p:nvSpPr>
          <p:cNvPr id="49" name="Rectangle 48">
            <a:extLst>
              <a:ext uri="{FF2B5EF4-FFF2-40B4-BE49-F238E27FC236}">
                <a16:creationId xmlns:a16="http://schemas.microsoft.com/office/drawing/2014/main" id="{42EB8CC3-AB05-4F9E-8636-A5AA6DD7B4EA}"/>
              </a:ext>
            </a:extLst>
          </p:cNvPr>
          <p:cNvSpPr/>
          <p:nvPr/>
        </p:nvSpPr>
        <p:spPr bwMode="auto">
          <a:xfrm>
            <a:off x="1" y="5855616"/>
            <a:ext cx="12192000" cy="100189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0" name="Source line">
            <a:extLst>
              <a:ext uri="{FF2B5EF4-FFF2-40B4-BE49-F238E27FC236}">
                <a16:creationId xmlns:a16="http://schemas.microsoft.com/office/drawing/2014/main" id="{FBF324B9-8D5F-490E-8AFB-ACB0578617A0}"/>
              </a:ext>
            </a:extLst>
          </p:cNvPr>
          <p:cNvSpPr txBox="1">
            <a:spLocks/>
          </p:cNvSpPr>
          <p:nvPr/>
        </p:nvSpPr>
        <p:spPr>
          <a:xfrm>
            <a:off x="448213" y="6078638"/>
            <a:ext cx="11743788" cy="663797"/>
          </a:xfrm>
          <a:prstGeom prst="rect">
            <a:avLst/>
          </a:prstGeom>
        </p:spPr>
        <p:txBody>
          <a:bodyPr vert="horz" wrap="square" lIns="0" tIns="0" rIns="0" bIns="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*European Commission</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**Aberdeen</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 Nucleus Research</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 IDC 2017 predictions</a:t>
            </a:r>
          </a:p>
        </p:txBody>
      </p:sp>
      <p:sp>
        <p:nvSpPr>
          <p:cNvPr id="51" name="Rectangle 50">
            <a:extLst>
              <a:ext uri="{FF2B5EF4-FFF2-40B4-BE49-F238E27FC236}">
                <a16:creationId xmlns:a16="http://schemas.microsoft.com/office/drawing/2014/main" id="{48B3C1C9-467E-4852-ABEA-7CE6E1A5D63B}"/>
              </a:ext>
            </a:extLst>
          </p:cNvPr>
          <p:cNvSpPr/>
          <p:nvPr/>
        </p:nvSpPr>
        <p:spPr>
          <a:xfrm>
            <a:off x="574073" y="1187903"/>
            <a:ext cx="11348687" cy="36394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765" kern="1200">
                <a:ln>
                  <a:noFill/>
                </a:ln>
                <a:solidFill>
                  <a:srgbClr val="505050"/>
                </a:solidFill>
                <a:effectLst/>
                <a:uLnTx/>
                <a:uFillTx/>
                <a:latin typeface="Segoe UI"/>
                <a:ea typeface="+mn-ea"/>
                <a:cs typeface="+mn-cs"/>
              </a:defRPr>
            </a:pPr>
            <a:r>
              <a:t>Cloud technology is a major disruptor and many businesses are using cloud to optimize their operations.</a:t>
            </a:r>
            <a:endParaRPr kumimoji="0" sz="1765" b="0" i="0" u="none" strike="noStrike" kern="1200" cap="none" spc="0" normalizeH="0" baseline="0">
              <a:ln>
                <a:noFill/>
              </a:ln>
              <a:solidFill>
                <a:srgbClr val="505050"/>
              </a:solidFill>
              <a:effectLst/>
              <a:uLnTx/>
              <a:uFillTx/>
              <a:latin typeface="Segoe UI"/>
              <a:ea typeface="+mn-ea"/>
              <a:cs typeface="+mn-cs"/>
            </a:endParaRPr>
          </a:p>
        </p:txBody>
      </p:sp>
      <p:grpSp>
        <p:nvGrpSpPr>
          <p:cNvPr id="225" name="Group 224">
            <a:extLst>
              <a:ext uri="{FF2B5EF4-FFF2-40B4-BE49-F238E27FC236}">
                <a16:creationId xmlns:a16="http://schemas.microsoft.com/office/drawing/2014/main" id="{C82DA9EB-E464-4AC6-9C27-690801710594}"/>
              </a:ext>
            </a:extLst>
          </p:cNvPr>
          <p:cNvGrpSpPr/>
          <p:nvPr/>
        </p:nvGrpSpPr>
        <p:grpSpPr>
          <a:xfrm>
            <a:off x="4115216" y="1500101"/>
            <a:ext cx="2020227" cy="3965738"/>
            <a:chOff x="4115216" y="1500101"/>
            <a:chExt cx="2020227" cy="3965738"/>
          </a:xfrm>
        </p:grpSpPr>
        <p:sp>
          <p:nvSpPr>
            <p:cNvPr id="11" name="Rectangle 10">
              <a:extLst>
                <a:ext uri="{FF2B5EF4-FFF2-40B4-BE49-F238E27FC236}">
                  <a16:creationId xmlns:a16="http://schemas.microsoft.com/office/drawing/2014/main" id="{96FA544F-ABE6-41FB-988B-5867577BEE83}"/>
                </a:ext>
              </a:extLst>
            </p:cNvPr>
            <p:cNvSpPr/>
            <p:nvPr/>
          </p:nvSpPr>
          <p:spPr bwMode="auto">
            <a:xfrm>
              <a:off x="4115216" y="2973782"/>
              <a:ext cx="2020227"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By 2020, 50% of the G2000 will see most of their business depend on their ability to create digitally-enhanced products, services, &lt;x id="1" /&gt;and experiences.****</a:t>
              </a:r>
            </a:p>
          </p:txBody>
        </p:sp>
        <p:grpSp>
          <p:nvGrpSpPr>
            <p:cNvPr id="12" name="Group 11">
              <a:extLst>
                <a:ext uri="{FF2B5EF4-FFF2-40B4-BE49-F238E27FC236}">
                  <a16:creationId xmlns:a16="http://schemas.microsoft.com/office/drawing/2014/main" id="{3754FE34-3AD2-48B6-B046-EE997ADCEF77}"/>
                </a:ext>
              </a:extLst>
            </p:cNvPr>
            <p:cNvGrpSpPr/>
            <p:nvPr/>
          </p:nvGrpSpPr>
          <p:grpSpPr>
            <a:xfrm>
              <a:off x="4355045" y="1500101"/>
              <a:ext cx="1562249" cy="1737549"/>
              <a:chOff x="396026" y="2175350"/>
              <a:chExt cx="1593576" cy="1772393"/>
            </a:xfrm>
          </p:grpSpPr>
          <p:graphicFrame>
            <p:nvGraphicFramePr>
              <p:cNvPr id="15" name="Chart 14">
                <a:extLst>
                  <a:ext uri="{FF2B5EF4-FFF2-40B4-BE49-F238E27FC236}">
                    <a16:creationId xmlns:a16="http://schemas.microsoft.com/office/drawing/2014/main" id="{9F9C5053-426B-4296-84F0-ADA9D3945B68}"/>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6"/>
              </a:graphicData>
            </a:graphic>
          </p:graphicFrame>
          <p:sp>
            <p:nvSpPr>
              <p:cNvPr id="16" name="Oval 15">
                <a:extLst>
                  <a:ext uri="{FF2B5EF4-FFF2-40B4-BE49-F238E27FC236}">
                    <a16:creationId xmlns:a16="http://schemas.microsoft.com/office/drawing/2014/main" id="{53522129-68E9-4CA4-8830-644A160A6F0C}"/>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13" name="TextBox 12">
              <a:extLst>
                <a:ext uri="{FF2B5EF4-FFF2-40B4-BE49-F238E27FC236}">
                  <a16:creationId xmlns:a16="http://schemas.microsoft.com/office/drawing/2014/main" id="{2B02A888-4FB4-4B80-8222-2EBE919A4F94}"/>
                </a:ext>
              </a:extLst>
            </p:cNvPr>
            <p:cNvSpPr txBox="1"/>
            <p:nvPr/>
          </p:nvSpPr>
          <p:spPr>
            <a:xfrm>
              <a:off x="4809744"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50%</a:t>
              </a:r>
            </a:p>
          </p:txBody>
        </p:sp>
        <p:grpSp>
          <p:nvGrpSpPr>
            <p:cNvPr id="156" name="Group 155">
              <a:extLst>
                <a:ext uri="{FF2B5EF4-FFF2-40B4-BE49-F238E27FC236}">
                  <a16:creationId xmlns:a16="http://schemas.microsoft.com/office/drawing/2014/main" id="{44BE36F9-DE97-4195-A437-B8AFB75FB5E5}"/>
                </a:ext>
              </a:extLst>
            </p:cNvPr>
            <p:cNvGrpSpPr/>
            <p:nvPr/>
          </p:nvGrpSpPr>
          <p:grpSpPr>
            <a:xfrm>
              <a:off x="4906561" y="2126219"/>
              <a:ext cx="452835" cy="468331"/>
              <a:chOff x="5830418" y="3154323"/>
              <a:chExt cx="513231" cy="530794"/>
            </a:xfrm>
          </p:grpSpPr>
          <p:sp>
            <p:nvSpPr>
              <p:cNvPr id="69" name="Oval 68">
                <a:extLst>
                  <a:ext uri="{FF2B5EF4-FFF2-40B4-BE49-F238E27FC236}">
                    <a16:creationId xmlns:a16="http://schemas.microsoft.com/office/drawing/2014/main" id="{1DBC848B-706F-47CD-AED2-911E48D31180}"/>
                  </a:ext>
                </a:extLst>
              </p:cNvPr>
              <p:cNvSpPr/>
              <p:nvPr/>
            </p:nvSpPr>
            <p:spPr bwMode="auto">
              <a:xfrm>
                <a:off x="6307073" y="3411752"/>
                <a:ext cx="36576" cy="36576"/>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6" name="Oval 145">
                <a:extLst>
                  <a:ext uri="{FF2B5EF4-FFF2-40B4-BE49-F238E27FC236}">
                    <a16:creationId xmlns:a16="http://schemas.microsoft.com/office/drawing/2014/main" id="{ED780CE6-9585-431A-B9BA-708E51C9B430}"/>
                  </a:ext>
                </a:extLst>
              </p:cNvPr>
              <p:cNvSpPr/>
              <p:nvPr/>
            </p:nvSpPr>
            <p:spPr bwMode="auto">
              <a:xfrm>
                <a:off x="6234131" y="3567148"/>
                <a:ext cx="45719" cy="45719"/>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7" name="Oval 146">
                <a:extLst>
                  <a:ext uri="{FF2B5EF4-FFF2-40B4-BE49-F238E27FC236}">
                    <a16:creationId xmlns:a16="http://schemas.microsoft.com/office/drawing/2014/main" id="{891829B9-9F5F-4AE5-935C-A29BFDA07F87}"/>
                  </a:ext>
                </a:extLst>
              </p:cNvPr>
              <p:cNvSpPr/>
              <p:nvPr/>
            </p:nvSpPr>
            <p:spPr bwMode="auto">
              <a:xfrm>
                <a:off x="6068992" y="3630253"/>
                <a:ext cx="54864" cy="54864"/>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8" name="Oval 147">
                <a:extLst>
                  <a:ext uri="{FF2B5EF4-FFF2-40B4-BE49-F238E27FC236}">
                    <a16:creationId xmlns:a16="http://schemas.microsoft.com/office/drawing/2014/main" id="{A5CF3B9A-6A11-4304-A67E-C3506745A335}"/>
                  </a:ext>
                </a:extLst>
              </p:cNvPr>
              <p:cNvSpPr/>
              <p:nvPr/>
            </p:nvSpPr>
            <p:spPr bwMode="auto">
              <a:xfrm>
                <a:off x="5902364" y="3559072"/>
                <a:ext cx="64008" cy="64008"/>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9" name="Oval 148">
                <a:extLst>
                  <a:ext uri="{FF2B5EF4-FFF2-40B4-BE49-F238E27FC236}">
                    <a16:creationId xmlns:a16="http://schemas.microsoft.com/office/drawing/2014/main" id="{3B36D902-0E22-4CFA-9E1B-5B9AB7A0EE65}"/>
                  </a:ext>
                </a:extLst>
              </p:cNvPr>
              <p:cNvSpPr/>
              <p:nvPr/>
            </p:nvSpPr>
            <p:spPr bwMode="auto">
              <a:xfrm>
                <a:off x="5830418" y="3391703"/>
                <a:ext cx="73152" cy="73152"/>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0" name="Oval 149">
                <a:extLst>
                  <a:ext uri="{FF2B5EF4-FFF2-40B4-BE49-F238E27FC236}">
                    <a16:creationId xmlns:a16="http://schemas.microsoft.com/office/drawing/2014/main" id="{8AF4BF1C-5528-4C5A-9C93-B6AD521057E8}"/>
                  </a:ext>
                </a:extLst>
              </p:cNvPr>
              <p:cNvSpPr/>
              <p:nvPr/>
            </p:nvSpPr>
            <p:spPr bwMode="auto">
              <a:xfrm>
                <a:off x="5893220" y="3225769"/>
                <a:ext cx="82296" cy="82296"/>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1" name="Oval 150">
                <a:extLst>
                  <a:ext uri="{FF2B5EF4-FFF2-40B4-BE49-F238E27FC236}">
                    <a16:creationId xmlns:a16="http://schemas.microsoft.com/office/drawing/2014/main" id="{390E7B5E-BD87-4708-B10B-110B490CD5BB}"/>
                  </a:ext>
                </a:extLst>
              </p:cNvPr>
              <p:cNvSpPr/>
              <p:nvPr/>
            </p:nvSpPr>
            <p:spPr bwMode="auto">
              <a:xfrm>
                <a:off x="6050280" y="3154323"/>
                <a:ext cx="91440" cy="91440"/>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2" name="Oval 151">
                <a:extLst>
                  <a:ext uri="{FF2B5EF4-FFF2-40B4-BE49-F238E27FC236}">
                    <a16:creationId xmlns:a16="http://schemas.microsoft.com/office/drawing/2014/main" id="{EC74B6BA-CB93-48F3-B14B-67D284411F5C}"/>
                  </a:ext>
                </a:extLst>
              </p:cNvPr>
              <p:cNvSpPr/>
              <p:nvPr/>
            </p:nvSpPr>
            <p:spPr bwMode="auto">
              <a:xfrm>
                <a:off x="6207547" y="3218346"/>
                <a:ext cx="100584" cy="100584"/>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grpSp>
      <p:grpSp>
        <p:nvGrpSpPr>
          <p:cNvPr id="223" name="Group 222">
            <a:extLst>
              <a:ext uri="{FF2B5EF4-FFF2-40B4-BE49-F238E27FC236}">
                <a16:creationId xmlns:a16="http://schemas.microsoft.com/office/drawing/2014/main" id="{36E6F0E7-ED9F-42C6-A980-C6E26987E536}"/>
              </a:ext>
            </a:extLst>
          </p:cNvPr>
          <p:cNvGrpSpPr/>
          <p:nvPr/>
        </p:nvGrpSpPr>
        <p:grpSpPr>
          <a:xfrm>
            <a:off x="421110" y="1500101"/>
            <a:ext cx="1792850" cy="3965738"/>
            <a:chOff x="421110" y="1500101"/>
            <a:chExt cx="1792850" cy="3965738"/>
          </a:xfrm>
        </p:grpSpPr>
        <p:sp>
          <p:nvSpPr>
            <p:cNvPr id="43" name="Rectangle 42">
              <a:extLst>
                <a:ext uri="{FF2B5EF4-FFF2-40B4-BE49-F238E27FC236}">
                  <a16:creationId xmlns:a16="http://schemas.microsoft.com/office/drawing/2014/main" id="{56AF4F71-C0D9-4738-BEFA-94BEC6596934}"/>
                </a:ext>
              </a:extLst>
            </p:cNvPr>
            <p:cNvSpPr/>
            <p:nvPr/>
          </p:nvSpPr>
          <p:spPr bwMode="auto">
            <a:xfrm>
              <a:off x="421110"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Non-compliance of GDPR will have fines of up to 4% of annual revenue or €20 million per incident.*</a:t>
              </a:r>
            </a:p>
          </p:txBody>
        </p:sp>
        <p:graphicFrame>
          <p:nvGraphicFramePr>
            <p:cNvPr id="45" name="Chart 44">
              <a:extLst>
                <a:ext uri="{FF2B5EF4-FFF2-40B4-BE49-F238E27FC236}">
                  <a16:creationId xmlns:a16="http://schemas.microsoft.com/office/drawing/2014/main" id="{1645696F-0B27-4634-9653-50555EC884B6}"/>
                </a:ext>
              </a:extLst>
            </p:cNvPr>
            <p:cNvGraphicFramePr/>
            <p:nvPr/>
          </p:nvGraphicFramePr>
          <p:xfrm>
            <a:off x="536410" y="1500101"/>
            <a:ext cx="1562250" cy="1737549"/>
          </p:xfrm>
          <a:graphic>
            <a:graphicData uri="http://schemas.openxmlformats.org/drawingml/2006/chart">
              <c:chart xmlns:c="http://schemas.openxmlformats.org/drawingml/2006/chart" xmlns:r="http://schemas.openxmlformats.org/officeDocument/2006/relationships" r:id="rId7"/>
            </a:graphicData>
          </a:graphic>
        </p:graphicFrame>
        <p:sp>
          <p:nvSpPr>
            <p:cNvPr id="46" name="Oval 45">
              <a:extLst>
                <a:ext uri="{FF2B5EF4-FFF2-40B4-BE49-F238E27FC236}">
                  <a16:creationId xmlns:a16="http://schemas.microsoft.com/office/drawing/2014/main" id="{5CAE2E60-90B0-4790-83DE-0AD0624CD01D}"/>
                </a:ext>
              </a:extLst>
            </p:cNvPr>
            <p:cNvSpPr/>
            <p:nvPr/>
          </p:nvSpPr>
          <p:spPr bwMode="auto">
            <a:xfrm>
              <a:off x="893349"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57" name="Group 156">
              <a:extLst>
                <a:ext uri="{FF2B5EF4-FFF2-40B4-BE49-F238E27FC236}">
                  <a16:creationId xmlns:a16="http://schemas.microsoft.com/office/drawing/2014/main" id="{7265C03B-0F01-4B2C-96E1-366D7157DD6E}"/>
                </a:ext>
              </a:extLst>
            </p:cNvPr>
            <p:cNvGrpSpPr/>
            <p:nvPr/>
          </p:nvGrpSpPr>
          <p:grpSpPr>
            <a:xfrm>
              <a:off x="1075296" y="2050288"/>
              <a:ext cx="457376" cy="561966"/>
              <a:chOff x="1075296" y="1728554"/>
              <a:chExt cx="457376" cy="561966"/>
            </a:xfrm>
          </p:grpSpPr>
          <p:sp>
            <p:nvSpPr>
              <p:cNvPr id="53" name="Freeform 29">
                <a:extLst>
                  <a:ext uri="{FF2B5EF4-FFF2-40B4-BE49-F238E27FC236}">
                    <a16:creationId xmlns:a16="http://schemas.microsoft.com/office/drawing/2014/main" id="{D6ED90CD-0C31-4626-8E31-400D7D826E67}"/>
                  </a:ext>
                </a:extLst>
              </p:cNvPr>
              <p:cNvSpPr>
                <a:spLocks/>
              </p:cNvSpPr>
              <p:nvPr/>
            </p:nvSpPr>
            <p:spPr bwMode="auto">
              <a:xfrm>
                <a:off x="1075296" y="2108378"/>
                <a:ext cx="457376" cy="182142"/>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chemeClr val="accent1">
                  <a:alpha val="2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4" name="Freeform: Shape 53">
                <a:extLst>
                  <a:ext uri="{FF2B5EF4-FFF2-40B4-BE49-F238E27FC236}">
                    <a16:creationId xmlns:a16="http://schemas.microsoft.com/office/drawing/2014/main" id="{24BF9722-FA57-4FCA-9687-92DCFE6C5402}"/>
                  </a:ext>
                </a:extLst>
              </p:cNvPr>
              <p:cNvSpPr/>
              <p:nvPr/>
            </p:nvSpPr>
            <p:spPr>
              <a:xfrm rot="10800000">
                <a:off x="1166247" y="1901055"/>
                <a:ext cx="285410" cy="175166"/>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chemeClr val="accent1">
                  <a:alpha val="25000"/>
                </a:scheme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3C3C41"/>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59B53741-E359-4F31-90CD-BEBF347A14A1}"/>
                  </a:ext>
                </a:extLst>
              </p:cNvPr>
              <p:cNvGrpSpPr/>
              <p:nvPr/>
            </p:nvGrpSpPr>
            <p:grpSpPr>
              <a:xfrm>
                <a:off x="1133121" y="1728554"/>
                <a:ext cx="360650" cy="182410"/>
                <a:chOff x="2001225" y="3308284"/>
                <a:chExt cx="413986" cy="209386"/>
              </a:xfrm>
              <a:solidFill>
                <a:srgbClr val="50E6FF"/>
              </a:solidFill>
            </p:grpSpPr>
            <p:sp>
              <p:nvSpPr>
                <p:cNvPr id="56" name="Freeform: Shape 55">
                  <a:extLst>
                    <a:ext uri="{FF2B5EF4-FFF2-40B4-BE49-F238E27FC236}">
                      <a16:creationId xmlns:a16="http://schemas.microsoft.com/office/drawing/2014/main" id="{585E74A3-9AD6-4EEC-B759-0098368C6DDE}"/>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nvGrpSpPr>
                <p:cNvPr id="57" name="Group 56">
                  <a:extLst>
                    <a:ext uri="{FF2B5EF4-FFF2-40B4-BE49-F238E27FC236}">
                      <a16:creationId xmlns:a16="http://schemas.microsoft.com/office/drawing/2014/main" id="{EEE25A5F-4F6F-4BD1-84A2-B192D4EBD8AB}"/>
                    </a:ext>
                  </a:extLst>
                </p:cNvPr>
                <p:cNvGrpSpPr/>
                <p:nvPr/>
              </p:nvGrpSpPr>
              <p:grpSpPr>
                <a:xfrm>
                  <a:off x="2164613" y="3336319"/>
                  <a:ext cx="83583" cy="83583"/>
                  <a:chOff x="2164613" y="3613603"/>
                  <a:chExt cx="83583" cy="83583"/>
                </a:xfrm>
                <a:grpFill/>
              </p:grpSpPr>
              <p:pic>
                <p:nvPicPr>
                  <p:cNvPr id="58" name="Graphic 57">
                    <a:extLst>
                      <a:ext uri="{FF2B5EF4-FFF2-40B4-BE49-F238E27FC236}">
                        <a16:creationId xmlns:a16="http://schemas.microsoft.com/office/drawing/2014/main" id="{7CA5603F-DF51-4930-AD85-D4CEDA95B7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flipV="1">
                    <a:off x="2164613" y="3613603"/>
                    <a:ext cx="83583" cy="83583"/>
                  </a:xfrm>
                  <a:prstGeom prst="rect">
                    <a:avLst/>
                  </a:prstGeom>
                </p:spPr>
              </p:pic>
              <p:sp>
                <p:nvSpPr>
                  <p:cNvPr id="59" name="Oval 58">
                    <a:extLst>
                      <a:ext uri="{FF2B5EF4-FFF2-40B4-BE49-F238E27FC236}">
                        <a16:creationId xmlns:a16="http://schemas.microsoft.com/office/drawing/2014/main" id="{0A27D809-EC33-4D22-BAA5-0280A2DC6CA3}"/>
                      </a:ext>
                    </a:extLst>
                  </p:cNvPr>
                  <p:cNvSpPr/>
                  <p:nvPr/>
                </p:nvSpPr>
                <p:spPr>
                  <a:xfrm>
                    <a:off x="2179131" y="3628334"/>
                    <a:ext cx="52878" cy="52878"/>
                  </a:xfrm>
                  <a:prstGeom prst="ellipse">
                    <a:avLst/>
                  </a:prstGeom>
                  <a:solidFill>
                    <a:srgbClr val="50E6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grpSp>
        </p:grpSp>
        <p:sp>
          <p:nvSpPr>
            <p:cNvPr id="48" name="TextBox 47">
              <a:extLst>
                <a:ext uri="{FF2B5EF4-FFF2-40B4-BE49-F238E27FC236}">
                  <a16:creationId xmlns:a16="http://schemas.microsoft.com/office/drawing/2014/main" id="{6BC07BB3-A18F-4487-BFBA-91D2D2750BBC}"/>
                </a:ext>
              </a:extLst>
            </p:cNvPr>
            <p:cNvSpPr txBox="1"/>
            <p:nvPr/>
          </p:nvSpPr>
          <p:spPr>
            <a:xfrm>
              <a:off x="991109"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4%</a:t>
              </a:r>
            </a:p>
          </p:txBody>
        </p:sp>
      </p:grpSp>
      <p:grpSp>
        <p:nvGrpSpPr>
          <p:cNvPr id="224" name="Group 223">
            <a:extLst>
              <a:ext uri="{FF2B5EF4-FFF2-40B4-BE49-F238E27FC236}">
                <a16:creationId xmlns:a16="http://schemas.microsoft.com/office/drawing/2014/main" id="{887AE250-5225-4F77-A137-3CE5607DDA16}"/>
              </a:ext>
            </a:extLst>
          </p:cNvPr>
          <p:cNvGrpSpPr/>
          <p:nvPr/>
        </p:nvGrpSpPr>
        <p:grpSpPr>
          <a:xfrm>
            <a:off x="2268162" y="1500101"/>
            <a:ext cx="1792850" cy="3965738"/>
            <a:chOff x="2268162" y="1500101"/>
            <a:chExt cx="1792850" cy="3965738"/>
          </a:xfrm>
        </p:grpSpPr>
        <p:sp>
          <p:nvSpPr>
            <p:cNvPr id="18" name="Rectangle 17">
              <a:extLst>
                <a:ext uri="{FF2B5EF4-FFF2-40B4-BE49-F238E27FC236}">
                  <a16:creationId xmlns:a16="http://schemas.microsoft.com/office/drawing/2014/main" id="{2C4EFCF9-A9EA-4384-9E21-5603CE5A2906}"/>
                </a:ext>
              </a:extLst>
            </p:cNvPr>
            <p:cNvSpPr/>
            <p:nvPr/>
          </p:nvSpPr>
          <p:spPr bwMode="auto">
            <a:xfrm>
              <a:off x="2268162"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Leaders are 78% more likely than followers to keep their ERP updated.**</a:t>
              </a:r>
            </a:p>
          </p:txBody>
        </p:sp>
        <p:grpSp>
          <p:nvGrpSpPr>
            <p:cNvPr id="19" name="Group 18">
              <a:extLst>
                <a:ext uri="{FF2B5EF4-FFF2-40B4-BE49-F238E27FC236}">
                  <a16:creationId xmlns:a16="http://schemas.microsoft.com/office/drawing/2014/main" id="{AE4D6B1B-40EB-4F43-B6F3-AA933B778CBE}"/>
                </a:ext>
              </a:extLst>
            </p:cNvPr>
            <p:cNvGrpSpPr/>
            <p:nvPr/>
          </p:nvGrpSpPr>
          <p:grpSpPr>
            <a:xfrm>
              <a:off x="2388882" y="1500101"/>
              <a:ext cx="1562250" cy="1737549"/>
              <a:chOff x="396026" y="2175350"/>
              <a:chExt cx="1593576" cy="1772393"/>
            </a:xfrm>
          </p:grpSpPr>
          <p:graphicFrame>
            <p:nvGraphicFramePr>
              <p:cNvPr id="22" name="Chart 21">
                <a:extLst>
                  <a:ext uri="{FF2B5EF4-FFF2-40B4-BE49-F238E27FC236}">
                    <a16:creationId xmlns:a16="http://schemas.microsoft.com/office/drawing/2014/main" id="{6A5596E3-AC14-49E1-BF98-62BF1DE63563}"/>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10"/>
              </a:graphicData>
            </a:graphic>
          </p:graphicFrame>
          <p:sp>
            <p:nvSpPr>
              <p:cNvPr id="23" name="Oval 22">
                <a:extLst>
                  <a:ext uri="{FF2B5EF4-FFF2-40B4-BE49-F238E27FC236}">
                    <a16:creationId xmlns:a16="http://schemas.microsoft.com/office/drawing/2014/main" id="{33CDCAAE-EED6-4AE6-BD70-4EA3EBA4A53E}"/>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159" name="Group 158">
              <a:extLst>
                <a:ext uri="{FF2B5EF4-FFF2-40B4-BE49-F238E27FC236}">
                  <a16:creationId xmlns:a16="http://schemas.microsoft.com/office/drawing/2014/main" id="{A284669B-1841-4ACB-944C-EBAF26BC3AFB}"/>
                </a:ext>
              </a:extLst>
            </p:cNvPr>
            <p:cNvGrpSpPr/>
            <p:nvPr/>
          </p:nvGrpSpPr>
          <p:grpSpPr>
            <a:xfrm>
              <a:off x="2884030" y="2097073"/>
              <a:ext cx="542442" cy="540113"/>
              <a:chOff x="2868146" y="1774497"/>
              <a:chExt cx="542442" cy="540113"/>
            </a:xfrm>
          </p:grpSpPr>
          <p:grpSp>
            <p:nvGrpSpPr>
              <p:cNvPr id="60" name="Group 59">
                <a:extLst>
                  <a:ext uri="{FF2B5EF4-FFF2-40B4-BE49-F238E27FC236}">
                    <a16:creationId xmlns:a16="http://schemas.microsoft.com/office/drawing/2014/main" id="{B0F297A5-072F-4A51-9736-8EB97A3D631F}"/>
                  </a:ext>
                </a:extLst>
              </p:cNvPr>
              <p:cNvGrpSpPr/>
              <p:nvPr/>
            </p:nvGrpSpPr>
            <p:grpSpPr>
              <a:xfrm>
                <a:off x="3015623" y="1898371"/>
                <a:ext cx="247488" cy="272415"/>
                <a:chOff x="946239" y="3360106"/>
                <a:chExt cx="293157" cy="322684"/>
              </a:xfrm>
              <a:solidFill>
                <a:srgbClr val="50E6FF"/>
              </a:solidFill>
            </p:grpSpPr>
            <p:sp>
              <p:nvSpPr>
                <p:cNvPr id="61" name="Freeform 20">
                  <a:extLst>
                    <a:ext uri="{FF2B5EF4-FFF2-40B4-BE49-F238E27FC236}">
                      <a16:creationId xmlns:a16="http://schemas.microsoft.com/office/drawing/2014/main" id="{6BCEB090-E90B-41EB-AA03-34902C380063}"/>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2" name="Oval 21">
                  <a:extLst>
                    <a:ext uri="{FF2B5EF4-FFF2-40B4-BE49-F238E27FC236}">
                      <a16:creationId xmlns:a16="http://schemas.microsoft.com/office/drawing/2014/main" id="{73376984-7CDC-486F-8DFC-3E47A3F7B70D}"/>
                    </a:ext>
                  </a:extLst>
                </p:cNvPr>
                <p:cNvSpPr>
                  <a:spLocks noChangeArrowheads="1"/>
                </p:cNvSpPr>
                <p:nvPr/>
              </p:nvSpPr>
              <p:spPr bwMode="auto">
                <a:xfrm>
                  <a:off x="1017947" y="3360106"/>
                  <a:ext cx="147633" cy="145524"/>
                </a:xfrm>
                <a:prstGeom prst="ellipse">
                  <a:avLst/>
                </a:pr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4" name="Isosceles Triangle 63">
                  <a:extLst>
                    <a:ext uri="{FF2B5EF4-FFF2-40B4-BE49-F238E27FC236}">
                      <a16:creationId xmlns:a16="http://schemas.microsoft.com/office/drawing/2014/main" id="{CBF4F878-95CF-44CF-96B5-BFCD0D432E03}"/>
                    </a:ext>
                  </a:extLst>
                </p:cNvPr>
                <p:cNvSpPr/>
                <p:nvPr/>
              </p:nvSpPr>
              <p:spPr bwMode="auto">
                <a:xfrm rot="10800000">
                  <a:off x="1069157" y="3627314"/>
                  <a:ext cx="45719" cy="52981"/>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5" name="Isosceles Triangle 64">
                  <a:extLst>
                    <a:ext uri="{FF2B5EF4-FFF2-40B4-BE49-F238E27FC236}">
                      <a16:creationId xmlns:a16="http://schemas.microsoft.com/office/drawing/2014/main" id="{5C59C708-C0F8-462D-9A6B-19F520787D19}"/>
                    </a:ext>
                  </a:extLst>
                </p:cNvPr>
                <p:cNvSpPr/>
                <p:nvPr/>
              </p:nvSpPr>
              <p:spPr bwMode="auto">
                <a:xfrm>
                  <a:off x="1069157" y="3548355"/>
                  <a:ext cx="45719" cy="80309"/>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6" name="Isosceles Triangle 65">
                  <a:extLst>
                    <a:ext uri="{FF2B5EF4-FFF2-40B4-BE49-F238E27FC236}">
                      <a16:creationId xmlns:a16="http://schemas.microsoft.com/office/drawing/2014/main" id="{047898BB-1AB5-4648-B193-CE64E5D8DEE9}"/>
                    </a:ext>
                  </a:extLst>
                </p:cNvPr>
                <p:cNvSpPr/>
                <p:nvPr/>
              </p:nvSpPr>
              <p:spPr bwMode="auto">
                <a:xfrm rot="10800000">
                  <a:off x="1069157" y="3536372"/>
                  <a:ext cx="45719" cy="24093"/>
                </a:xfrm>
                <a:prstGeom prst="triangle">
                  <a:avLst/>
                </a:prstGeom>
                <a:solidFill>
                  <a:srgbClr val="50E6FF">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58" name="Freeform: Shape 157">
                <a:extLst>
                  <a:ext uri="{FF2B5EF4-FFF2-40B4-BE49-F238E27FC236}">
                    <a16:creationId xmlns:a16="http://schemas.microsoft.com/office/drawing/2014/main" id="{A6C7B344-2848-452A-9946-265AC0D06A52}"/>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alpha val="25000"/>
                </a:scheme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0" name="TextBox 19">
              <a:extLst>
                <a:ext uri="{FF2B5EF4-FFF2-40B4-BE49-F238E27FC236}">
                  <a16:creationId xmlns:a16="http://schemas.microsoft.com/office/drawing/2014/main" id="{4B201753-DDC9-4C6E-8C1F-6DE13C55E234}"/>
                </a:ext>
              </a:extLst>
            </p:cNvPr>
            <p:cNvSpPr txBox="1"/>
            <p:nvPr/>
          </p:nvSpPr>
          <p:spPr>
            <a:xfrm>
              <a:off x="2843582"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78%</a:t>
              </a:r>
            </a:p>
          </p:txBody>
        </p:sp>
      </p:grpSp>
      <p:grpSp>
        <p:nvGrpSpPr>
          <p:cNvPr id="226" name="Group 225">
            <a:extLst>
              <a:ext uri="{FF2B5EF4-FFF2-40B4-BE49-F238E27FC236}">
                <a16:creationId xmlns:a16="http://schemas.microsoft.com/office/drawing/2014/main" id="{6A2EE556-044A-4048-B9D0-897B396FEF33}"/>
              </a:ext>
            </a:extLst>
          </p:cNvPr>
          <p:cNvGrpSpPr/>
          <p:nvPr/>
        </p:nvGrpSpPr>
        <p:grpSpPr>
          <a:xfrm>
            <a:off x="6189646" y="1500101"/>
            <a:ext cx="1792850" cy="3954587"/>
            <a:chOff x="6189646" y="1500101"/>
            <a:chExt cx="1792850" cy="3954587"/>
          </a:xfrm>
        </p:grpSpPr>
        <p:sp>
          <p:nvSpPr>
            <p:cNvPr id="25" name="Rectangle 24">
              <a:extLst>
                <a:ext uri="{FF2B5EF4-FFF2-40B4-BE49-F238E27FC236}">
                  <a16:creationId xmlns:a16="http://schemas.microsoft.com/office/drawing/2014/main" id="{8B293969-015A-479B-ADF9-F5306DC99A7A}"/>
                </a:ext>
              </a:extLst>
            </p:cNvPr>
            <p:cNvSpPr/>
            <p:nvPr/>
          </p:nvSpPr>
          <p:spPr bwMode="auto">
            <a:xfrm>
              <a:off x="6189646"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Organizations on the latest ERP release saw 13% improvement in profitability.**</a:t>
              </a:r>
            </a:p>
          </p:txBody>
        </p:sp>
        <p:graphicFrame>
          <p:nvGraphicFramePr>
            <p:cNvPr id="26" name="Chart 25">
              <a:extLst>
                <a:ext uri="{FF2B5EF4-FFF2-40B4-BE49-F238E27FC236}">
                  <a16:creationId xmlns:a16="http://schemas.microsoft.com/office/drawing/2014/main" id="{341AA96A-86B4-447C-8903-EBFCD9F7C4CC}"/>
                </a:ext>
              </a:extLst>
            </p:cNvPr>
            <p:cNvGraphicFramePr/>
            <p:nvPr/>
          </p:nvGraphicFramePr>
          <p:xfrm>
            <a:off x="6321207" y="1500101"/>
            <a:ext cx="1562250" cy="1737549"/>
          </p:xfrm>
          <a:graphic>
            <a:graphicData uri="http://schemas.openxmlformats.org/drawingml/2006/chart">
              <c:chart xmlns:c="http://schemas.openxmlformats.org/drawingml/2006/chart" xmlns:r="http://schemas.openxmlformats.org/officeDocument/2006/relationships" r:id="rId11"/>
            </a:graphicData>
          </a:graphic>
        </p:graphicFrame>
        <p:sp>
          <p:nvSpPr>
            <p:cNvPr id="27" name="Oval 26">
              <a:extLst>
                <a:ext uri="{FF2B5EF4-FFF2-40B4-BE49-F238E27FC236}">
                  <a16:creationId xmlns:a16="http://schemas.microsoft.com/office/drawing/2014/main" id="{FAA95F1E-DF28-431B-BBEC-2DF7127E62C9}"/>
                </a:ext>
              </a:extLst>
            </p:cNvPr>
            <p:cNvSpPr/>
            <p:nvPr/>
          </p:nvSpPr>
          <p:spPr bwMode="auto">
            <a:xfrm>
              <a:off x="6678146"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36" name="Group 160">
              <a:extLst>
                <a:ext uri="{FF2B5EF4-FFF2-40B4-BE49-F238E27FC236}">
                  <a16:creationId xmlns:a16="http://schemas.microsoft.com/office/drawing/2014/main" id="{094CEBA0-1FA5-4362-B094-E642A96F50FD}"/>
                </a:ext>
              </a:extLst>
            </p:cNvPr>
            <p:cNvGrpSpPr>
              <a:grpSpLocks noChangeAspect="1"/>
            </p:cNvGrpSpPr>
            <p:nvPr/>
          </p:nvGrpSpPr>
          <p:grpSpPr bwMode="auto">
            <a:xfrm>
              <a:off x="6856404" y="2133410"/>
              <a:ext cx="463029" cy="459095"/>
              <a:chOff x="3425" y="2301"/>
              <a:chExt cx="353" cy="350"/>
            </a:xfrm>
          </p:grpSpPr>
          <p:sp>
            <p:nvSpPr>
              <p:cNvPr id="137" name="Freeform 161">
                <a:extLst>
                  <a:ext uri="{FF2B5EF4-FFF2-40B4-BE49-F238E27FC236}">
                    <a16:creationId xmlns:a16="http://schemas.microsoft.com/office/drawing/2014/main" id="{E2B48B33-F7E1-44B1-8D99-D6FA05450753}"/>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38" name="Freeform 162">
                <a:extLst>
                  <a:ext uri="{FF2B5EF4-FFF2-40B4-BE49-F238E27FC236}">
                    <a16:creationId xmlns:a16="http://schemas.microsoft.com/office/drawing/2014/main" id="{ED09C9B9-2871-4140-816E-0F4B1451851A}"/>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39" name="Freeform 163">
                <a:extLst>
                  <a:ext uri="{FF2B5EF4-FFF2-40B4-BE49-F238E27FC236}">
                    <a16:creationId xmlns:a16="http://schemas.microsoft.com/office/drawing/2014/main" id="{96161B1F-F5B2-41AD-BBF8-BC532AED60AC}"/>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0" name="Freeform 164">
                <a:extLst>
                  <a:ext uri="{FF2B5EF4-FFF2-40B4-BE49-F238E27FC236}">
                    <a16:creationId xmlns:a16="http://schemas.microsoft.com/office/drawing/2014/main" id="{D52069B9-C0F0-4DB3-AA8F-D786BC3DDEBF}"/>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1" name="Freeform 165">
                <a:extLst>
                  <a:ext uri="{FF2B5EF4-FFF2-40B4-BE49-F238E27FC236}">
                    <a16:creationId xmlns:a16="http://schemas.microsoft.com/office/drawing/2014/main" id="{D930277D-D543-49F1-B33F-80A573A71F9B}"/>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2" name="Freeform 166">
                <a:extLst>
                  <a:ext uri="{FF2B5EF4-FFF2-40B4-BE49-F238E27FC236}">
                    <a16:creationId xmlns:a16="http://schemas.microsoft.com/office/drawing/2014/main" id="{BE33B729-7994-4C76-B640-0966A908AA51}"/>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3" name="Freeform 167">
                <a:extLst>
                  <a:ext uri="{FF2B5EF4-FFF2-40B4-BE49-F238E27FC236}">
                    <a16:creationId xmlns:a16="http://schemas.microsoft.com/office/drawing/2014/main" id="{2DB1C8A2-CF59-4F3F-A19A-F8BB7343E849}"/>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4" name="Freeform 168">
                <a:extLst>
                  <a:ext uri="{FF2B5EF4-FFF2-40B4-BE49-F238E27FC236}">
                    <a16:creationId xmlns:a16="http://schemas.microsoft.com/office/drawing/2014/main" id="{20BF1081-3EF0-4818-B61A-42A2184D521B}"/>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5" name="Freeform 169">
                <a:extLst>
                  <a:ext uri="{FF2B5EF4-FFF2-40B4-BE49-F238E27FC236}">
                    <a16:creationId xmlns:a16="http://schemas.microsoft.com/office/drawing/2014/main" id="{FF9E3F78-8B06-46E7-B096-5C615D89F6F7}"/>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chemeClr val="accent3">
                  <a:alpha val="25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9" name="TextBox 28">
              <a:extLst>
                <a:ext uri="{FF2B5EF4-FFF2-40B4-BE49-F238E27FC236}">
                  <a16:creationId xmlns:a16="http://schemas.microsoft.com/office/drawing/2014/main" id="{EECED044-F176-4F62-979F-966C45725CF6}"/>
                </a:ext>
              </a:extLst>
            </p:cNvPr>
            <p:cNvSpPr txBox="1"/>
            <p:nvPr/>
          </p:nvSpPr>
          <p:spPr>
            <a:xfrm>
              <a:off x="6775906"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13%</a:t>
              </a:r>
            </a:p>
          </p:txBody>
        </p:sp>
      </p:grpSp>
      <p:grpSp>
        <p:nvGrpSpPr>
          <p:cNvPr id="227" name="Group 226">
            <a:extLst>
              <a:ext uri="{FF2B5EF4-FFF2-40B4-BE49-F238E27FC236}">
                <a16:creationId xmlns:a16="http://schemas.microsoft.com/office/drawing/2014/main" id="{C1BB2422-B21D-43F8-81B0-50A4F2E195CD}"/>
              </a:ext>
            </a:extLst>
          </p:cNvPr>
          <p:cNvGrpSpPr/>
          <p:nvPr/>
        </p:nvGrpSpPr>
        <p:grpSpPr>
          <a:xfrm>
            <a:off x="8063800" y="1500101"/>
            <a:ext cx="1792850" cy="3954587"/>
            <a:chOff x="8063800" y="1500101"/>
            <a:chExt cx="1792850" cy="3954587"/>
          </a:xfrm>
        </p:grpSpPr>
        <p:sp>
          <p:nvSpPr>
            <p:cNvPr id="31" name="Rectangle 30">
              <a:extLst>
                <a:ext uri="{FF2B5EF4-FFF2-40B4-BE49-F238E27FC236}">
                  <a16:creationId xmlns:a16="http://schemas.microsoft.com/office/drawing/2014/main" id="{B832BA71-86B1-40A8-AF83-5A7AB56BD254}"/>
                </a:ext>
              </a:extLst>
            </p:cNvPr>
            <p:cNvSpPr/>
            <p:nvPr/>
          </p:nvSpPr>
          <p:spPr bwMode="auto">
            <a:xfrm>
              <a:off x="8063800"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From 2009 to today, there is a 36% increase of organizations who consider cloud solution for their next ERP deployment**</a:t>
              </a:r>
            </a:p>
          </p:txBody>
        </p:sp>
        <p:graphicFrame>
          <p:nvGraphicFramePr>
            <p:cNvPr id="32" name="Chart 31">
              <a:extLst>
                <a:ext uri="{FF2B5EF4-FFF2-40B4-BE49-F238E27FC236}">
                  <a16:creationId xmlns:a16="http://schemas.microsoft.com/office/drawing/2014/main" id="{9B2DA835-D3A5-474F-A61F-1B823A86D3AB}"/>
                </a:ext>
              </a:extLst>
            </p:cNvPr>
            <p:cNvGraphicFramePr/>
            <p:nvPr/>
          </p:nvGraphicFramePr>
          <p:xfrm>
            <a:off x="8173680" y="1500101"/>
            <a:ext cx="1562250" cy="1737549"/>
          </p:xfrm>
          <a:graphic>
            <a:graphicData uri="http://schemas.openxmlformats.org/drawingml/2006/chart">
              <c:chart xmlns:c="http://schemas.openxmlformats.org/drawingml/2006/chart" xmlns:r="http://schemas.openxmlformats.org/officeDocument/2006/relationships" r:id="rId12"/>
            </a:graphicData>
          </a:graphic>
        </p:graphicFrame>
        <p:sp>
          <p:nvSpPr>
            <p:cNvPr id="33" name="Oval 32">
              <a:extLst>
                <a:ext uri="{FF2B5EF4-FFF2-40B4-BE49-F238E27FC236}">
                  <a16:creationId xmlns:a16="http://schemas.microsoft.com/office/drawing/2014/main" id="{E49633ED-5027-433E-9565-A8A8F4FA59DE}"/>
                </a:ext>
              </a:extLst>
            </p:cNvPr>
            <p:cNvSpPr/>
            <p:nvPr/>
          </p:nvSpPr>
          <p:spPr bwMode="auto">
            <a:xfrm>
              <a:off x="8530618"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1" name="Group 160">
              <a:extLst>
                <a:ext uri="{FF2B5EF4-FFF2-40B4-BE49-F238E27FC236}">
                  <a16:creationId xmlns:a16="http://schemas.microsoft.com/office/drawing/2014/main" id="{02995DB3-2EE1-44CD-A566-D1E76FF1B1C7}"/>
                </a:ext>
              </a:extLst>
            </p:cNvPr>
            <p:cNvGrpSpPr/>
            <p:nvPr/>
          </p:nvGrpSpPr>
          <p:grpSpPr>
            <a:xfrm>
              <a:off x="8682367" y="2111637"/>
              <a:ext cx="561157" cy="502642"/>
              <a:chOff x="8635756" y="1836722"/>
              <a:chExt cx="687762" cy="616046"/>
            </a:xfrm>
          </p:grpSpPr>
          <p:sp>
            <p:nvSpPr>
              <p:cNvPr id="134" name="Freeform 52">
                <a:extLst>
                  <a:ext uri="{FF2B5EF4-FFF2-40B4-BE49-F238E27FC236}">
                    <a16:creationId xmlns:a16="http://schemas.microsoft.com/office/drawing/2014/main" id="{7383FA9D-81D1-4A93-81EA-AF04E4D99184}"/>
                  </a:ext>
                </a:extLst>
              </p:cNvPr>
              <p:cNvSpPr>
                <a:spLocks noEditPoints="1"/>
              </p:cNvSpPr>
              <p:nvPr/>
            </p:nvSpPr>
            <p:spPr bwMode="auto">
              <a:xfrm>
                <a:off x="8880685" y="2155276"/>
                <a:ext cx="158935" cy="297492"/>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alpha val="2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60" name="Freeform: Shape 159">
                <a:extLst>
                  <a:ext uri="{FF2B5EF4-FFF2-40B4-BE49-F238E27FC236}">
                    <a16:creationId xmlns:a16="http://schemas.microsoft.com/office/drawing/2014/main" id="{50C6F6FC-57BC-4EC3-B5D8-11BF18DB32CE}"/>
                  </a:ext>
                </a:extLst>
              </p:cNvPr>
              <p:cNvSpPr/>
              <p:nvPr/>
            </p:nvSpPr>
            <p:spPr bwMode="auto">
              <a:xfrm>
                <a:off x="8635756" y="1836722"/>
                <a:ext cx="687762" cy="404273"/>
              </a:xfrm>
              <a:custGeom>
                <a:avLst/>
                <a:gdLst>
                  <a:gd name="connsiteX0" fmla="*/ 279060 w 687762"/>
                  <a:gd name="connsiteY0" fmla="*/ 0 h 404273"/>
                  <a:gd name="connsiteX1" fmla="*/ 349375 w 687762"/>
                  <a:gd name="connsiteY1" fmla="*/ 18803 h 404273"/>
                  <a:gd name="connsiteX2" fmla="*/ 402110 w 687762"/>
                  <a:gd name="connsiteY2" fmla="*/ 72863 h 404273"/>
                  <a:gd name="connsiteX3" fmla="*/ 410899 w 687762"/>
                  <a:gd name="connsiteY3" fmla="*/ 86966 h 404273"/>
                  <a:gd name="connsiteX4" fmla="*/ 424084 w 687762"/>
                  <a:gd name="connsiteY4" fmla="*/ 79914 h 404273"/>
                  <a:gd name="connsiteX5" fmla="*/ 454846 w 687762"/>
                  <a:gd name="connsiteY5" fmla="*/ 68163 h 404273"/>
                  <a:gd name="connsiteX6" fmla="*/ 533949 w 687762"/>
                  <a:gd name="connsiteY6" fmla="*/ 72863 h 404273"/>
                  <a:gd name="connsiteX7" fmla="*/ 571304 w 687762"/>
                  <a:gd name="connsiteY7" fmla="*/ 101068 h 404273"/>
                  <a:gd name="connsiteX8" fmla="*/ 593277 w 687762"/>
                  <a:gd name="connsiteY8" fmla="*/ 141026 h 404273"/>
                  <a:gd name="connsiteX9" fmla="*/ 602067 w 687762"/>
                  <a:gd name="connsiteY9" fmla="*/ 192735 h 404273"/>
                  <a:gd name="connsiteX10" fmla="*/ 599869 w 687762"/>
                  <a:gd name="connsiteY10" fmla="*/ 220940 h 404273"/>
                  <a:gd name="connsiteX11" fmla="*/ 617448 w 687762"/>
                  <a:gd name="connsiteY11" fmla="*/ 220940 h 404273"/>
                  <a:gd name="connsiteX12" fmla="*/ 646013 w 687762"/>
                  <a:gd name="connsiteY12" fmla="*/ 230342 h 404273"/>
                  <a:gd name="connsiteX13" fmla="*/ 667986 w 687762"/>
                  <a:gd name="connsiteY13" fmla="*/ 251495 h 404273"/>
                  <a:gd name="connsiteX14" fmla="*/ 683368 w 687762"/>
                  <a:gd name="connsiteY14" fmla="*/ 279700 h 404273"/>
                  <a:gd name="connsiteX15" fmla="*/ 687762 w 687762"/>
                  <a:gd name="connsiteY15" fmla="*/ 312607 h 404273"/>
                  <a:gd name="connsiteX16" fmla="*/ 683368 w 687762"/>
                  <a:gd name="connsiteY16" fmla="*/ 345513 h 404273"/>
                  <a:gd name="connsiteX17" fmla="*/ 665789 w 687762"/>
                  <a:gd name="connsiteY17" fmla="*/ 376068 h 404273"/>
                  <a:gd name="connsiteX18" fmla="*/ 641618 w 687762"/>
                  <a:gd name="connsiteY18" fmla="*/ 397222 h 404273"/>
                  <a:gd name="connsiteX19" fmla="*/ 613053 w 687762"/>
                  <a:gd name="connsiteY19" fmla="*/ 404273 h 404273"/>
                  <a:gd name="connsiteX20" fmla="*/ 461058 w 687762"/>
                  <a:gd name="connsiteY20" fmla="*/ 404273 h 404273"/>
                  <a:gd name="connsiteX21" fmla="*/ 427567 w 687762"/>
                  <a:gd name="connsiteY21" fmla="*/ 404273 h 404273"/>
                  <a:gd name="connsiteX22" fmla="*/ 406975 w 687762"/>
                  <a:gd name="connsiteY22" fmla="*/ 404273 h 404273"/>
                  <a:gd name="connsiteX23" fmla="*/ 406975 w 687762"/>
                  <a:gd name="connsiteY23" fmla="*/ 352878 h 404273"/>
                  <a:gd name="connsiteX24" fmla="*/ 368680 w 687762"/>
                  <a:gd name="connsiteY24" fmla="*/ 331539 h 404273"/>
                  <a:gd name="connsiteX25" fmla="*/ 353433 w 687762"/>
                  <a:gd name="connsiteY25" fmla="*/ 329456 h 404273"/>
                  <a:gd name="connsiteX26" fmla="*/ 353433 w 687762"/>
                  <a:gd name="connsiteY26" fmla="*/ 297375 h 404273"/>
                  <a:gd name="connsiteX27" fmla="*/ 294061 w 687762"/>
                  <a:gd name="connsiteY27" fmla="*/ 297375 h 404273"/>
                  <a:gd name="connsiteX28" fmla="*/ 294061 w 687762"/>
                  <a:gd name="connsiteY28" fmla="*/ 330976 h 404273"/>
                  <a:gd name="connsiteX29" fmla="*/ 289943 w 687762"/>
                  <a:gd name="connsiteY29" fmla="*/ 331539 h 404273"/>
                  <a:gd name="connsiteX30" fmla="*/ 245443 w 687762"/>
                  <a:gd name="connsiteY30" fmla="*/ 356335 h 404273"/>
                  <a:gd name="connsiteX31" fmla="*/ 240454 w 687762"/>
                  <a:gd name="connsiteY31" fmla="*/ 363358 h 404273"/>
                  <a:gd name="connsiteX32" fmla="*/ 237274 w 687762"/>
                  <a:gd name="connsiteY32" fmla="*/ 365984 h 404273"/>
                  <a:gd name="connsiteX33" fmla="*/ 232752 w 687762"/>
                  <a:gd name="connsiteY33" fmla="*/ 374199 h 404273"/>
                  <a:gd name="connsiteX34" fmla="*/ 232717 w 687762"/>
                  <a:gd name="connsiteY34" fmla="*/ 374248 h 404273"/>
                  <a:gd name="connsiteX35" fmla="*/ 232712 w 687762"/>
                  <a:gd name="connsiteY35" fmla="*/ 374272 h 404273"/>
                  <a:gd name="connsiteX36" fmla="*/ 226209 w 687762"/>
                  <a:gd name="connsiteY36" fmla="*/ 386086 h 404273"/>
                  <a:gd name="connsiteX37" fmla="*/ 223212 w 687762"/>
                  <a:gd name="connsiteY37" fmla="*/ 404273 h 404273"/>
                  <a:gd name="connsiteX38" fmla="*/ 116458 w 687762"/>
                  <a:gd name="connsiteY38" fmla="*/ 404273 h 404273"/>
                  <a:gd name="connsiteX39" fmla="*/ 65920 w 687762"/>
                  <a:gd name="connsiteY39" fmla="*/ 394871 h 404273"/>
                  <a:gd name="connsiteX40" fmla="*/ 30762 w 687762"/>
                  <a:gd name="connsiteY40" fmla="*/ 371367 h 404273"/>
                  <a:gd name="connsiteX41" fmla="*/ 8790 w 687762"/>
                  <a:gd name="connsiteY41" fmla="*/ 331410 h 404273"/>
                  <a:gd name="connsiteX42" fmla="*/ 0 w 687762"/>
                  <a:gd name="connsiteY42" fmla="*/ 277350 h 404273"/>
                  <a:gd name="connsiteX43" fmla="*/ 8790 w 687762"/>
                  <a:gd name="connsiteY43" fmla="*/ 232692 h 404273"/>
                  <a:gd name="connsiteX44" fmla="*/ 32960 w 687762"/>
                  <a:gd name="connsiteY44" fmla="*/ 199786 h 404273"/>
                  <a:gd name="connsiteX45" fmla="*/ 68117 w 687762"/>
                  <a:gd name="connsiteY45" fmla="*/ 176282 h 404273"/>
                  <a:gd name="connsiteX46" fmla="*/ 112063 w 687762"/>
                  <a:gd name="connsiteY46" fmla="*/ 169231 h 404273"/>
                  <a:gd name="connsiteX47" fmla="*/ 127445 w 687762"/>
                  <a:gd name="connsiteY47" fmla="*/ 166880 h 404273"/>
                  <a:gd name="connsiteX48" fmla="*/ 127445 w 687762"/>
                  <a:gd name="connsiteY48" fmla="*/ 152778 h 404273"/>
                  <a:gd name="connsiteX49" fmla="*/ 138431 w 687762"/>
                  <a:gd name="connsiteY49" fmla="*/ 103419 h 404273"/>
                  <a:gd name="connsiteX50" fmla="*/ 162602 w 687762"/>
                  <a:gd name="connsiteY50" fmla="*/ 58761 h 404273"/>
                  <a:gd name="connsiteX51" fmla="*/ 195562 w 687762"/>
                  <a:gd name="connsiteY51" fmla="*/ 25855 h 404273"/>
                  <a:gd name="connsiteX52" fmla="*/ 237311 w 687762"/>
                  <a:gd name="connsiteY52" fmla="*/ 7051 h 404273"/>
                  <a:gd name="connsiteX53" fmla="*/ 279060 w 687762"/>
                  <a:gd name="connsiteY53" fmla="*/ 0 h 4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87762" h="404273">
                    <a:moveTo>
                      <a:pt x="279060" y="0"/>
                    </a:moveTo>
                    <a:cubicBezTo>
                      <a:pt x="305428" y="0"/>
                      <a:pt x="329599" y="7051"/>
                      <a:pt x="349375" y="18803"/>
                    </a:cubicBezTo>
                    <a:cubicBezTo>
                      <a:pt x="369150" y="32906"/>
                      <a:pt x="386729" y="49359"/>
                      <a:pt x="402110" y="72863"/>
                    </a:cubicBezTo>
                    <a:lnTo>
                      <a:pt x="410899" y="86966"/>
                    </a:lnTo>
                    <a:lnTo>
                      <a:pt x="424084" y="79914"/>
                    </a:lnTo>
                    <a:cubicBezTo>
                      <a:pt x="432872" y="75214"/>
                      <a:pt x="441662" y="70513"/>
                      <a:pt x="454846" y="68163"/>
                    </a:cubicBezTo>
                    <a:cubicBezTo>
                      <a:pt x="487806" y="58761"/>
                      <a:pt x="511976" y="63461"/>
                      <a:pt x="533949" y="72863"/>
                    </a:cubicBezTo>
                    <a:cubicBezTo>
                      <a:pt x="549331" y="79914"/>
                      <a:pt x="560317" y="89316"/>
                      <a:pt x="571304" y="101068"/>
                    </a:cubicBezTo>
                    <a:cubicBezTo>
                      <a:pt x="580093" y="110470"/>
                      <a:pt x="588883" y="124573"/>
                      <a:pt x="593277" y="141026"/>
                    </a:cubicBezTo>
                    <a:cubicBezTo>
                      <a:pt x="599869" y="157479"/>
                      <a:pt x="602067" y="173931"/>
                      <a:pt x="602067" y="192735"/>
                    </a:cubicBezTo>
                    <a:lnTo>
                      <a:pt x="599869" y="220940"/>
                    </a:lnTo>
                    <a:lnTo>
                      <a:pt x="617448" y="220940"/>
                    </a:lnTo>
                    <a:cubicBezTo>
                      <a:pt x="628434" y="223290"/>
                      <a:pt x="637224" y="225641"/>
                      <a:pt x="646013" y="230342"/>
                    </a:cubicBezTo>
                    <a:cubicBezTo>
                      <a:pt x="654802" y="235042"/>
                      <a:pt x="663592" y="242094"/>
                      <a:pt x="667986" y="251495"/>
                    </a:cubicBezTo>
                    <a:cubicBezTo>
                      <a:pt x="674578" y="258547"/>
                      <a:pt x="678973" y="267948"/>
                      <a:pt x="683368" y="279700"/>
                    </a:cubicBezTo>
                    <a:cubicBezTo>
                      <a:pt x="685564" y="289102"/>
                      <a:pt x="687762" y="300855"/>
                      <a:pt x="687762" y="312607"/>
                    </a:cubicBezTo>
                    <a:cubicBezTo>
                      <a:pt x="687762" y="324359"/>
                      <a:pt x="685564" y="336111"/>
                      <a:pt x="683368" y="345513"/>
                    </a:cubicBezTo>
                    <a:cubicBezTo>
                      <a:pt x="678973" y="357265"/>
                      <a:pt x="672381" y="366666"/>
                      <a:pt x="665789" y="376068"/>
                    </a:cubicBezTo>
                    <a:cubicBezTo>
                      <a:pt x="659197" y="385470"/>
                      <a:pt x="650408" y="390171"/>
                      <a:pt x="641618" y="397222"/>
                    </a:cubicBezTo>
                    <a:cubicBezTo>
                      <a:pt x="632829" y="401923"/>
                      <a:pt x="624040" y="404273"/>
                      <a:pt x="613053" y="404273"/>
                    </a:cubicBezTo>
                    <a:lnTo>
                      <a:pt x="461058" y="404273"/>
                    </a:lnTo>
                    <a:lnTo>
                      <a:pt x="427567" y="404273"/>
                    </a:lnTo>
                    <a:lnTo>
                      <a:pt x="406975" y="404273"/>
                    </a:lnTo>
                    <a:lnTo>
                      <a:pt x="406975" y="352878"/>
                    </a:lnTo>
                    <a:lnTo>
                      <a:pt x="368680" y="331539"/>
                    </a:lnTo>
                    <a:lnTo>
                      <a:pt x="353433" y="329456"/>
                    </a:lnTo>
                    <a:lnTo>
                      <a:pt x="353433" y="297375"/>
                    </a:lnTo>
                    <a:lnTo>
                      <a:pt x="294061" y="297375"/>
                    </a:lnTo>
                    <a:lnTo>
                      <a:pt x="294061" y="330976"/>
                    </a:lnTo>
                    <a:lnTo>
                      <a:pt x="289943" y="331539"/>
                    </a:lnTo>
                    <a:cubicBezTo>
                      <a:pt x="271792" y="336734"/>
                      <a:pt x="256349" y="345412"/>
                      <a:pt x="245443" y="356335"/>
                    </a:cubicBezTo>
                    <a:lnTo>
                      <a:pt x="240454" y="363358"/>
                    </a:lnTo>
                    <a:lnTo>
                      <a:pt x="237274" y="365984"/>
                    </a:lnTo>
                    <a:lnTo>
                      <a:pt x="232752" y="374199"/>
                    </a:lnTo>
                    <a:lnTo>
                      <a:pt x="232717" y="374248"/>
                    </a:lnTo>
                    <a:lnTo>
                      <a:pt x="232712" y="374272"/>
                    </a:lnTo>
                    <a:lnTo>
                      <a:pt x="226209" y="386086"/>
                    </a:lnTo>
                    <a:lnTo>
                      <a:pt x="223212" y="404273"/>
                    </a:lnTo>
                    <a:lnTo>
                      <a:pt x="116458" y="404273"/>
                    </a:lnTo>
                    <a:cubicBezTo>
                      <a:pt x="96683" y="404273"/>
                      <a:pt x="81301" y="401923"/>
                      <a:pt x="65920" y="394871"/>
                    </a:cubicBezTo>
                    <a:cubicBezTo>
                      <a:pt x="52736" y="390171"/>
                      <a:pt x="39552" y="380769"/>
                      <a:pt x="30762" y="371367"/>
                    </a:cubicBezTo>
                    <a:cubicBezTo>
                      <a:pt x="21973" y="359615"/>
                      <a:pt x="13184" y="345513"/>
                      <a:pt x="8790" y="331410"/>
                    </a:cubicBezTo>
                    <a:cubicBezTo>
                      <a:pt x="4394" y="314957"/>
                      <a:pt x="0" y="298504"/>
                      <a:pt x="0" y="277350"/>
                    </a:cubicBezTo>
                    <a:cubicBezTo>
                      <a:pt x="0" y="260897"/>
                      <a:pt x="4394" y="244444"/>
                      <a:pt x="8790" y="232692"/>
                    </a:cubicBezTo>
                    <a:cubicBezTo>
                      <a:pt x="15381" y="218589"/>
                      <a:pt x="24170" y="209187"/>
                      <a:pt x="32960" y="199786"/>
                    </a:cubicBezTo>
                    <a:cubicBezTo>
                      <a:pt x="43946" y="190384"/>
                      <a:pt x="54933" y="180983"/>
                      <a:pt x="68117" y="176282"/>
                    </a:cubicBezTo>
                    <a:cubicBezTo>
                      <a:pt x="81301" y="171581"/>
                      <a:pt x="96683" y="169231"/>
                      <a:pt x="112063" y="169231"/>
                    </a:cubicBezTo>
                    <a:lnTo>
                      <a:pt x="127445" y="166880"/>
                    </a:lnTo>
                    <a:lnTo>
                      <a:pt x="127445" y="152778"/>
                    </a:lnTo>
                    <a:cubicBezTo>
                      <a:pt x="129642" y="133974"/>
                      <a:pt x="131839" y="117521"/>
                      <a:pt x="138431" y="103419"/>
                    </a:cubicBezTo>
                    <a:cubicBezTo>
                      <a:pt x="145023" y="86966"/>
                      <a:pt x="151615" y="72863"/>
                      <a:pt x="162602" y="58761"/>
                    </a:cubicBezTo>
                    <a:cubicBezTo>
                      <a:pt x="171391" y="47008"/>
                      <a:pt x="182378" y="35256"/>
                      <a:pt x="195562" y="25855"/>
                    </a:cubicBezTo>
                    <a:cubicBezTo>
                      <a:pt x="206548" y="16453"/>
                      <a:pt x="221930" y="9402"/>
                      <a:pt x="237311" y="7051"/>
                    </a:cubicBezTo>
                    <a:cubicBezTo>
                      <a:pt x="250495" y="2350"/>
                      <a:pt x="265876" y="0"/>
                      <a:pt x="279060" y="0"/>
                    </a:cubicBezTo>
                    <a:close/>
                  </a:path>
                </a:pathLst>
              </a:cu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4" name="TextBox 33">
              <a:extLst>
                <a:ext uri="{FF2B5EF4-FFF2-40B4-BE49-F238E27FC236}">
                  <a16:creationId xmlns:a16="http://schemas.microsoft.com/office/drawing/2014/main" id="{687F3831-4F3E-41E6-A71F-2D77F94B2594}"/>
                </a:ext>
              </a:extLst>
            </p:cNvPr>
            <p:cNvSpPr txBox="1"/>
            <p:nvPr/>
          </p:nvSpPr>
          <p:spPr>
            <a:xfrm>
              <a:off x="8650414" y="2205946"/>
              <a:ext cx="60878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36%</a:t>
              </a:r>
            </a:p>
          </p:txBody>
        </p:sp>
      </p:grpSp>
    </p:spTree>
    <p:extLst>
      <p:ext uri="{BB962C8B-B14F-4D97-AF65-F5344CB8AC3E}">
        <p14:creationId xmlns:p14="http://schemas.microsoft.com/office/powerpoint/2010/main" val="1372413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50"/>
                                        <p:tgtEl>
                                          <p:spTgt spid="5"/>
                                        </p:tgtEl>
                                      </p:cBhvr>
                                    </p:animEffect>
                                    <p:anim calcmode="lin" valueType="num">
                                      <p:cBhvr>
                                        <p:cTn id="14" dur="750" fill="hold"/>
                                        <p:tgtEl>
                                          <p:spTgt spid="5"/>
                                        </p:tgtEl>
                                        <p:attrNameLst>
                                          <p:attrName>ppt_x</p:attrName>
                                        </p:attrNameLst>
                                      </p:cBhvr>
                                      <p:tavLst>
                                        <p:tav tm="0">
                                          <p:val>
                                            <p:strVal val="#ppt_x"/>
                                          </p:val>
                                        </p:tav>
                                        <p:tav tm="100000">
                                          <p:val>
                                            <p:strVal val="#ppt_x"/>
                                          </p:val>
                                        </p:tav>
                                      </p:tavLst>
                                    </p:anim>
                                    <p:anim calcmode="lin" valueType="num">
                                      <p:cBhvr>
                                        <p:cTn id="15" dur="75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24"/>
                                        </p:tgtEl>
                                        <p:attrNameLst>
                                          <p:attrName>style.visibility</p:attrName>
                                        </p:attrNameLst>
                                      </p:cBhvr>
                                      <p:to>
                                        <p:strVal val="visible"/>
                                      </p:to>
                                    </p:set>
                                    <p:animEffect transition="in" filter="fade">
                                      <p:cBhvr>
                                        <p:cTn id="18" dur="1000"/>
                                        <p:tgtEl>
                                          <p:spTgt spid="224"/>
                                        </p:tgtEl>
                                      </p:cBhvr>
                                    </p:animEffect>
                                    <p:anim calcmode="lin" valueType="num">
                                      <p:cBhvr>
                                        <p:cTn id="19" dur="1000" fill="hold"/>
                                        <p:tgtEl>
                                          <p:spTgt spid="224"/>
                                        </p:tgtEl>
                                        <p:attrNameLst>
                                          <p:attrName>ppt_x</p:attrName>
                                        </p:attrNameLst>
                                      </p:cBhvr>
                                      <p:tavLst>
                                        <p:tav tm="0">
                                          <p:val>
                                            <p:strVal val="#ppt_x"/>
                                          </p:val>
                                        </p:tav>
                                        <p:tav tm="100000">
                                          <p:val>
                                            <p:strVal val="#ppt_x"/>
                                          </p:val>
                                        </p:tav>
                                      </p:tavLst>
                                    </p:anim>
                                    <p:anim calcmode="lin" valueType="num">
                                      <p:cBhvr>
                                        <p:cTn id="20" dur="1000" fill="hold"/>
                                        <p:tgtEl>
                                          <p:spTgt spid="224"/>
                                        </p:tgtEl>
                                        <p:attrNameLst>
                                          <p:attrName>ppt_y</p:attrName>
                                        </p:attrNameLst>
                                      </p:cBhvr>
                                      <p:tavLst>
                                        <p:tav tm="0">
                                          <p:val>
                                            <p:strVal val="#ppt_y+.1"/>
                                          </p:val>
                                        </p:tav>
                                        <p:tav tm="100000">
                                          <p:val>
                                            <p:strVal val="#ppt_y"/>
                                          </p:val>
                                        </p:tav>
                                      </p:tavLst>
                                    </p:anim>
                                  </p:childTnLst>
                                </p:cTn>
                              </p:par>
                            </p:childTnLst>
                          </p:cTn>
                        </p:par>
                        <p:par>
                          <p:cTn id="21" fill="hold">
                            <p:stCondLst>
                              <p:cond delay="3000"/>
                            </p:stCondLst>
                            <p:childTnLst>
                              <p:par>
                                <p:cTn id="22" presetID="42"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25"/>
                                        </p:tgtEl>
                                        <p:attrNameLst>
                                          <p:attrName>style.visibility</p:attrName>
                                        </p:attrNameLst>
                                      </p:cBhvr>
                                      <p:to>
                                        <p:strVal val="visible"/>
                                      </p:to>
                                    </p:set>
                                    <p:animEffect transition="in" filter="fade">
                                      <p:cBhvr>
                                        <p:cTn id="29" dur="1000"/>
                                        <p:tgtEl>
                                          <p:spTgt spid="225"/>
                                        </p:tgtEl>
                                      </p:cBhvr>
                                    </p:animEffect>
                                    <p:anim calcmode="lin" valueType="num">
                                      <p:cBhvr>
                                        <p:cTn id="30" dur="1000" fill="hold"/>
                                        <p:tgtEl>
                                          <p:spTgt spid="225"/>
                                        </p:tgtEl>
                                        <p:attrNameLst>
                                          <p:attrName>ppt_x</p:attrName>
                                        </p:attrNameLst>
                                      </p:cBhvr>
                                      <p:tavLst>
                                        <p:tav tm="0">
                                          <p:val>
                                            <p:strVal val="#ppt_x"/>
                                          </p:val>
                                        </p:tav>
                                        <p:tav tm="100000">
                                          <p:val>
                                            <p:strVal val="#ppt_x"/>
                                          </p:val>
                                        </p:tav>
                                      </p:tavLst>
                                    </p:anim>
                                    <p:anim calcmode="lin" valueType="num">
                                      <p:cBhvr>
                                        <p:cTn id="31" dur="1000" fill="hold"/>
                                        <p:tgtEl>
                                          <p:spTgt spid="225"/>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750"/>
                                        <p:tgtEl>
                                          <p:spTgt spid="7"/>
                                        </p:tgtEl>
                                      </p:cBhvr>
                                    </p:animEffect>
                                    <p:anim calcmode="lin" valueType="num">
                                      <p:cBhvr>
                                        <p:cTn id="36" dur="750" fill="hold"/>
                                        <p:tgtEl>
                                          <p:spTgt spid="7"/>
                                        </p:tgtEl>
                                        <p:attrNameLst>
                                          <p:attrName>ppt_x</p:attrName>
                                        </p:attrNameLst>
                                      </p:cBhvr>
                                      <p:tavLst>
                                        <p:tav tm="0">
                                          <p:val>
                                            <p:strVal val="#ppt_x"/>
                                          </p:val>
                                        </p:tav>
                                        <p:tav tm="100000">
                                          <p:val>
                                            <p:strVal val="#ppt_x"/>
                                          </p:val>
                                        </p:tav>
                                      </p:tavLst>
                                    </p:anim>
                                    <p:anim calcmode="lin" valueType="num">
                                      <p:cBhvr>
                                        <p:cTn id="37" dur="75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26"/>
                                        </p:tgtEl>
                                        <p:attrNameLst>
                                          <p:attrName>style.visibility</p:attrName>
                                        </p:attrNameLst>
                                      </p:cBhvr>
                                      <p:to>
                                        <p:strVal val="visible"/>
                                      </p:to>
                                    </p:set>
                                    <p:animEffect transition="in" filter="fade">
                                      <p:cBhvr>
                                        <p:cTn id="40" dur="1000"/>
                                        <p:tgtEl>
                                          <p:spTgt spid="226"/>
                                        </p:tgtEl>
                                      </p:cBhvr>
                                    </p:animEffect>
                                    <p:anim calcmode="lin" valueType="num">
                                      <p:cBhvr>
                                        <p:cTn id="41" dur="1000" fill="hold"/>
                                        <p:tgtEl>
                                          <p:spTgt spid="226"/>
                                        </p:tgtEl>
                                        <p:attrNameLst>
                                          <p:attrName>ppt_x</p:attrName>
                                        </p:attrNameLst>
                                      </p:cBhvr>
                                      <p:tavLst>
                                        <p:tav tm="0">
                                          <p:val>
                                            <p:strVal val="#ppt_x"/>
                                          </p:val>
                                        </p:tav>
                                        <p:tav tm="100000">
                                          <p:val>
                                            <p:strVal val="#ppt_x"/>
                                          </p:val>
                                        </p:tav>
                                      </p:tavLst>
                                    </p:anim>
                                    <p:anim calcmode="lin" valueType="num">
                                      <p:cBhvr>
                                        <p:cTn id="42" dur="1000" fill="hold"/>
                                        <p:tgtEl>
                                          <p:spTgt spid="226"/>
                                        </p:tgtEl>
                                        <p:attrNameLst>
                                          <p:attrName>ppt_y</p:attrName>
                                        </p:attrNameLst>
                                      </p:cBhvr>
                                      <p:tavLst>
                                        <p:tav tm="0">
                                          <p:val>
                                            <p:strVal val="#ppt_y+.1"/>
                                          </p:val>
                                        </p:tav>
                                        <p:tav tm="100000">
                                          <p:val>
                                            <p:strVal val="#ppt_y"/>
                                          </p:val>
                                        </p:tav>
                                      </p:tavLst>
                                    </p:anim>
                                  </p:childTnLst>
                                </p:cTn>
                              </p:par>
                            </p:childTnLst>
                          </p:cTn>
                        </p:par>
                        <p:par>
                          <p:cTn id="43" fill="hold">
                            <p:stCondLst>
                              <p:cond delay="5000"/>
                            </p:stCondLst>
                            <p:childTnLst>
                              <p:par>
                                <p:cTn id="44" presetID="42" presetClass="entr" presetSubtype="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750"/>
                                        <p:tgtEl>
                                          <p:spTgt spid="8"/>
                                        </p:tgtEl>
                                      </p:cBhvr>
                                    </p:animEffect>
                                    <p:anim calcmode="lin" valueType="num">
                                      <p:cBhvr>
                                        <p:cTn id="47" dur="750" fill="hold"/>
                                        <p:tgtEl>
                                          <p:spTgt spid="8"/>
                                        </p:tgtEl>
                                        <p:attrNameLst>
                                          <p:attrName>ppt_x</p:attrName>
                                        </p:attrNameLst>
                                      </p:cBhvr>
                                      <p:tavLst>
                                        <p:tav tm="0">
                                          <p:val>
                                            <p:strVal val="#ppt_x"/>
                                          </p:val>
                                        </p:tav>
                                        <p:tav tm="100000">
                                          <p:val>
                                            <p:strVal val="#ppt_x"/>
                                          </p:val>
                                        </p:tav>
                                      </p:tavLst>
                                    </p:anim>
                                    <p:anim calcmode="lin" valueType="num">
                                      <p:cBhvr>
                                        <p:cTn id="48" dur="750" fill="hold"/>
                                        <p:tgtEl>
                                          <p:spTgt spid="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27"/>
                                        </p:tgtEl>
                                        <p:attrNameLst>
                                          <p:attrName>style.visibility</p:attrName>
                                        </p:attrNameLst>
                                      </p:cBhvr>
                                      <p:to>
                                        <p:strVal val="visible"/>
                                      </p:to>
                                    </p:set>
                                    <p:animEffect transition="in" filter="fade">
                                      <p:cBhvr>
                                        <p:cTn id="51" dur="1000"/>
                                        <p:tgtEl>
                                          <p:spTgt spid="227"/>
                                        </p:tgtEl>
                                      </p:cBhvr>
                                    </p:animEffect>
                                    <p:anim calcmode="lin" valueType="num">
                                      <p:cBhvr>
                                        <p:cTn id="52" dur="1000" fill="hold"/>
                                        <p:tgtEl>
                                          <p:spTgt spid="227"/>
                                        </p:tgtEl>
                                        <p:attrNameLst>
                                          <p:attrName>ppt_x</p:attrName>
                                        </p:attrNameLst>
                                      </p:cBhvr>
                                      <p:tavLst>
                                        <p:tav tm="0">
                                          <p:val>
                                            <p:strVal val="#ppt_x"/>
                                          </p:val>
                                        </p:tav>
                                        <p:tav tm="100000">
                                          <p:val>
                                            <p:strVal val="#ppt_x"/>
                                          </p:val>
                                        </p:tav>
                                      </p:tavLst>
                                    </p:anim>
                                    <p:anim calcmode="lin" valueType="num">
                                      <p:cBhvr>
                                        <p:cTn id="53" dur="1000" fill="hold"/>
                                        <p:tgtEl>
                                          <p:spTgt spid="227"/>
                                        </p:tgtEl>
                                        <p:attrNameLst>
                                          <p:attrName>ppt_y</p:attrName>
                                        </p:attrNameLst>
                                      </p:cBhvr>
                                      <p:tavLst>
                                        <p:tav tm="0">
                                          <p:val>
                                            <p:strVal val="#ppt_y+.1"/>
                                          </p:val>
                                        </p:tav>
                                        <p:tav tm="100000">
                                          <p:val>
                                            <p:strVal val="#ppt_y"/>
                                          </p:val>
                                        </p:tav>
                                      </p:tavLst>
                                    </p:anim>
                                  </p:childTnLst>
                                </p:cTn>
                              </p:par>
                            </p:childTnLst>
                          </p:cTn>
                        </p:par>
                        <p:par>
                          <p:cTn id="54" fill="hold">
                            <p:stCondLst>
                              <p:cond delay="6000"/>
                            </p:stCondLst>
                            <p:childTnLst>
                              <p:par>
                                <p:cTn id="55" presetID="42" presetClass="entr" presetSubtype="0" fill="hold"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750"/>
                                        <p:tgtEl>
                                          <p:spTgt spid="9"/>
                                        </p:tgtEl>
                                      </p:cBhvr>
                                    </p:animEffect>
                                    <p:anim calcmode="lin" valueType="num">
                                      <p:cBhvr>
                                        <p:cTn id="58" dur="750" fill="hold"/>
                                        <p:tgtEl>
                                          <p:spTgt spid="9"/>
                                        </p:tgtEl>
                                        <p:attrNameLst>
                                          <p:attrName>ppt_x</p:attrName>
                                        </p:attrNameLst>
                                      </p:cBhvr>
                                      <p:tavLst>
                                        <p:tav tm="0">
                                          <p:val>
                                            <p:strVal val="#ppt_x"/>
                                          </p:val>
                                        </p:tav>
                                        <p:tav tm="100000">
                                          <p:val>
                                            <p:strVal val="#ppt_x"/>
                                          </p:val>
                                        </p:tav>
                                      </p:tavLst>
                                    </p:anim>
                                    <p:anim calcmode="lin" valueType="num">
                                      <p:cBhvr>
                                        <p:cTn id="59" dur="750" fill="hold"/>
                                        <p:tgtEl>
                                          <p:spTgt spid="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28"/>
                                        </p:tgtEl>
                                        <p:attrNameLst>
                                          <p:attrName>style.visibility</p:attrName>
                                        </p:attrNameLst>
                                      </p:cBhvr>
                                      <p:to>
                                        <p:strVal val="visible"/>
                                      </p:to>
                                    </p:set>
                                    <p:animEffect transition="in" filter="fade">
                                      <p:cBhvr>
                                        <p:cTn id="62" dur="1000"/>
                                        <p:tgtEl>
                                          <p:spTgt spid="228"/>
                                        </p:tgtEl>
                                      </p:cBhvr>
                                    </p:animEffect>
                                    <p:anim calcmode="lin" valueType="num">
                                      <p:cBhvr>
                                        <p:cTn id="63" dur="1000" fill="hold"/>
                                        <p:tgtEl>
                                          <p:spTgt spid="228"/>
                                        </p:tgtEl>
                                        <p:attrNameLst>
                                          <p:attrName>ppt_x</p:attrName>
                                        </p:attrNameLst>
                                      </p:cBhvr>
                                      <p:tavLst>
                                        <p:tav tm="0">
                                          <p:val>
                                            <p:strVal val="#ppt_x"/>
                                          </p:val>
                                        </p:tav>
                                        <p:tav tm="100000">
                                          <p:val>
                                            <p:strVal val="#ppt_x"/>
                                          </p:val>
                                        </p:tav>
                                      </p:tavLst>
                                    </p:anim>
                                    <p:anim calcmode="lin" valueType="num">
                                      <p:cBhvr>
                                        <p:cTn id="64" dur="1000" fill="hold"/>
                                        <p:tgtEl>
                                          <p:spTgt spid="228"/>
                                        </p:tgtEl>
                                        <p:attrNameLst>
                                          <p:attrName>ppt_y</p:attrName>
                                        </p:attrNameLst>
                                      </p:cBhvr>
                                      <p:tavLst>
                                        <p:tav tm="0">
                                          <p:val>
                                            <p:strVal val="#ppt_y+.1"/>
                                          </p:val>
                                        </p:tav>
                                        <p:tav tm="100000">
                                          <p:val>
                                            <p:strVal val="#ppt_y"/>
                                          </p:val>
                                        </p:tav>
                                      </p:tavLst>
                                    </p:anim>
                                  </p:childTnLst>
                                </p:cTn>
                              </p:par>
                            </p:childTnLst>
                          </p:cTn>
                        </p:par>
                        <p:par>
                          <p:cTn id="65" fill="hold">
                            <p:stCondLst>
                              <p:cond delay="7000"/>
                            </p:stCondLst>
                            <p:childTnLst>
                              <p:par>
                                <p:cTn id="66" presetID="10" presetClass="entr" presetSubtype="0" fill="hold" grpId="0" nodeType="afterEffect">
                                  <p:stCondLst>
                                    <p:cond delay="0"/>
                                  </p:stCondLst>
                                  <p:childTnLst>
                                    <p:set>
                                      <p:cBhvr>
                                        <p:cTn id="67" dur="1" fill="hold">
                                          <p:stCondLst>
                                            <p:cond delay="0"/>
                                          </p:stCondLst>
                                        </p:cTn>
                                        <p:tgtEl>
                                          <p:spTgt spid="50">
                                            <p:txEl>
                                              <p:pRg st="0" end="0"/>
                                            </p:txEl>
                                          </p:spTgt>
                                        </p:tgtEl>
                                        <p:attrNameLst>
                                          <p:attrName>style.visibility</p:attrName>
                                        </p:attrNameLst>
                                      </p:cBhvr>
                                      <p:to>
                                        <p:strVal val="visible"/>
                                      </p:to>
                                    </p:set>
                                    <p:animEffect transition="in" filter="fade">
                                      <p:cBhvr>
                                        <p:cTn id="68" dur="500"/>
                                        <p:tgtEl>
                                          <p:spTgt spid="50">
                                            <p:txEl>
                                              <p:pRg st="0" end="0"/>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0">
                                            <p:txEl>
                                              <p:pRg st="1" end="1"/>
                                            </p:txEl>
                                          </p:spTgt>
                                        </p:tgtEl>
                                        <p:attrNameLst>
                                          <p:attrName>style.visibility</p:attrName>
                                        </p:attrNameLst>
                                      </p:cBhvr>
                                      <p:to>
                                        <p:strVal val="visible"/>
                                      </p:to>
                                    </p:set>
                                    <p:animEffect transition="in" filter="fade">
                                      <p:cBhvr>
                                        <p:cTn id="71" dur="500"/>
                                        <p:tgtEl>
                                          <p:spTgt spid="50">
                                            <p:txEl>
                                              <p:pRg st="1" end="1"/>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0">
                                            <p:txEl>
                                              <p:pRg st="2" end="2"/>
                                            </p:txEl>
                                          </p:spTgt>
                                        </p:tgtEl>
                                        <p:attrNameLst>
                                          <p:attrName>style.visibility</p:attrName>
                                        </p:attrNameLst>
                                      </p:cBhvr>
                                      <p:to>
                                        <p:strVal val="visible"/>
                                      </p:to>
                                    </p:set>
                                    <p:animEffect transition="in" filter="fade">
                                      <p:cBhvr>
                                        <p:cTn id="74" dur="500"/>
                                        <p:tgtEl>
                                          <p:spTgt spid="50">
                                            <p:txEl>
                                              <p:pRg st="2" end="2"/>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0">
                                            <p:txEl>
                                              <p:pRg st="3" end="3"/>
                                            </p:txEl>
                                          </p:spTgt>
                                        </p:tgtEl>
                                        <p:attrNameLst>
                                          <p:attrName>style.visibility</p:attrName>
                                        </p:attrNameLst>
                                      </p:cBhvr>
                                      <p:to>
                                        <p:strVal val="visible"/>
                                      </p:to>
                                    </p:set>
                                    <p:animEffect transition="in" filter="fade">
                                      <p:cBhvr>
                                        <p:cTn id="77" dur="500"/>
                                        <p:tgtEl>
                                          <p:spTgt spid="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 name="Table 67">
            <a:extLst>
              <a:ext uri="{FF2B5EF4-FFF2-40B4-BE49-F238E27FC236}">
                <a16:creationId xmlns:a16="http://schemas.microsoft.com/office/drawing/2014/main" id="{66AE5398-E03D-48C7-9F1D-D0612E3B112E}"/>
              </a:ext>
            </a:extLst>
          </p:cNvPr>
          <p:cNvGraphicFramePr>
            <a:graphicFrameLocks noGrp="1"/>
          </p:cNvGraphicFramePr>
          <p:nvPr/>
        </p:nvGraphicFramePr>
        <p:xfrm>
          <a:off x="264524" y="1015321"/>
          <a:ext cx="11655840" cy="5606573"/>
        </p:xfrm>
        <a:graphic>
          <a:graphicData uri="http://schemas.openxmlformats.org/drawingml/2006/table">
            <a:tbl>
              <a:tblPr/>
              <a:tblGrid>
                <a:gridCol w="1983480">
                  <a:extLst>
                    <a:ext uri="{9D8B030D-6E8A-4147-A177-3AD203B41FA5}">
                      <a16:colId xmlns:a16="http://schemas.microsoft.com/office/drawing/2014/main" val="3352310052"/>
                    </a:ext>
                  </a:extLst>
                </a:gridCol>
                <a:gridCol w="779224">
                  <a:extLst>
                    <a:ext uri="{9D8B030D-6E8A-4147-A177-3AD203B41FA5}">
                      <a16:colId xmlns:a16="http://schemas.microsoft.com/office/drawing/2014/main" val="1495208752"/>
                    </a:ext>
                  </a:extLst>
                </a:gridCol>
                <a:gridCol w="1469381">
                  <a:extLst>
                    <a:ext uri="{9D8B030D-6E8A-4147-A177-3AD203B41FA5}">
                      <a16:colId xmlns:a16="http://schemas.microsoft.com/office/drawing/2014/main" val="2340801713"/>
                    </a:ext>
                  </a:extLst>
                </a:gridCol>
                <a:gridCol w="7423755">
                  <a:extLst>
                    <a:ext uri="{9D8B030D-6E8A-4147-A177-3AD203B41FA5}">
                      <a16:colId xmlns:a16="http://schemas.microsoft.com/office/drawing/2014/main" val="1460705670"/>
                    </a:ext>
                  </a:extLst>
                </a:gridCol>
              </a:tblGrid>
              <a:tr h="287740">
                <a:tc>
                  <a:txBody>
                    <a:bodyPr/>
                    <a:lstStyle/>
                    <a:p>
                      <a:pPr marL="0" algn="l" defTabSz="932742" rtl="0" eaLnBrk="1" latinLnBrk="0" hangingPunct="1">
                        <a:defRPr>
                          <a:solidFill>
                            <a:schemeClr val="accent1"/>
                          </a:solidFill>
                          <a:latin typeface="+mj-lt"/>
                        </a:defRPr>
                      </a:pPr>
                      <a:r>
                        <a:t>Strategies</a:t>
                      </a:r>
                      <a:endParaRPr sz="1800" kern="1200">
                        <a:solidFill>
                          <a:schemeClr val="accent1"/>
                        </a:solidFill>
                        <a:latin typeface="+mj-lt"/>
                        <a:ea typeface="+mn-ea"/>
                        <a:cs typeface="+mn-cs"/>
                      </a:endParaRPr>
                    </a:p>
                  </a:txBody>
                  <a:tcPr marT="91440" marB="91440"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32742" rtl="0" eaLnBrk="1" latinLnBrk="0" hangingPunct="1">
                        <a:defRPr>
                          <a:solidFill>
                            <a:schemeClr val="accent1"/>
                          </a:solidFill>
                          <a:latin typeface="+mj-lt"/>
                        </a:defRPr>
                      </a:pPr>
                      <a:r>
                        <a:t>Tactics</a:t>
                      </a:r>
                      <a:endParaRPr sz="1800" kern="1200">
                        <a:solidFill>
                          <a:schemeClr val="accent1"/>
                        </a:solidFill>
                        <a:latin typeface="+mj-lt"/>
                        <a:ea typeface="+mn-ea"/>
                        <a:cs typeface="+mn-cs"/>
                      </a:endParaRP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32742" rtl="0" eaLnBrk="1" latinLnBrk="0" hangingPunct="1"/>
                      <a:endParaRPr sz="1050" b="1" kern="1200">
                        <a:solidFill>
                          <a:schemeClr val="bg1"/>
                        </a:solidFill>
                        <a:latin typeface="+mn-lt"/>
                        <a:ea typeface="+mn-ea"/>
                        <a:cs typeface="+mn-cs"/>
                      </a:endParaRPr>
                    </a:p>
                  </a:txBody>
                  <a:tcPr marL="137160" marR="137160" marT="137160" marB="137160">
                    <a:solidFill>
                      <a:srgbClr val="353535"/>
                    </a:solidFill>
                  </a:tcPr>
                </a:tc>
                <a:tc>
                  <a:txBody>
                    <a:bodyPr/>
                    <a:lstStyle/>
                    <a:p>
                      <a:pPr marL="0" algn="l" defTabSz="932742" rtl="0" eaLnBrk="1" latinLnBrk="0" hangingPunct="1">
                        <a:defRPr>
                          <a:solidFill>
                            <a:schemeClr val="accent1"/>
                          </a:solidFill>
                          <a:latin typeface="+mj-lt"/>
                        </a:defRPr>
                      </a:pPr>
                      <a:r>
                        <a:t>Capabilities</a:t>
                      </a:r>
                    </a:p>
                  </a:txBody>
                  <a:tcPr marT="91440" marB="9144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041983"/>
                  </a:ext>
                </a:extLst>
              </a:tr>
              <a:tr h="636020">
                <a:tc rowSpan="4">
                  <a:txBody>
                    <a:bodyPr/>
                    <a:lstStyle/>
                    <a:p>
                      <a:pPr marL="0" algn="l" defTabSz="932742" rtl="0" eaLnBrk="1" latinLnBrk="0" hangingPunct="1">
                        <a:defRPr sz="1600">
                          <a:solidFill>
                            <a:schemeClr val="bg1"/>
                          </a:solidFill>
                          <a:latin typeface="+mj-lt"/>
                        </a:defRPr>
                      </a:pPr>
                      <a:r>
                        <a:t>Improved user</a:t>
                      </a:r>
                    </a:p>
                    <a:p>
                      <a:pPr marL="0" algn="l" defTabSz="932742" rtl="0" eaLnBrk="1" latinLnBrk="0" hangingPunct="1">
                        <a:defRPr sz="1600">
                          <a:solidFill>
                            <a:schemeClr val="bg1"/>
                          </a:solidFill>
                          <a:latin typeface="+mj-lt"/>
                        </a:defRPr>
                      </a:pPr>
                      <a:r>
                        <a:t>Experience</a:t>
                      </a:r>
                      <a:br>
                        <a:rPr lang="en-GB" sz="1600" kern="1200" dirty="0">
                          <a:solidFill>
                            <a:schemeClr val="bg1"/>
                          </a:solidFill>
                          <a:latin typeface="+mj-lt"/>
                          <a:ea typeface="+mn-ea"/>
                          <a:cs typeface="+mn-cs"/>
                        </a:rPr>
                      </a:br>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Workspace</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a:defRPr sz="1200"/>
                      </a:pPr>
                      <a:r>
                        <a:t>Able to create, manage, and publish your own personalized views: Empower employees with role-based workspaces that provide intelligent automation, task prioritization, and integration with Office 365 applications to maximize efficiency for superior business outcome.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541018"/>
                  </a:ext>
                </a:extLst>
              </a:tr>
              <a:tr h="558507">
                <a:tc vMerge="1">
                  <a:txBody>
                    <a:bodyPr/>
                    <a:lstStyle/>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Streamline</a:t>
                      </a:r>
                    </a:p>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process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Reduce process time quickly converge to leading financial, retail and manufacturing practices with advanced cloud capabilities: for e.g., manufacturing planning, accounts receivable predictions, order to cash processes.</a:t>
                      </a:r>
                      <a:endParaRPr sz="1200" kern="1200" baseline="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967910"/>
                  </a:ext>
                </a:extLst>
              </a:tr>
              <a:tr h="479637">
                <a:tc vMerge="1">
                  <a:txBody>
                    <a:bodyPr/>
                    <a:lstStyle/>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Templates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Access to a large set of templates for different process and requirements, for example localisation and compliance.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322679"/>
                  </a:ext>
                </a:extLst>
              </a:tr>
              <a:tr h="558507">
                <a:tc vMerge="1">
                  <a:txBody>
                    <a:bodyPr/>
                    <a:lstStyle/>
                    <a:p>
                      <a:pPr marL="0" algn="l" defTabSz="932742" rtl="0" eaLnBrk="1" latinLnBrk="0" hangingPunct="1"/>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Mobile-ready</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Solution accessible through mobile for some basic process operations, for example: time and expense data entry, vendor invoice approval, mobile Point of Sale.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484291"/>
                  </a:ext>
                </a:extLst>
              </a:tr>
              <a:tr h="558507">
                <a:tc rowSpan="2">
                  <a:txBody>
                    <a:bodyPr/>
                    <a:lstStyle/>
                    <a:p>
                      <a:pPr marL="0" algn="l" defTabSz="932742" rtl="0" eaLnBrk="1" latinLnBrk="0" hangingPunct="1">
                        <a:defRPr sz="1600">
                          <a:solidFill>
                            <a:schemeClr val="bg1"/>
                          </a:solidFill>
                          <a:latin typeface="+mj-lt"/>
                        </a:defRPr>
                      </a:pPr>
                      <a:r>
                        <a:t>Reporting real-time for better decision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Reporting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Integrated Power BI dashboards in Finance and Operations workspaces</a:t>
                      </a:r>
                    </a:p>
                    <a:p>
                      <a:pPr marL="0" marR="0" lvl="0" indent="0" algn="l" defTabSz="932742" rtl="0" eaLnBrk="1" fontAlgn="auto" latinLnBrk="0" hangingPunct="1">
                        <a:lnSpc>
                          <a:spcPct val="100000"/>
                        </a:lnSpc>
                        <a:spcBef>
                          <a:spcPts val="0"/>
                        </a:spcBef>
                        <a:spcAft>
                          <a:spcPts val="0"/>
                        </a:spcAft>
                        <a:buClrTx/>
                        <a:buSzTx/>
                        <a:buFontTx/>
                        <a:buNone/>
                        <a:tabLst/>
                        <a:defRPr sz="1200"/>
                      </a:pPr>
                      <a:r>
                        <a:t>Near real-time access to analytics to drive intelligent operations. Drill-down/Drill-through insights.</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612610"/>
                  </a:ext>
                </a:extLst>
              </a:tr>
              <a:tr h="636020">
                <a:tc vMerge="1">
                  <a:txBody>
                    <a:bodyPr/>
                    <a:lstStyle/>
                    <a:p>
                      <a:pPr marL="0" algn="l" defTabSz="932742" rtl="0" eaLnBrk="1" latinLnBrk="0" hangingPunct="1"/>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Insight</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Improved timely, accurate, reliable and verifiable financial information used in (decision making) processes</a:t>
                      </a:r>
                    </a:p>
                    <a:p>
                      <a:pPr marL="0" marR="0" lvl="0" indent="0" algn="l" defTabSz="932742" rtl="0" eaLnBrk="1" fontAlgn="auto" latinLnBrk="0" hangingPunct="1">
                        <a:lnSpc>
                          <a:spcPct val="100000"/>
                        </a:lnSpc>
                        <a:spcBef>
                          <a:spcPts val="0"/>
                        </a:spcBef>
                        <a:spcAft>
                          <a:spcPts val="0"/>
                        </a:spcAft>
                        <a:buClrTx/>
                        <a:buSzTx/>
                        <a:buFontTx/>
                        <a:buNone/>
                        <a:tabLst/>
                        <a:defRPr sz="1200"/>
                      </a:pPr>
                      <a:r>
                        <a:t>Bring intelligence and insights to the forefront for business users and increase efficiencies and productivity for the organization.</a:t>
                      </a:r>
                      <a:endParaRPr sz="1200" kern="1200" baseline="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7288900"/>
                  </a:ext>
                </a:extLst>
              </a:tr>
              <a:tr h="558507">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sz="1600">
                          <a:solidFill>
                            <a:schemeClr val="bg1"/>
                          </a:solidFill>
                          <a:latin typeface="+mj-lt"/>
                        </a:defRPr>
                      </a:pPr>
                      <a:r>
                        <a:t>Office 365 integration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Training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rtl="0" eaLnBrk="1" fontAlgn="auto" latinLnBrk="0" hangingPunct="1">
                        <a:lnSpc>
                          <a:spcPct val="100000"/>
                        </a:lnSpc>
                        <a:spcBef>
                          <a:spcPts val="0"/>
                        </a:spcBef>
                        <a:spcAft>
                          <a:spcPts val="0"/>
                        </a:spcAft>
                        <a:buFontTx/>
                        <a:buNone/>
                        <a:defRPr sz="1200"/>
                      </a:pPr>
                      <a:r>
                        <a:t>Lower training costs up to 40% and increase user adoption and user productivity by 15% through Office 365 like user interface.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7837547"/>
                  </a:ext>
                </a:extLst>
              </a:tr>
              <a:tr h="527648">
                <a:tc vMerge="1">
                  <a:txBody>
                    <a:bodyPr/>
                    <a:lstStyle/>
                    <a:p>
                      <a:pPr marL="0" algn="l" defTabSz="932742" rtl="0" eaLnBrk="1" latinLnBrk="0" hangingPunct="1"/>
                      <a:endParaRPr sz="1600" kern="1200">
                        <a:solidFill>
                          <a:schemeClr val="bg1"/>
                        </a:solidFill>
                        <a:latin typeface="+mj-lt"/>
                        <a:ea typeface="+mn-ea"/>
                        <a:cs typeface="+mn-cs"/>
                      </a:endParaRPr>
                    </a:p>
                  </a:txBody>
                  <a:tcPr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Integration</a:t>
                      </a:r>
                    </a:p>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O365</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With the Office 365 integration (Excel, Outlook, PowerBI,..), finance staff can expect a gain of productivity: eliminate double entry, facilitate data entry (Excel based Inputs), automatics reports.</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287325"/>
                  </a:ext>
                </a:extLst>
              </a:tr>
              <a:tr h="6360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600">
                          <a:solidFill>
                            <a:schemeClr val="bg1"/>
                          </a:solidFill>
                          <a:latin typeface="+mj-lt"/>
                        </a:defRPr>
                      </a:pPr>
                      <a:r>
                        <a:t>Extend and connect easily</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a:lnSpc>
                          <a:spcPct val="100000"/>
                        </a:lnSpc>
                        <a:spcBef>
                          <a:spcPts val="0"/>
                        </a:spcBef>
                        <a:spcAft>
                          <a:spcPts val="0"/>
                        </a:spcAft>
                        <a:buNone/>
                        <a:defRPr sz="1400">
                          <a:latin typeface="+mj-lt"/>
                        </a:defRPr>
                      </a:pPr>
                      <a:r>
                        <a:t>PowerApps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Enable users with a no‑code approach to easily configure mobile or web apps for data entry, regulatory reports, e‑invoices, payment formats etc.</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273465"/>
                  </a:ext>
                </a:extLst>
              </a:tr>
            </a:tbl>
          </a:graphicData>
        </a:graphic>
      </p:graphicFrame>
      <p:sp>
        <p:nvSpPr>
          <p:cNvPr id="24" name="Oval 102">
            <a:extLst>
              <a:ext uri="{FF2B5EF4-FFF2-40B4-BE49-F238E27FC236}">
                <a16:creationId xmlns:a16="http://schemas.microsoft.com/office/drawing/2014/main" id="{8D928B3B-5C52-4060-842E-2D302C3939B9}"/>
              </a:ext>
            </a:extLst>
          </p:cNvPr>
          <p:cNvSpPr>
            <a:spLocks noChangeAspect="1" noChangeArrowheads="1"/>
          </p:cNvSpPr>
          <p:nvPr/>
        </p:nvSpPr>
        <p:spPr bwMode="auto">
          <a:xfrm>
            <a:off x="10693148" y="143970"/>
            <a:ext cx="1092272" cy="1092272"/>
          </a:xfrm>
          <a:prstGeom prst="ellipse">
            <a:avLst/>
          </a:prstGeom>
          <a:solidFill>
            <a:srgbClr val="FFFFFF"/>
          </a:solidFill>
          <a:ln w="10795" cap="flat" cmpd="sng" algn="ctr">
            <a:noFill/>
            <a:prstDash val="solid"/>
          </a:ln>
          <a:effectLst>
            <a:outerShdw blurRad="254000" dist="50800" dir="2700000" sx="101000" sy="101000" algn="tl" rotWithShape="0">
              <a:prstClr val="black">
                <a:alpha val="35000"/>
              </a:prstClr>
            </a:outerShdw>
          </a:effectLst>
          <a:scene3d>
            <a:camera prst="perspectiveAbove">
              <a:rot lat="0" lon="0" rev="0"/>
            </a:camera>
            <a:lightRig rig="threePt" dir="t"/>
          </a:scene3d>
          <a:sp3d>
            <a:bevelB w="139700" prst="softRound"/>
          </a:sp3d>
          <a:extLst>
            <a:ext uri="{91240B29-F687-4F45-9708-019B960494DF}">
              <a14:hiddenLine xmlns:a14="http://schemas.microsoft.com/office/drawing/2010/main" w="9525">
                <a:solidFill>
                  <a:srgbClr val="000000"/>
                </a:solidFill>
                <a:round/>
                <a:headEnd/>
                <a:tailEnd/>
              </a14:hiddenLine>
            </a:ext>
          </a:extLst>
        </p:spPr>
        <p:txBody>
          <a:bodyPr vert="horz" wrap="square" lIns="0" tIns="45713" rIns="0" bIns="45713" numCol="1" anchor="ctr" anchorCtr="0" compatLnSpc="1">
            <a:prstTxWarp prst="textNoShape">
              <a:avLst/>
            </a:prstTxWarp>
          </a:bodyPr>
          <a:lstStyle/>
          <a:p>
            <a:pPr marL="0" marR="0" lvl="0" indent="0" algn="ctr" defTabSz="913891" rtl="0" eaLnBrk="1" fontAlgn="base" latinLnBrk="0" hangingPunct="1">
              <a:lnSpc>
                <a:spcPct val="100000"/>
              </a:lnSpc>
              <a:spcBef>
                <a:spcPct val="0"/>
              </a:spcBef>
              <a:spcAft>
                <a:spcPct val="0"/>
              </a:spcAft>
              <a:buClrTx/>
              <a:buSzTx/>
              <a:buFontTx/>
              <a:buNone/>
              <a:tabLst/>
            </a:pPr>
            <a:endParaRPr kumimoji="0" sz="1961" b="0" i="0" u="none" strike="noStrike" kern="0" cap="none" spc="0" normalizeH="0" baseline="0">
              <a:ln>
                <a:noFill/>
              </a:ln>
              <a:gradFill>
                <a:gsLst>
                  <a:gs pos="0">
                    <a:srgbClr val="FFFFFF"/>
                  </a:gs>
                  <a:gs pos="100000">
                    <a:srgbClr val="FFFFFF"/>
                  </a:gs>
                </a:gsLst>
                <a:lin ang="5400000" scaled="0"/>
              </a:gradFill>
              <a:effectLst/>
              <a:uLnTx/>
              <a:uFillTx/>
              <a:latin typeface="SegoeUI"/>
              <a:ea typeface="+mn-ea"/>
              <a:cs typeface="+mn-cs"/>
            </a:endParaRPr>
          </a:p>
        </p:txBody>
      </p:sp>
      <p:sp>
        <p:nvSpPr>
          <p:cNvPr id="2" name="Title 1">
            <a:extLst>
              <a:ext uri="{FF2B5EF4-FFF2-40B4-BE49-F238E27FC236}">
                <a16:creationId xmlns:a16="http://schemas.microsoft.com/office/drawing/2014/main" id="{42F38E88-0DDF-46ED-9A94-EC60E0226DD5}"/>
              </a:ext>
            </a:extLst>
          </p:cNvPr>
          <p:cNvSpPr>
            <a:spLocks noGrp="1"/>
          </p:cNvSpPr>
          <p:nvPr>
            <p:ph type="title"/>
          </p:nvPr>
        </p:nvSpPr>
        <p:spPr/>
        <p:txBody>
          <a:bodyPr/>
          <a:lstStyle/>
          <a:p>
            <a:r>
              <a:t>Optimize workforce productivity</a:t>
            </a:r>
          </a:p>
        </p:txBody>
      </p:sp>
      <p:grpSp>
        <p:nvGrpSpPr>
          <p:cNvPr id="16" name="Group 248">
            <a:extLst>
              <a:ext uri="{FF2B5EF4-FFF2-40B4-BE49-F238E27FC236}">
                <a16:creationId xmlns:a16="http://schemas.microsoft.com/office/drawing/2014/main" id="{12DAC429-CEF9-412E-BE99-A5BACE6B7E46}"/>
              </a:ext>
            </a:extLst>
          </p:cNvPr>
          <p:cNvGrpSpPr>
            <a:grpSpLocks noChangeAspect="1"/>
          </p:cNvGrpSpPr>
          <p:nvPr/>
        </p:nvGrpSpPr>
        <p:grpSpPr bwMode="auto">
          <a:xfrm>
            <a:off x="10874830" y="304094"/>
            <a:ext cx="728908" cy="728905"/>
            <a:chOff x="4932" y="3278"/>
            <a:chExt cx="355" cy="355"/>
          </a:xfrm>
        </p:grpSpPr>
        <p:sp>
          <p:nvSpPr>
            <p:cNvPr id="17" name="Freeform 249">
              <a:extLst>
                <a:ext uri="{FF2B5EF4-FFF2-40B4-BE49-F238E27FC236}">
                  <a16:creationId xmlns:a16="http://schemas.microsoft.com/office/drawing/2014/main" id="{05C158A4-50BE-4977-B4DE-B9202FE04F62}"/>
                </a:ext>
              </a:extLst>
            </p:cNvPr>
            <p:cNvSpPr>
              <a:spLocks/>
            </p:cNvSpPr>
            <p:nvPr/>
          </p:nvSpPr>
          <p:spPr bwMode="auto">
            <a:xfrm>
              <a:off x="5032" y="3556"/>
              <a:ext cx="155" cy="77"/>
            </a:xfrm>
            <a:custGeom>
              <a:avLst/>
              <a:gdLst>
                <a:gd name="T0" fmla="*/ 75 w 149"/>
                <a:gd name="T1" fmla="*/ 0 h 74"/>
                <a:gd name="T2" fmla="*/ 0 w 149"/>
                <a:gd name="T3" fmla="*/ 74 h 74"/>
                <a:gd name="T4" fmla="*/ 149 w 149"/>
                <a:gd name="T5" fmla="*/ 74 h 74"/>
                <a:gd name="T6" fmla="*/ 75 w 149"/>
                <a:gd name="T7" fmla="*/ 0 h 74"/>
              </a:gdLst>
              <a:ahLst/>
              <a:cxnLst>
                <a:cxn ang="0">
                  <a:pos x="T0" y="T1"/>
                </a:cxn>
                <a:cxn ang="0">
                  <a:pos x="T2" y="T3"/>
                </a:cxn>
                <a:cxn ang="0">
                  <a:pos x="T4" y="T5"/>
                </a:cxn>
                <a:cxn ang="0">
                  <a:pos x="T6" y="T7"/>
                </a:cxn>
              </a:cxnLst>
              <a:rect l="0" t="0" r="r" b="b"/>
              <a:pathLst>
                <a:path w="149" h="74">
                  <a:moveTo>
                    <a:pt x="75" y="0"/>
                  </a:moveTo>
                  <a:cubicBezTo>
                    <a:pt x="33" y="0"/>
                    <a:pt x="0" y="33"/>
                    <a:pt x="0" y="74"/>
                  </a:cubicBezTo>
                  <a:cubicBezTo>
                    <a:pt x="149" y="74"/>
                    <a:pt x="149" y="74"/>
                    <a:pt x="149" y="74"/>
                  </a:cubicBezTo>
                  <a:cubicBezTo>
                    <a:pt x="149" y="33"/>
                    <a:pt x="116" y="0"/>
                    <a:pt x="75" y="0"/>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8" name="Oval 250">
              <a:extLst>
                <a:ext uri="{FF2B5EF4-FFF2-40B4-BE49-F238E27FC236}">
                  <a16:creationId xmlns:a16="http://schemas.microsoft.com/office/drawing/2014/main" id="{9B8BAB6F-6AC1-4A28-964D-67894135731A}"/>
                </a:ext>
              </a:extLst>
            </p:cNvPr>
            <p:cNvSpPr>
              <a:spLocks noChangeArrowheads="1"/>
            </p:cNvSpPr>
            <p:nvPr/>
          </p:nvSpPr>
          <p:spPr bwMode="auto">
            <a:xfrm>
              <a:off x="5077" y="3466"/>
              <a:ext cx="66" cy="67"/>
            </a:xfrm>
            <a:prstGeom prst="ellipse">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 name="Oval 251">
              <a:extLst>
                <a:ext uri="{FF2B5EF4-FFF2-40B4-BE49-F238E27FC236}">
                  <a16:creationId xmlns:a16="http://schemas.microsoft.com/office/drawing/2014/main" id="{AD86FDA5-44C2-4242-ABA0-A1A85E40A789}"/>
                </a:ext>
              </a:extLst>
            </p:cNvPr>
            <p:cNvSpPr>
              <a:spLocks noChangeArrowheads="1"/>
            </p:cNvSpPr>
            <p:nvPr/>
          </p:nvSpPr>
          <p:spPr bwMode="auto">
            <a:xfrm>
              <a:off x="5220"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 name="Freeform 252">
              <a:extLst>
                <a:ext uri="{FF2B5EF4-FFF2-40B4-BE49-F238E27FC236}">
                  <a16:creationId xmlns:a16="http://schemas.microsoft.com/office/drawing/2014/main" id="{C230B458-465E-4A1D-BEF9-257072561F33}"/>
                </a:ext>
              </a:extLst>
            </p:cNvPr>
            <p:cNvSpPr>
              <a:spLocks/>
            </p:cNvSpPr>
            <p:nvPr/>
          </p:nvSpPr>
          <p:spPr bwMode="auto">
            <a:xfrm>
              <a:off x="5199" y="3389"/>
              <a:ext cx="88"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 name="Oval 253">
              <a:extLst>
                <a:ext uri="{FF2B5EF4-FFF2-40B4-BE49-F238E27FC236}">
                  <a16:creationId xmlns:a16="http://schemas.microsoft.com/office/drawing/2014/main" id="{E299C837-2D8B-420D-9F25-694BFF76B254}"/>
                </a:ext>
              </a:extLst>
            </p:cNvPr>
            <p:cNvSpPr>
              <a:spLocks noChangeArrowheads="1"/>
            </p:cNvSpPr>
            <p:nvPr/>
          </p:nvSpPr>
          <p:spPr bwMode="auto">
            <a:xfrm>
              <a:off x="4954"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2" name="Freeform 254">
              <a:extLst>
                <a:ext uri="{FF2B5EF4-FFF2-40B4-BE49-F238E27FC236}">
                  <a16:creationId xmlns:a16="http://schemas.microsoft.com/office/drawing/2014/main" id="{93474F42-E081-4D8D-B092-CA0B2C41CA2A}"/>
                </a:ext>
              </a:extLst>
            </p:cNvPr>
            <p:cNvSpPr>
              <a:spLocks/>
            </p:cNvSpPr>
            <p:nvPr/>
          </p:nvSpPr>
          <p:spPr bwMode="auto">
            <a:xfrm>
              <a:off x="4932" y="3389"/>
              <a:ext cx="89"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3" name="Freeform 255">
              <a:extLst>
                <a:ext uri="{FF2B5EF4-FFF2-40B4-BE49-F238E27FC236}">
                  <a16:creationId xmlns:a16="http://schemas.microsoft.com/office/drawing/2014/main" id="{366BB98B-9F65-4CC3-8EA4-421F23A6F59F}"/>
                </a:ext>
              </a:extLst>
            </p:cNvPr>
            <p:cNvSpPr>
              <a:spLocks/>
            </p:cNvSpPr>
            <p:nvPr/>
          </p:nvSpPr>
          <p:spPr bwMode="auto">
            <a:xfrm>
              <a:off x="5054" y="3278"/>
              <a:ext cx="111" cy="167"/>
            </a:xfrm>
            <a:custGeom>
              <a:avLst/>
              <a:gdLst>
                <a:gd name="T0" fmla="*/ 111 w 111"/>
                <a:gd name="T1" fmla="*/ 78 h 167"/>
                <a:gd name="T2" fmla="*/ 56 w 111"/>
                <a:gd name="T3" fmla="*/ 0 h 167"/>
                <a:gd name="T4" fmla="*/ 0 w 111"/>
                <a:gd name="T5" fmla="*/ 78 h 167"/>
                <a:gd name="T6" fmla="*/ 45 w 111"/>
                <a:gd name="T7" fmla="*/ 78 h 167"/>
                <a:gd name="T8" fmla="*/ 45 w 111"/>
                <a:gd name="T9" fmla="*/ 167 h 167"/>
                <a:gd name="T10" fmla="*/ 66 w 111"/>
                <a:gd name="T11" fmla="*/ 167 h 167"/>
                <a:gd name="T12" fmla="*/ 66 w 111"/>
                <a:gd name="T13" fmla="*/ 78 h 167"/>
                <a:gd name="T14" fmla="*/ 111 w 111"/>
                <a:gd name="T15" fmla="*/ 78 h 1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 h="167">
                  <a:moveTo>
                    <a:pt x="111" y="78"/>
                  </a:moveTo>
                  <a:lnTo>
                    <a:pt x="56" y="0"/>
                  </a:lnTo>
                  <a:lnTo>
                    <a:pt x="0" y="78"/>
                  </a:lnTo>
                  <a:lnTo>
                    <a:pt x="45" y="78"/>
                  </a:lnTo>
                  <a:lnTo>
                    <a:pt x="45" y="167"/>
                  </a:lnTo>
                  <a:lnTo>
                    <a:pt x="66" y="167"/>
                  </a:lnTo>
                  <a:lnTo>
                    <a:pt x="66" y="78"/>
                  </a:lnTo>
                  <a:lnTo>
                    <a:pt x="111" y="78"/>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82" name="Group 81">
            <a:extLst>
              <a:ext uri="{FF2B5EF4-FFF2-40B4-BE49-F238E27FC236}">
                <a16:creationId xmlns:a16="http://schemas.microsoft.com/office/drawing/2014/main" id="{EECE450A-064A-4F5F-B062-22AB9389D2BE}"/>
              </a:ext>
            </a:extLst>
          </p:cNvPr>
          <p:cNvGrpSpPr/>
          <p:nvPr/>
        </p:nvGrpSpPr>
        <p:grpSpPr>
          <a:xfrm>
            <a:off x="2396832" y="1597165"/>
            <a:ext cx="379421" cy="4853983"/>
            <a:chOff x="2396832" y="1597165"/>
            <a:chExt cx="379421" cy="4853983"/>
          </a:xfrm>
        </p:grpSpPr>
        <p:grpSp>
          <p:nvGrpSpPr>
            <p:cNvPr id="25" name="Group 215">
              <a:extLst>
                <a:ext uri="{FF2B5EF4-FFF2-40B4-BE49-F238E27FC236}">
                  <a16:creationId xmlns:a16="http://schemas.microsoft.com/office/drawing/2014/main" id="{2A068536-7845-4ECB-A08B-92BDE124F9D4}"/>
                </a:ext>
              </a:extLst>
            </p:cNvPr>
            <p:cNvGrpSpPr>
              <a:grpSpLocks noChangeAspect="1"/>
            </p:cNvGrpSpPr>
            <p:nvPr/>
          </p:nvGrpSpPr>
          <p:grpSpPr bwMode="auto">
            <a:xfrm>
              <a:off x="2396832" y="2266281"/>
              <a:ext cx="379421" cy="177602"/>
              <a:chOff x="1185" y="3416"/>
              <a:chExt cx="376" cy="176"/>
            </a:xfrm>
          </p:grpSpPr>
          <p:sp>
            <p:nvSpPr>
              <p:cNvPr id="26" name="Freeform 216">
                <a:extLst>
                  <a:ext uri="{FF2B5EF4-FFF2-40B4-BE49-F238E27FC236}">
                    <a16:creationId xmlns:a16="http://schemas.microsoft.com/office/drawing/2014/main" id="{00D13C80-993E-4DBB-B93B-0E8E6E8EDEC8}"/>
                  </a:ext>
                </a:extLst>
              </p:cNvPr>
              <p:cNvSpPr>
                <a:spLocks/>
              </p:cNvSpPr>
              <p:nvPr/>
            </p:nvSpPr>
            <p:spPr bwMode="auto">
              <a:xfrm>
                <a:off x="1185" y="3463"/>
                <a:ext cx="194" cy="23"/>
              </a:xfrm>
              <a:custGeom>
                <a:avLst/>
                <a:gdLst>
                  <a:gd name="T0" fmla="*/ 176 w 176"/>
                  <a:gd name="T1" fmla="*/ 0 h 21"/>
                  <a:gd name="T2" fmla="*/ 0 w 176"/>
                  <a:gd name="T3" fmla="*/ 0 h 21"/>
                  <a:gd name="T4" fmla="*/ 0 w 176"/>
                  <a:gd name="T5" fmla="*/ 21 h 21"/>
                  <a:gd name="T6" fmla="*/ 149 w 176"/>
                  <a:gd name="T7" fmla="*/ 21 h 21"/>
                  <a:gd name="T8" fmla="*/ 176 w 176"/>
                  <a:gd name="T9" fmla="*/ 0 h 21"/>
                </a:gdLst>
                <a:ahLst/>
                <a:cxnLst>
                  <a:cxn ang="0">
                    <a:pos x="T0" y="T1"/>
                  </a:cxn>
                  <a:cxn ang="0">
                    <a:pos x="T2" y="T3"/>
                  </a:cxn>
                  <a:cxn ang="0">
                    <a:pos x="T4" y="T5"/>
                  </a:cxn>
                  <a:cxn ang="0">
                    <a:pos x="T6" y="T7"/>
                  </a:cxn>
                  <a:cxn ang="0">
                    <a:pos x="T8" y="T9"/>
                  </a:cxn>
                </a:cxnLst>
                <a:rect l="0" t="0" r="r" b="b"/>
                <a:pathLst>
                  <a:path w="176" h="21">
                    <a:moveTo>
                      <a:pt x="176" y="0"/>
                    </a:moveTo>
                    <a:cubicBezTo>
                      <a:pt x="0" y="0"/>
                      <a:pt x="0" y="0"/>
                      <a:pt x="0" y="0"/>
                    </a:cubicBezTo>
                    <a:cubicBezTo>
                      <a:pt x="0" y="21"/>
                      <a:pt x="0" y="21"/>
                      <a:pt x="0" y="21"/>
                    </a:cubicBezTo>
                    <a:cubicBezTo>
                      <a:pt x="149" y="21"/>
                      <a:pt x="149" y="21"/>
                      <a:pt x="149" y="21"/>
                    </a:cubicBezTo>
                    <a:cubicBezTo>
                      <a:pt x="157" y="13"/>
                      <a:pt x="166" y="6"/>
                      <a:pt x="176" y="0"/>
                    </a:cubicBez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7" name="Freeform 217">
                <a:extLst>
                  <a:ext uri="{FF2B5EF4-FFF2-40B4-BE49-F238E27FC236}">
                    <a16:creationId xmlns:a16="http://schemas.microsoft.com/office/drawing/2014/main" id="{AFB90C61-FFFF-47C4-B8DB-122F5B727EAE}"/>
                  </a:ext>
                </a:extLst>
              </p:cNvPr>
              <p:cNvSpPr>
                <a:spLocks/>
              </p:cNvSpPr>
              <p:nvPr/>
            </p:nvSpPr>
            <p:spPr bwMode="auto">
              <a:xfrm>
                <a:off x="1185" y="3416"/>
                <a:ext cx="376" cy="176"/>
              </a:xfrm>
              <a:custGeom>
                <a:avLst/>
                <a:gdLst>
                  <a:gd name="T0" fmla="*/ 341 w 341"/>
                  <a:gd name="T1" fmla="*/ 53 h 160"/>
                  <a:gd name="T2" fmla="*/ 267 w 341"/>
                  <a:gd name="T3" fmla="*/ 0 h 160"/>
                  <a:gd name="T4" fmla="*/ 267 w 341"/>
                  <a:gd name="T5" fmla="*/ 43 h 160"/>
                  <a:gd name="T6" fmla="*/ 250 w 341"/>
                  <a:gd name="T7" fmla="*/ 43 h 160"/>
                  <a:gd name="T8" fmla="*/ 151 w 341"/>
                  <a:gd name="T9" fmla="*/ 95 h 160"/>
                  <a:gd name="T10" fmla="*/ 70 w 341"/>
                  <a:gd name="T11" fmla="*/ 139 h 160"/>
                  <a:gd name="T12" fmla="*/ 0 w 341"/>
                  <a:gd name="T13" fmla="*/ 139 h 160"/>
                  <a:gd name="T14" fmla="*/ 0 w 341"/>
                  <a:gd name="T15" fmla="*/ 160 h 160"/>
                  <a:gd name="T16" fmla="*/ 70 w 341"/>
                  <a:gd name="T17" fmla="*/ 160 h 160"/>
                  <a:gd name="T18" fmla="*/ 169 w 341"/>
                  <a:gd name="T19" fmla="*/ 107 h 160"/>
                  <a:gd name="T20" fmla="*/ 250 w 341"/>
                  <a:gd name="T21" fmla="*/ 64 h 160"/>
                  <a:gd name="T22" fmla="*/ 267 w 341"/>
                  <a:gd name="T23" fmla="*/ 64 h 160"/>
                  <a:gd name="T24" fmla="*/ 267 w 341"/>
                  <a:gd name="T25" fmla="*/ 107 h 160"/>
                  <a:gd name="T26" fmla="*/ 341 w 341"/>
                  <a:gd name="T27"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1" h="160">
                    <a:moveTo>
                      <a:pt x="341" y="53"/>
                    </a:moveTo>
                    <a:cubicBezTo>
                      <a:pt x="267" y="0"/>
                      <a:pt x="267" y="0"/>
                      <a:pt x="267" y="0"/>
                    </a:cubicBezTo>
                    <a:cubicBezTo>
                      <a:pt x="267" y="43"/>
                      <a:pt x="267" y="43"/>
                      <a:pt x="267" y="43"/>
                    </a:cubicBezTo>
                    <a:cubicBezTo>
                      <a:pt x="250" y="43"/>
                      <a:pt x="250" y="43"/>
                      <a:pt x="250" y="43"/>
                    </a:cubicBezTo>
                    <a:cubicBezTo>
                      <a:pt x="210" y="43"/>
                      <a:pt x="173" y="62"/>
                      <a:pt x="151" y="95"/>
                    </a:cubicBezTo>
                    <a:cubicBezTo>
                      <a:pt x="133" y="122"/>
                      <a:pt x="103" y="139"/>
                      <a:pt x="70" y="139"/>
                    </a:cubicBezTo>
                    <a:cubicBezTo>
                      <a:pt x="0" y="139"/>
                      <a:pt x="0" y="139"/>
                      <a:pt x="0" y="139"/>
                    </a:cubicBezTo>
                    <a:cubicBezTo>
                      <a:pt x="0" y="160"/>
                      <a:pt x="0" y="160"/>
                      <a:pt x="0" y="160"/>
                    </a:cubicBezTo>
                    <a:cubicBezTo>
                      <a:pt x="70" y="160"/>
                      <a:pt x="70" y="160"/>
                      <a:pt x="70" y="160"/>
                    </a:cubicBezTo>
                    <a:cubicBezTo>
                      <a:pt x="110" y="160"/>
                      <a:pt x="147" y="140"/>
                      <a:pt x="169" y="107"/>
                    </a:cubicBezTo>
                    <a:cubicBezTo>
                      <a:pt x="187" y="80"/>
                      <a:pt x="217" y="64"/>
                      <a:pt x="250" y="64"/>
                    </a:cubicBezTo>
                    <a:cubicBezTo>
                      <a:pt x="267" y="64"/>
                      <a:pt x="267" y="64"/>
                      <a:pt x="267" y="64"/>
                    </a:cubicBezTo>
                    <a:cubicBezTo>
                      <a:pt x="267" y="107"/>
                      <a:pt x="267" y="107"/>
                      <a:pt x="267" y="107"/>
                    </a:cubicBezTo>
                    <a:lnTo>
                      <a:pt x="341" y="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28" name="Group 220">
              <a:extLst>
                <a:ext uri="{FF2B5EF4-FFF2-40B4-BE49-F238E27FC236}">
                  <a16:creationId xmlns:a16="http://schemas.microsoft.com/office/drawing/2014/main" id="{B7593961-E488-4FFD-B495-C5593CC6A470}"/>
                </a:ext>
              </a:extLst>
            </p:cNvPr>
            <p:cNvGrpSpPr>
              <a:grpSpLocks noChangeAspect="1"/>
            </p:cNvGrpSpPr>
            <p:nvPr/>
          </p:nvGrpSpPr>
          <p:grpSpPr bwMode="auto">
            <a:xfrm>
              <a:off x="2399181" y="3229253"/>
              <a:ext cx="374722" cy="327541"/>
              <a:chOff x="1920" y="3292"/>
              <a:chExt cx="413" cy="361"/>
            </a:xfrm>
          </p:grpSpPr>
          <p:sp>
            <p:nvSpPr>
              <p:cNvPr id="29" name="Freeform 221">
                <a:extLst>
                  <a:ext uri="{FF2B5EF4-FFF2-40B4-BE49-F238E27FC236}">
                    <a16:creationId xmlns:a16="http://schemas.microsoft.com/office/drawing/2014/main" id="{5B67771A-E3ED-48C9-9CA2-43BF0A97AEFF}"/>
                  </a:ext>
                </a:extLst>
              </p:cNvPr>
              <p:cNvSpPr>
                <a:spLocks/>
              </p:cNvSpPr>
              <p:nvPr/>
            </p:nvSpPr>
            <p:spPr bwMode="auto">
              <a:xfrm>
                <a:off x="1920" y="3395"/>
                <a:ext cx="349" cy="258"/>
              </a:xfrm>
              <a:custGeom>
                <a:avLst/>
                <a:gdLst>
                  <a:gd name="T0" fmla="*/ 234 w 288"/>
                  <a:gd name="T1" fmla="*/ 128 h 213"/>
                  <a:gd name="T2" fmla="*/ 203 w 288"/>
                  <a:gd name="T3" fmla="*/ 96 h 213"/>
                  <a:gd name="T4" fmla="*/ 203 w 288"/>
                  <a:gd name="T5" fmla="*/ 0 h 213"/>
                  <a:gd name="T6" fmla="*/ 21 w 288"/>
                  <a:gd name="T7" fmla="*/ 0 h 213"/>
                  <a:gd name="T8" fmla="*/ 0 w 288"/>
                  <a:gd name="T9" fmla="*/ 21 h 213"/>
                  <a:gd name="T10" fmla="*/ 0 w 288"/>
                  <a:gd name="T11" fmla="*/ 192 h 213"/>
                  <a:gd name="T12" fmla="*/ 21 w 288"/>
                  <a:gd name="T13" fmla="*/ 213 h 213"/>
                  <a:gd name="T14" fmla="*/ 267 w 288"/>
                  <a:gd name="T15" fmla="*/ 213 h 213"/>
                  <a:gd name="T16" fmla="*/ 288 w 288"/>
                  <a:gd name="T17" fmla="*/ 192 h 213"/>
                  <a:gd name="T18" fmla="*/ 288 w 288"/>
                  <a:gd name="T19" fmla="*/ 128 h 213"/>
                  <a:gd name="T20" fmla="*/ 234 w 288"/>
                  <a:gd name="T21" fmla="*/ 12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13">
                    <a:moveTo>
                      <a:pt x="234" y="128"/>
                    </a:moveTo>
                    <a:cubicBezTo>
                      <a:pt x="217" y="128"/>
                      <a:pt x="203" y="114"/>
                      <a:pt x="203" y="96"/>
                    </a:cubicBezTo>
                    <a:cubicBezTo>
                      <a:pt x="203" y="0"/>
                      <a:pt x="203" y="0"/>
                      <a:pt x="203" y="0"/>
                    </a:cubicBezTo>
                    <a:cubicBezTo>
                      <a:pt x="21" y="0"/>
                      <a:pt x="21" y="0"/>
                      <a:pt x="21" y="0"/>
                    </a:cubicBezTo>
                    <a:cubicBezTo>
                      <a:pt x="10" y="0"/>
                      <a:pt x="0" y="10"/>
                      <a:pt x="0" y="21"/>
                    </a:cubicBezTo>
                    <a:cubicBezTo>
                      <a:pt x="0" y="192"/>
                      <a:pt x="0" y="192"/>
                      <a:pt x="0" y="192"/>
                    </a:cubicBezTo>
                    <a:cubicBezTo>
                      <a:pt x="0" y="204"/>
                      <a:pt x="10" y="213"/>
                      <a:pt x="21" y="213"/>
                    </a:cubicBezTo>
                    <a:cubicBezTo>
                      <a:pt x="267" y="213"/>
                      <a:pt x="267" y="213"/>
                      <a:pt x="267" y="213"/>
                    </a:cubicBezTo>
                    <a:cubicBezTo>
                      <a:pt x="278" y="213"/>
                      <a:pt x="288" y="204"/>
                      <a:pt x="288" y="192"/>
                    </a:cubicBezTo>
                    <a:cubicBezTo>
                      <a:pt x="288" y="128"/>
                      <a:pt x="288" y="128"/>
                      <a:pt x="288" y="128"/>
                    </a:cubicBezTo>
                    <a:lnTo>
                      <a:pt x="234" y="128"/>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0" name="Freeform 222">
                <a:extLst>
                  <a:ext uri="{FF2B5EF4-FFF2-40B4-BE49-F238E27FC236}">
                    <a16:creationId xmlns:a16="http://schemas.microsoft.com/office/drawing/2014/main" id="{C38ED9EA-9701-4114-8EB3-37596B10ECBA}"/>
                  </a:ext>
                </a:extLst>
              </p:cNvPr>
              <p:cNvSpPr>
                <a:spLocks/>
              </p:cNvSpPr>
              <p:nvPr/>
            </p:nvSpPr>
            <p:spPr bwMode="auto">
              <a:xfrm>
                <a:off x="2191" y="3292"/>
                <a:ext cx="142" cy="233"/>
              </a:xfrm>
              <a:custGeom>
                <a:avLst/>
                <a:gdLst>
                  <a:gd name="T0" fmla="*/ 107 w 117"/>
                  <a:gd name="T1" fmla="*/ 192 h 192"/>
                  <a:gd name="T2" fmla="*/ 117 w 117"/>
                  <a:gd name="T3" fmla="*/ 181 h 192"/>
                  <a:gd name="T4" fmla="*/ 117 w 117"/>
                  <a:gd name="T5" fmla="*/ 10 h 192"/>
                  <a:gd name="T6" fmla="*/ 107 w 117"/>
                  <a:gd name="T7" fmla="*/ 0 h 192"/>
                  <a:gd name="T8" fmla="*/ 10 w 117"/>
                  <a:gd name="T9" fmla="*/ 0 h 192"/>
                  <a:gd name="T10" fmla="*/ 0 w 117"/>
                  <a:gd name="T11" fmla="*/ 10 h 192"/>
                  <a:gd name="T12" fmla="*/ 0 w 117"/>
                  <a:gd name="T13" fmla="*/ 181 h 192"/>
                  <a:gd name="T14" fmla="*/ 10 w 117"/>
                  <a:gd name="T15" fmla="*/ 192 h 192"/>
                  <a:gd name="T16" fmla="*/ 107 w 117"/>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92">
                    <a:moveTo>
                      <a:pt x="107" y="192"/>
                    </a:moveTo>
                    <a:cubicBezTo>
                      <a:pt x="113" y="192"/>
                      <a:pt x="117" y="187"/>
                      <a:pt x="117" y="181"/>
                    </a:cubicBezTo>
                    <a:cubicBezTo>
                      <a:pt x="117" y="10"/>
                      <a:pt x="117" y="10"/>
                      <a:pt x="117" y="10"/>
                    </a:cubicBezTo>
                    <a:cubicBezTo>
                      <a:pt x="117" y="4"/>
                      <a:pt x="113" y="0"/>
                      <a:pt x="107" y="0"/>
                    </a:cubicBezTo>
                    <a:cubicBezTo>
                      <a:pt x="10" y="0"/>
                      <a:pt x="10" y="0"/>
                      <a:pt x="10" y="0"/>
                    </a:cubicBezTo>
                    <a:cubicBezTo>
                      <a:pt x="5" y="0"/>
                      <a:pt x="0" y="4"/>
                      <a:pt x="0" y="10"/>
                    </a:cubicBezTo>
                    <a:cubicBezTo>
                      <a:pt x="0" y="181"/>
                      <a:pt x="0" y="181"/>
                      <a:pt x="0" y="181"/>
                    </a:cubicBezTo>
                    <a:cubicBezTo>
                      <a:pt x="0" y="187"/>
                      <a:pt x="5" y="192"/>
                      <a:pt x="10" y="192"/>
                    </a:cubicBezTo>
                    <a:lnTo>
                      <a:pt x="107" y="19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1" name="Rectangle 223">
                <a:extLst>
                  <a:ext uri="{FF2B5EF4-FFF2-40B4-BE49-F238E27FC236}">
                    <a16:creationId xmlns:a16="http://schemas.microsoft.com/office/drawing/2014/main" id="{C52176CA-3245-458F-B737-46F3849E8A4B}"/>
                  </a:ext>
                </a:extLst>
              </p:cNvPr>
              <p:cNvSpPr>
                <a:spLocks noChangeArrowheads="1"/>
              </p:cNvSpPr>
              <p:nvPr/>
            </p:nvSpPr>
            <p:spPr bwMode="auto">
              <a:xfrm>
                <a:off x="2062" y="3602"/>
                <a:ext cx="65" cy="26"/>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2" name="Rectangle 224">
                <a:extLst>
                  <a:ext uri="{FF2B5EF4-FFF2-40B4-BE49-F238E27FC236}">
                    <a16:creationId xmlns:a16="http://schemas.microsoft.com/office/drawing/2014/main" id="{BBA8F8B1-AD62-405C-94EB-1CDC3C3516DA}"/>
                  </a:ext>
                </a:extLst>
              </p:cNvPr>
              <p:cNvSpPr>
                <a:spLocks noChangeArrowheads="1"/>
              </p:cNvSpPr>
              <p:nvPr/>
            </p:nvSpPr>
            <p:spPr bwMode="auto">
              <a:xfrm>
                <a:off x="2230" y="3473"/>
                <a:ext cx="64" cy="2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40" name="Group 9">
              <a:extLst>
                <a:ext uri="{FF2B5EF4-FFF2-40B4-BE49-F238E27FC236}">
                  <a16:creationId xmlns:a16="http://schemas.microsoft.com/office/drawing/2014/main" id="{99359BDB-1124-4C26-9D0D-FD5D68A71F61}"/>
                </a:ext>
              </a:extLst>
            </p:cNvPr>
            <p:cNvGrpSpPr>
              <a:grpSpLocks noChangeAspect="1"/>
            </p:cNvGrpSpPr>
            <p:nvPr/>
          </p:nvGrpSpPr>
          <p:grpSpPr bwMode="auto">
            <a:xfrm>
              <a:off x="2428604" y="3804542"/>
              <a:ext cx="315877" cy="277254"/>
              <a:chOff x="3696" y="2681"/>
              <a:chExt cx="229" cy="201"/>
            </a:xfrm>
          </p:grpSpPr>
          <p:sp>
            <p:nvSpPr>
              <p:cNvPr id="41" name="Freeform 10">
                <a:extLst>
                  <a:ext uri="{FF2B5EF4-FFF2-40B4-BE49-F238E27FC236}">
                    <a16:creationId xmlns:a16="http://schemas.microsoft.com/office/drawing/2014/main" id="{A2355B46-38FA-4E14-B2C8-3012560B43D9}"/>
                  </a:ext>
                </a:extLst>
              </p:cNvPr>
              <p:cNvSpPr>
                <a:spLocks/>
              </p:cNvSpPr>
              <p:nvPr/>
            </p:nvSpPr>
            <p:spPr bwMode="auto">
              <a:xfrm>
                <a:off x="3696" y="2693"/>
                <a:ext cx="141" cy="42"/>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2" name="Freeform 11">
                <a:extLst>
                  <a:ext uri="{FF2B5EF4-FFF2-40B4-BE49-F238E27FC236}">
                    <a16:creationId xmlns:a16="http://schemas.microsoft.com/office/drawing/2014/main" id="{C8396D07-0F3A-45CA-9C70-97124A591DC4}"/>
                  </a:ext>
                </a:extLst>
              </p:cNvPr>
              <p:cNvSpPr>
                <a:spLocks/>
              </p:cNvSpPr>
              <p:nvPr/>
            </p:nvSpPr>
            <p:spPr bwMode="auto">
              <a:xfrm>
                <a:off x="3696" y="2767"/>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3" name="Freeform 12">
                <a:extLst>
                  <a:ext uri="{FF2B5EF4-FFF2-40B4-BE49-F238E27FC236}">
                    <a16:creationId xmlns:a16="http://schemas.microsoft.com/office/drawing/2014/main" id="{90C35D94-328A-4626-8AAF-5598CBD543F1}"/>
                  </a:ext>
                </a:extLst>
              </p:cNvPr>
              <p:cNvSpPr>
                <a:spLocks/>
              </p:cNvSpPr>
              <p:nvPr/>
            </p:nvSpPr>
            <p:spPr bwMode="auto">
              <a:xfrm>
                <a:off x="3696" y="2841"/>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4" name="Freeform 13">
                <a:extLst>
                  <a:ext uri="{FF2B5EF4-FFF2-40B4-BE49-F238E27FC236}">
                    <a16:creationId xmlns:a16="http://schemas.microsoft.com/office/drawing/2014/main" id="{595F006B-3F06-410E-9A98-4FE252EC9628}"/>
                  </a:ext>
                </a:extLst>
              </p:cNvPr>
              <p:cNvSpPr>
                <a:spLocks/>
              </p:cNvSpPr>
              <p:nvPr/>
            </p:nvSpPr>
            <p:spPr bwMode="auto">
              <a:xfrm>
                <a:off x="3857" y="2754"/>
                <a:ext cx="68" cy="54"/>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5" name="Freeform 14">
                <a:extLst>
                  <a:ext uri="{FF2B5EF4-FFF2-40B4-BE49-F238E27FC236}">
                    <a16:creationId xmlns:a16="http://schemas.microsoft.com/office/drawing/2014/main" id="{E7AFC66B-F60F-460A-81A8-BED02E17D097}"/>
                  </a:ext>
                </a:extLst>
              </p:cNvPr>
              <p:cNvSpPr>
                <a:spLocks/>
              </p:cNvSpPr>
              <p:nvPr/>
            </p:nvSpPr>
            <p:spPr bwMode="auto">
              <a:xfrm>
                <a:off x="3857" y="2828"/>
                <a:ext cx="68" cy="54"/>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6" name="Freeform 15">
                <a:extLst>
                  <a:ext uri="{FF2B5EF4-FFF2-40B4-BE49-F238E27FC236}">
                    <a16:creationId xmlns:a16="http://schemas.microsoft.com/office/drawing/2014/main" id="{335D33BE-6003-421C-A511-F391FCD1C316}"/>
                  </a:ext>
                </a:extLst>
              </p:cNvPr>
              <p:cNvSpPr>
                <a:spLocks/>
              </p:cNvSpPr>
              <p:nvPr/>
            </p:nvSpPr>
            <p:spPr bwMode="auto">
              <a:xfrm>
                <a:off x="3857" y="2681"/>
                <a:ext cx="68" cy="54"/>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F76480BF-7BE2-4A3B-B9D1-2C187B85B30F}"/>
                </a:ext>
              </a:extLst>
            </p:cNvPr>
            <p:cNvGrpSpPr>
              <a:grpSpLocks noChangeAspect="1"/>
            </p:cNvGrpSpPr>
            <p:nvPr/>
          </p:nvGrpSpPr>
          <p:grpSpPr bwMode="auto">
            <a:xfrm>
              <a:off x="2411944" y="4383868"/>
              <a:ext cx="349197" cy="349197"/>
              <a:chOff x="562" y="3874"/>
              <a:chExt cx="375" cy="375"/>
            </a:xfrm>
          </p:grpSpPr>
          <p:sp>
            <p:nvSpPr>
              <p:cNvPr id="48" name="Freeform 5">
                <a:extLst>
                  <a:ext uri="{FF2B5EF4-FFF2-40B4-BE49-F238E27FC236}">
                    <a16:creationId xmlns:a16="http://schemas.microsoft.com/office/drawing/2014/main" id="{F059D263-AB22-487A-A133-F9B7806842B2}"/>
                  </a:ext>
                </a:extLst>
              </p:cNvPr>
              <p:cNvSpPr>
                <a:spLocks/>
              </p:cNvSpPr>
              <p:nvPr/>
            </p:nvSpPr>
            <p:spPr bwMode="auto">
              <a:xfrm>
                <a:off x="759" y="4071"/>
                <a:ext cx="178" cy="178"/>
              </a:xfrm>
              <a:custGeom>
                <a:avLst/>
                <a:gdLst>
                  <a:gd name="T0" fmla="*/ 178 w 178"/>
                  <a:gd name="T1" fmla="*/ 153 h 178"/>
                  <a:gd name="T2" fmla="*/ 153 w 178"/>
                  <a:gd name="T3" fmla="*/ 178 h 178"/>
                  <a:gd name="T4" fmla="*/ 63 w 178"/>
                  <a:gd name="T5" fmla="*/ 88 h 178"/>
                  <a:gd name="T6" fmla="*/ 0 w 178"/>
                  <a:gd name="T7" fmla="*/ 25 h 178"/>
                  <a:gd name="T8" fmla="*/ 25 w 178"/>
                  <a:gd name="T9" fmla="*/ 0 h 178"/>
                  <a:gd name="T10" fmla="*/ 178 w 178"/>
                  <a:gd name="T11" fmla="*/ 153 h 178"/>
                </a:gdLst>
                <a:ahLst/>
                <a:cxnLst>
                  <a:cxn ang="0">
                    <a:pos x="T0" y="T1"/>
                  </a:cxn>
                  <a:cxn ang="0">
                    <a:pos x="T2" y="T3"/>
                  </a:cxn>
                  <a:cxn ang="0">
                    <a:pos x="T4" y="T5"/>
                  </a:cxn>
                  <a:cxn ang="0">
                    <a:pos x="T6" y="T7"/>
                  </a:cxn>
                  <a:cxn ang="0">
                    <a:pos x="T8" y="T9"/>
                  </a:cxn>
                  <a:cxn ang="0">
                    <a:pos x="T10" y="T11"/>
                  </a:cxn>
                </a:cxnLst>
                <a:rect l="0" t="0" r="r" b="b"/>
                <a:pathLst>
                  <a:path w="178" h="178">
                    <a:moveTo>
                      <a:pt x="178" y="153"/>
                    </a:moveTo>
                    <a:lnTo>
                      <a:pt x="153" y="178"/>
                    </a:lnTo>
                    <a:lnTo>
                      <a:pt x="63" y="88"/>
                    </a:lnTo>
                    <a:lnTo>
                      <a:pt x="0" y="25"/>
                    </a:lnTo>
                    <a:lnTo>
                      <a:pt x="25" y="0"/>
                    </a:lnTo>
                    <a:lnTo>
                      <a:pt x="178" y="1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9" name="Freeform 6">
                <a:extLst>
                  <a:ext uri="{FF2B5EF4-FFF2-40B4-BE49-F238E27FC236}">
                    <a16:creationId xmlns:a16="http://schemas.microsoft.com/office/drawing/2014/main" id="{4B820580-6623-4594-A220-670915FB2BFA}"/>
                  </a:ext>
                </a:extLst>
              </p:cNvPr>
              <p:cNvSpPr>
                <a:spLocks noEditPoints="1"/>
              </p:cNvSpPr>
              <p:nvPr/>
            </p:nvSpPr>
            <p:spPr bwMode="auto">
              <a:xfrm>
                <a:off x="562" y="3874"/>
                <a:ext cx="258" cy="258"/>
              </a:xfrm>
              <a:custGeom>
                <a:avLst/>
                <a:gdLst>
                  <a:gd name="T0" fmla="*/ 469 w 938"/>
                  <a:gd name="T1" fmla="*/ 0 h 939"/>
                  <a:gd name="T2" fmla="*/ 0 w 938"/>
                  <a:gd name="T3" fmla="*/ 470 h 939"/>
                  <a:gd name="T4" fmla="*/ 469 w 938"/>
                  <a:gd name="T5" fmla="*/ 939 h 939"/>
                  <a:gd name="T6" fmla="*/ 938 w 938"/>
                  <a:gd name="T7" fmla="*/ 470 h 939"/>
                  <a:gd name="T8" fmla="*/ 469 w 938"/>
                  <a:gd name="T9" fmla="*/ 0 h 939"/>
                  <a:gd name="T10" fmla="*/ 469 w 938"/>
                  <a:gd name="T11" fmla="*/ 811 h 939"/>
                  <a:gd name="T12" fmla="*/ 128 w 938"/>
                  <a:gd name="T13" fmla="*/ 470 h 939"/>
                  <a:gd name="T14" fmla="*/ 469 w 938"/>
                  <a:gd name="T15" fmla="*/ 128 h 939"/>
                  <a:gd name="T16" fmla="*/ 810 w 938"/>
                  <a:gd name="T17" fmla="*/ 470 h 939"/>
                  <a:gd name="T18" fmla="*/ 469 w 938"/>
                  <a:gd name="T19" fmla="*/ 81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8" h="939">
                    <a:moveTo>
                      <a:pt x="469" y="0"/>
                    </a:moveTo>
                    <a:cubicBezTo>
                      <a:pt x="210" y="0"/>
                      <a:pt x="0" y="210"/>
                      <a:pt x="0" y="470"/>
                    </a:cubicBezTo>
                    <a:cubicBezTo>
                      <a:pt x="0" y="729"/>
                      <a:pt x="210" y="939"/>
                      <a:pt x="469" y="939"/>
                    </a:cubicBezTo>
                    <a:cubicBezTo>
                      <a:pt x="728" y="939"/>
                      <a:pt x="938" y="729"/>
                      <a:pt x="938" y="470"/>
                    </a:cubicBezTo>
                    <a:cubicBezTo>
                      <a:pt x="938" y="210"/>
                      <a:pt x="728" y="0"/>
                      <a:pt x="469" y="0"/>
                    </a:cubicBezTo>
                    <a:close/>
                    <a:moveTo>
                      <a:pt x="469" y="811"/>
                    </a:moveTo>
                    <a:cubicBezTo>
                      <a:pt x="280" y="811"/>
                      <a:pt x="128" y="658"/>
                      <a:pt x="128" y="470"/>
                    </a:cubicBezTo>
                    <a:cubicBezTo>
                      <a:pt x="128" y="281"/>
                      <a:pt x="280" y="128"/>
                      <a:pt x="469" y="128"/>
                    </a:cubicBezTo>
                    <a:cubicBezTo>
                      <a:pt x="658" y="128"/>
                      <a:pt x="810" y="281"/>
                      <a:pt x="810" y="470"/>
                    </a:cubicBezTo>
                    <a:cubicBezTo>
                      <a:pt x="810" y="658"/>
                      <a:pt x="658" y="811"/>
                      <a:pt x="469" y="811"/>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0" name="Rectangle 7">
                <a:extLst>
                  <a:ext uri="{FF2B5EF4-FFF2-40B4-BE49-F238E27FC236}">
                    <a16:creationId xmlns:a16="http://schemas.microsoft.com/office/drawing/2014/main" id="{3A5DA5C0-C823-4A5A-B444-884E44646474}"/>
                  </a:ext>
                </a:extLst>
              </p:cNvPr>
              <p:cNvSpPr>
                <a:spLocks noChangeArrowheads="1"/>
              </p:cNvSpPr>
              <p:nvPr/>
            </p:nvSpPr>
            <p:spPr bwMode="auto">
              <a:xfrm>
                <a:off x="714" y="4003"/>
                <a:ext cx="23" cy="5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1" name="Rectangle 8">
                <a:extLst>
                  <a:ext uri="{FF2B5EF4-FFF2-40B4-BE49-F238E27FC236}">
                    <a16:creationId xmlns:a16="http://schemas.microsoft.com/office/drawing/2014/main" id="{6A674B03-5462-46AA-A95A-11735C77D3B4}"/>
                  </a:ext>
                </a:extLst>
              </p:cNvPr>
              <p:cNvSpPr>
                <a:spLocks noChangeArrowheads="1"/>
              </p:cNvSpPr>
              <p:nvPr/>
            </p:nvSpPr>
            <p:spPr bwMode="auto">
              <a:xfrm>
                <a:off x="679" y="3968"/>
                <a:ext cx="23" cy="94"/>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2" name="Rectangle 9">
                <a:extLst>
                  <a:ext uri="{FF2B5EF4-FFF2-40B4-BE49-F238E27FC236}">
                    <a16:creationId xmlns:a16="http://schemas.microsoft.com/office/drawing/2014/main" id="{7CD61BE5-E5F2-4EEC-B593-85F1EBFA199C}"/>
                  </a:ext>
                </a:extLst>
              </p:cNvPr>
              <p:cNvSpPr>
                <a:spLocks noChangeArrowheads="1"/>
              </p:cNvSpPr>
              <p:nvPr/>
            </p:nvSpPr>
            <p:spPr bwMode="auto">
              <a:xfrm>
                <a:off x="643" y="3945"/>
                <a:ext cx="24" cy="117"/>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672F51DB-A200-427A-B732-B8CEAE8992C0}"/>
                </a:ext>
              </a:extLst>
            </p:cNvPr>
            <p:cNvGrpSpPr/>
            <p:nvPr/>
          </p:nvGrpSpPr>
          <p:grpSpPr>
            <a:xfrm>
              <a:off x="2409701" y="1597165"/>
              <a:ext cx="353682" cy="352740"/>
              <a:chOff x="301625" y="2619375"/>
              <a:chExt cx="595313" cy="593725"/>
            </a:xfrm>
          </p:grpSpPr>
          <p:sp>
            <p:nvSpPr>
              <p:cNvPr id="54" name="Freeform 5">
                <a:extLst>
                  <a:ext uri="{FF2B5EF4-FFF2-40B4-BE49-F238E27FC236}">
                    <a16:creationId xmlns:a16="http://schemas.microsoft.com/office/drawing/2014/main" id="{99FBAF26-E7A1-460A-AEF6-BED7A2054A2E}"/>
                  </a:ext>
                </a:extLst>
              </p:cNvPr>
              <p:cNvSpPr>
                <a:spLocks/>
              </p:cNvSpPr>
              <p:nvPr/>
            </p:nvSpPr>
            <p:spPr bwMode="auto">
              <a:xfrm>
                <a:off x="647701" y="2681632"/>
                <a:ext cx="236539" cy="133350"/>
              </a:xfrm>
              <a:custGeom>
                <a:avLst/>
                <a:gdLst>
                  <a:gd name="T0" fmla="*/ 0 w 240"/>
                  <a:gd name="T1" fmla="*/ 134 h 134"/>
                  <a:gd name="T2" fmla="*/ 0 w 240"/>
                  <a:gd name="T3" fmla="*/ 134 h 134"/>
                  <a:gd name="T4" fmla="*/ 240 w 240"/>
                  <a:gd name="T5" fmla="*/ 134 h 134"/>
                  <a:gd name="T6" fmla="*/ 240 w 240"/>
                  <a:gd name="T7" fmla="*/ 0 h 134"/>
                  <a:gd name="T8" fmla="*/ 0 w 240"/>
                  <a:gd name="T9" fmla="*/ 0 h 134"/>
                  <a:gd name="T10" fmla="*/ 0 w 240"/>
                  <a:gd name="T11" fmla="*/ 134 h 134"/>
                </a:gdLst>
                <a:ahLst/>
                <a:cxnLst>
                  <a:cxn ang="0">
                    <a:pos x="T0" y="T1"/>
                  </a:cxn>
                  <a:cxn ang="0">
                    <a:pos x="T2" y="T3"/>
                  </a:cxn>
                  <a:cxn ang="0">
                    <a:pos x="T4" y="T5"/>
                  </a:cxn>
                  <a:cxn ang="0">
                    <a:pos x="T6" y="T7"/>
                  </a:cxn>
                  <a:cxn ang="0">
                    <a:pos x="T8" y="T9"/>
                  </a:cxn>
                  <a:cxn ang="0">
                    <a:pos x="T10" y="T11"/>
                  </a:cxn>
                </a:cxnLst>
                <a:rect l="0" t="0" r="r" b="b"/>
                <a:pathLst>
                  <a:path w="240" h="134">
                    <a:moveTo>
                      <a:pt x="0" y="134"/>
                    </a:moveTo>
                    <a:lnTo>
                      <a:pt x="0" y="134"/>
                    </a:lnTo>
                    <a:lnTo>
                      <a:pt x="240" y="134"/>
                    </a:lnTo>
                    <a:lnTo>
                      <a:pt x="240" y="0"/>
                    </a:lnTo>
                    <a:lnTo>
                      <a:pt x="0" y="0"/>
                    </a:lnTo>
                    <a:lnTo>
                      <a:pt x="0" y="134"/>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5" name="Freeform 13">
                <a:extLst>
                  <a:ext uri="{FF2B5EF4-FFF2-40B4-BE49-F238E27FC236}">
                    <a16:creationId xmlns:a16="http://schemas.microsoft.com/office/drawing/2014/main" id="{DE37FBE1-09FE-49AB-9C24-CDAF00E73198}"/>
                  </a:ext>
                </a:extLst>
              </p:cNvPr>
              <p:cNvSpPr>
                <a:spLocks/>
              </p:cNvSpPr>
              <p:nvPr/>
            </p:nvSpPr>
            <p:spPr bwMode="auto">
              <a:xfrm>
                <a:off x="700089" y="2829270"/>
                <a:ext cx="130176" cy="52388"/>
              </a:xfrm>
              <a:custGeom>
                <a:avLst/>
                <a:gdLst>
                  <a:gd name="T0" fmla="*/ 53 w 133"/>
                  <a:gd name="T1" fmla="*/ 0 h 54"/>
                  <a:gd name="T2" fmla="*/ 53 w 133"/>
                  <a:gd name="T3" fmla="*/ 0 h 54"/>
                  <a:gd name="T4" fmla="*/ 53 w 133"/>
                  <a:gd name="T5" fmla="*/ 27 h 54"/>
                  <a:gd name="T6" fmla="*/ 0 w 133"/>
                  <a:gd name="T7" fmla="*/ 27 h 54"/>
                  <a:gd name="T8" fmla="*/ 0 w 133"/>
                  <a:gd name="T9" fmla="*/ 54 h 54"/>
                  <a:gd name="T10" fmla="*/ 133 w 133"/>
                  <a:gd name="T11" fmla="*/ 54 h 54"/>
                  <a:gd name="T12" fmla="*/ 133 w 133"/>
                  <a:gd name="T13" fmla="*/ 27 h 54"/>
                  <a:gd name="T14" fmla="*/ 80 w 133"/>
                  <a:gd name="T15" fmla="*/ 27 h 54"/>
                  <a:gd name="T16" fmla="*/ 80 w 133"/>
                  <a:gd name="T17" fmla="*/ 0 h 54"/>
                  <a:gd name="T18" fmla="*/ 53 w 133"/>
                  <a:gd name="T1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54">
                    <a:moveTo>
                      <a:pt x="53" y="0"/>
                    </a:moveTo>
                    <a:lnTo>
                      <a:pt x="53" y="0"/>
                    </a:lnTo>
                    <a:lnTo>
                      <a:pt x="53" y="27"/>
                    </a:lnTo>
                    <a:lnTo>
                      <a:pt x="0" y="27"/>
                    </a:lnTo>
                    <a:lnTo>
                      <a:pt x="0" y="54"/>
                    </a:lnTo>
                    <a:lnTo>
                      <a:pt x="133" y="54"/>
                    </a:lnTo>
                    <a:lnTo>
                      <a:pt x="133" y="27"/>
                    </a:lnTo>
                    <a:lnTo>
                      <a:pt x="80" y="27"/>
                    </a:lnTo>
                    <a:lnTo>
                      <a:pt x="80" y="0"/>
                    </a:lnTo>
                    <a:lnTo>
                      <a:pt x="53" y="0"/>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nvGrpSpPr>
              <p:cNvPr id="56" name="Group 12">
                <a:extLst>
                  <a:ext uri="{FF2B5EF4-FFF2-40B4-BE49-F238E27FC236}">
                    <a16:creationId xmlns:a16="http://schemas.microsoft.com/office/drawing/2014/main" id="{21AF2898-C8FF-4B87-B86C-18997D02BF4D}"/>
                  </a:ext>
                </a:extLst>
              </p:cNvPr>
              <p:cNvGrpSpPr>
                <a:grpSpLocks noChangeAspect="1"/>
              </p:cNvGrpSpPr>
              <p:nvPr/>
            </p:nvGrpSpPr>
            <p:grpSpPr bwMode="auto">
              <a:xfrm>
                <a:off x="301625" y="2619375"/>
                <a:ext cx="595313" cy="593725"/>
                <a:chOff x="190" y="1650"/>
                <a:chExt cx="375" cy="374"/>
              </a:xfrm>
            </p:grpSpPr>
            <p:sp>
              <p:nvSpPr>
                <p:cNvPr id="57" name="Rectangle 13">
                  <a:extLst>
                    <a:ext uri="{FF2B5EF4-FFF2-40B4-BE49-F238E27FC236}">
                      <a16:creationId xmlns:a16="http://schemas.microsoft.com/office/drawing/2014/main" id="{B79AE64C-DBD7-4BFF-9311-F2EC5AD288D2}"/>
                    </a:ext>
                  </a:extLst>
                </p:cNvPr>
                <p:cNvSpPr>
                  <a:spLocks noChangeArrowheads="1"/>
                </p:cNvSpPr>
                <p:nvPr/>
              </p:nvSpPr>
              <p:spPr bwMode="auto">
                <a:xfrm>
                  <a:off x="190" y="1884"/>
                  <a:ext cx="375" cy="140"/>
                </a:xfrm>
                <a:prstGeom prst="rect">
                  <a:avLst/>
                </a:prstGeom>
                <a:solidFill>
                  <a:srgbClr val="243A5E"/>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8" name="Oval 14">
                  <a:extLst>
                    <a:ext uri="{FF2B5EF4-FFF2-40B4-BE49-F238E27FC236}">
                      <a16:creationId xmlns:a16="http://schemas.microsoft.com/office/drawing/2014/main" id="{8C322C20-1009-4467-BFF3-C04D4A8BD635}"/>
                    </a:ext>
                  </a:extLst>
                </p:cNvPr>
                <p:cNvSpPr>
                  <a:spLocks noChangeArrowheads="1"/>
                </p:cNvSpPr>
                <p:nvPr/>
              </p:nvSpPr>
              <p:spPr bwMode="auto">
                <a:xfrm>
                  <a:off x="237" y="1650"/>
                  <a:ext cx="94" cy="93"/>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9" name="Freeform 15">
                  <a:extLst>
                    <a:ext uri="{FF2B5EF4-FFF2-40B4-BE49-F238E27FC236}">
                      <a16:creationId xmlns:a16="http://schemas.microsoft.com/office/drawing/2014/main" id="{064C1557-07F2-41A7-BB11-B0DAACAF1CB8}"/>
                    </a:ext>
                  </a:extLst>
                </p:cNvPr>
                <p:cNvSpPr>
                  <a:spLocks/>
                </p:cNvSpPr>
                <p:nvPr/>
              </p:nvSpPr>
              <p:spPr bwMode="auto">
                <a:xfrm>
                  <a:off x="190" y="1767"/>
                  <a:ext cx="187" cy="93"/>
                </a:xfrm>
                <a:custGeom>
                  <a:avLst/>
                  <a:gdLst>
                    <a:gd name="T0" fmla="*/ 0 w 682"/>
                    <a:gd name="T1" fmla="*/ 342 h 342"/>
                    <a:gd name="T2" fmla="*/ 341 w 682"/>
                    <a:gd name="T3" fmla="*/ 0 h 342"/>
                    <a:gd name="T4" fmla="*/ 682 w 682"/>
                    <a:gd name="T5" fmla="*/ 342 h 342"/>
                    <a:gd name="T6" fmla="*/ 0 w 682"/>
                    <a:gd name="T7" fmla="*/ 342 h 342"/>
                  </a:gdLst>
                  <a:ahLst/>
                  <a:cxnLst>
                    <a:cxn ang="0">
                      <a:pos x="T0" y="T1"/>
                    </a:cxn>
                    <a:cxn ang="0">
                      <a:pos x="T2" y="T3"/>
                    </a:cxn>
                    <a:cxn ang="0">
                      <a:pos x="T4" y="T5"/>
                    </a:cxn>
                    <a:cxn ang="0">
                      <a:pos x="T6" y="T7"/>
                    </a:cxn>
                  </a:cxnLst>
                  <a:rect l="0" t="0" r="r" b="b"/>
                  <a:pathLst>
                    <a:path w="682" h="342">
                      <a:moveTo>
                        <a:pt x="0" y="342"/>
                      </a:moveTo>
                      <a:cubicBezTo>
                        <a:pt x="0" y="153"/>
                        <a:pt x="153" y="0"/>
                        <a:pt x="341" y="0"/>
                      </a:cubicBezTo>
                      <a:cubicBezTo>
                        <a:pt x="530" y="0"/>
                        <a:pt x="682" y="153"/>
                        <a:pt x="682" y="342"/>
                      </a:cubicBezTo>
                      <a:lnTo>
                        <a:pt x="0" y="34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0" name="Rectangle 16">
                  <a:extLst>
                    <a:ext uri="{FF2B5EF4-FFF2-40B4-BE49-F238E27FC236}">
                      <a16:creationId xmlns:a16="http://schemas.microsoft.com/office/drawing/2014/main" id="{85043F3C-0CF9-45C4-A7D6-4F8A9713D050}"/>
                    </a:ext>
                  </a:extLst>
                </p:cNvPr>
                <p:cNvSpPr>
                  <a:spLocks noChangeArrowheads="1"/>
                </p:cNvSpPr>
                <p:nvPr/>
              </p:nvSpPr>
              <p:spPr bwMode="auto">
                <a:xfrm>
                  <a:off x="401" y="1825"/>
                  <a:ext cx="164" cy="3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grpSp>
          <p:nvGrpSpPr>
            <p:cNvPr id="61" name="Group 10">
              <a:extLst>
                <a:ext uri="{FF2B5EF4-FFF2-40B4-BE49-F238E27FC236}">
                  <a16:creationId xmlns:a16="http://schemas.microsoft.com/office/drawing/2014/main" id="{6BCCB87B-151B-4CCF-A6D0-7A7A40B65B92}"/>
                </a:ext>
              </a:extLst>
            </p:cNvPr>
            <p:cNvGrpSpPr>
              <a:grpSpLocks noChangeAspect="1"/>
            </p:cNvGrpSpPr>
            <p:nvPr/>
          </p:nvGrpSpPr>
          <p:grpSpPr bwMode="auto">
            <a:xfrm>
              <a:off x="2396832" y="4980425"/>
              <a:ext cx="379421" cy="379421"/>
              <a:chOff x="5882" y="2524"/>
              <a:chExt cx="485" cy="485"/>
            </a:xfrm>
          </p:grpSpPr>
          <p:sp>
            <p:nvSpPr>
              <p:cNvPr id="62" name="AutoShape 9">
                <a:extLst>
                  <a:ext uri="{FF2B5EF4-FFF2-40B4-BE49-F238E27FC236}">
                    <a16:creationId xmlns:a16="http://schemas.microsoft.com/office/drawing/2014/main" id="{8AC08CBE-7A83-4EA9-8ADC-64F08E4C6558}"/>
                  </a:ext>
                </a:extLst>
              </p:cNvPr>
              <p:cNvSpPr>
                <a:spLocks noChangeAspect="1" noChangeArrowheads="1" noTextEdit="1"/>
              </p:cNvSpPr>
              <p:nvPr/>
            </p:nvSpPr>
            <p:spPr bwMode="auto">
              <a:xfrm>
                <a:off x="5882" y="2524"/>
                <a:ext cx="48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3" name="Freeform 11">
                <a:extLst>
                  <a:ext uri="{FF2B5EF4-FFF2-40B4-BE49-F238E27FC236}">
                    <a16:creationId xmlns:a16="http://schemas.microsoft.com/office/drawing/2014/main" id="{CB25F4D2-FFE2-4BFE-8D60-1E738BA09E02}"/>
                  </a:ext>
                </a:extLst>
              </p:cNvPr>
              <p:cNvSpPr>
                <a:spLocks/>
              </p:cNvSpPr>
              <p:nvPr/>
            </p:nvSpPr>
            <p:spPr bwMode="auto">
              <a:xfrm>
                <a:off x="5901" y="2566"/>
                <a:ext cx="431" cy="283"/>
              </a:xfrm>
              <a:custGeom>
                <a:avLst/>
                <a:gdLst>
                  <a:gd name="T0" fmla="*/ 238 w 367"/>
                  <a:gd name="T1" fmla="*/ 219 h 240"/>
                  <a:gd name="T2" fmla="*/ 238 w 367"/>
                  <a:gd name="T3" fmla="*/ 219 h 240"/>
                  <a:gd name="T4" fmla="*/ 232 w 367"/>
                  <a:gd name="T5" fmla="*/ 187 h 240"/>
                  <a:gd name="T6" fmla="*/ 238 w 367"/>
                  <a:gd name="T7" fmla="*/ 155 h 240"/>
                  <a:gd name="T8" fmla="*/ 256 w 367"/>
                  <a:gd name="T9" fmla="*/ 130 h 240"/>
                  <a:gd name="T10" fmla="*/ 281 w 367"/>
                  <a:gd name="T11" fmla="*/ 113 h 240"/>
                  <a:gd name="T12" fmla="*/ 313 w 367"/>
                  <a:gd name="T13" fmla="*/ 106 h 240"/>
                  <a:gd name="T14" fmla="*/ 344 w 367"/>
                  <a:gd name="T15" fmla="*/ 113 h 240"/>
                  <a:gd name="T16" fmla="*/ 367 w 367"/>
                  <a:gd name="T17" fmla="*/ 127 h 240"/>
                  <a:gd name="T18" fmla="*/ 367 w 367"/>
                  <a:gd name="T19" fmla="*/ 0 h 240"/>
                  <a:gd name="T20" fmla="*/ 316 w 367"/>
                  <a:gd name="T21" fmla="*/ 0 h 240"/>
                  <a:gd name="T22" fmla="*/ 186 w 367"/>
                  <a:gd name="T23" fmla="*/ 130 h 240"/>
                  <a:gd name="T24" fmla="*/ 140 w 367"/>
                  <a:gd name="T25" fmla="*/ 104 h 240"/>
                  <a:gd name="T26" fmla="*/ 75 w 367"/>
                  <a:gd name="T27" fmla="*/ 176 h 240"/>
                  <a:gd name="T28" fmla="*/ 0 w 367"/>
                  <a:gd name="T29" fmla="*/ 176 h 240"/>
                  <a:gd name="T30" fmla="*/ 0 w 367"/>
                  <a:gd name="T31" fmla="*/ 240 h 240"/>
                  <a:gd name="T32" fmla="*/ 252 w 367"/>
                  <a:gd name="T33" fmla="*/ 240 h 240"/>
                  <a:gd name="T34" fmla="*/ 238 w 367"/>
                  <a:gd name="T35" fmla="*/ 21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7" h="240">
                    <a:moveTo>
                      <a:pt x="238" y="219"/>
                    </a:moveTo>
                    <a:lnTo>
                      <a:pt x="238" y="219"/>
                    </a:lnTo>
                    <a:cubicBezTo>
                      <a:pt x="234" y="209"/>
                      <a:pt x="232" y="198"/>
                      <a:pt x="232" y="187"/>
                    </a:cubicBezTo>
                    <a:cubicBezTo>
                      <a:pt x="232" y="176"/>
                      <a:pt x="234" y="165"/>
                      <a:pt x="238" y="155"/>
                    </a:cubicBezTo>
                    <a:cubicBezTo>
                      <a:pt x="243" y="146"/>
                      <a:pt x="248" y="137"/>
                      <a:pt x="256" y="130"/>
                    </a:cubicBezTo>
                    <a:cubicBezTo>
                      <a:pt x="263" y="123"/>
                      <a:pt x="271" y="117"/>
                      <a:pt x="281" y="113"/>
                    </a:cubicBezTo>
                    <a:cubicBezTo>
                      <a:pt x="291" y="108"/>
                      <a:pt x="301" y="106"/>
                      <a:pt x="313" y="106"/>
                    </a:cubicBezTo>
                    <a:cubicBezTo>
                      <a:pt x="324" y="106"/>
                      <a:pt x="334" y="108"/>
                      <a:pt x="344" y="113"/>
                    </a:cubicBezTo>
                    <a:cubicBezTo>
                      <a:pt x="353" y="116"/>
                      <a:pt x="360" y="121"/>
                      <a:pt x="367" y="127"/>
                    </a:cubicBezTo>
                    <a:lnTo>
                      <a:pt x="367" y="0"/>
                    </a:lnTo>
                    <a:lnTo>
                      <a:pt x="316" y="0"/>
                    </a:lnTo>
                    <a:lnTo>
                      <a:pt x="186" y="130"/>
                    </a:lnTo>
                    <a:lnTo>
                      <a:pt x="140" y="104"/>
                    </a:lnTo>
                    <a:lnTo>
                      <a:pt x="75" y="176"/>
                    </a:lnTo>
                    <a:lnTo>
                      <a:pt x="0" y="176"/>
                    </a:lnTo>
                    <a:lnTo>
                      <a:pt x="0" y="240"/>
                    </a:lnTo>
                    <a:lnTo>
                      <a:pt x="252" y="240"/>
                    </a:lnTo>
                    <a:cubicBezTo>
                      <a:pt x="247" y="233"/>
                      <a:pt x="242" y="226"/>
                      <a:pt x="238" y="219"/>
                    </a:cubicBez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4" name="Freeform 12">
                <a:extLst>
                  <a:ext uri="{FF2B5EF4-FFF2-40B4-BE49-F238E27FC236}">
                    <a16:creationId xmlns:a16="http://schemas.microsoft.com/office/drawing/2014/main" id="{DCC80326-218D-42BF-A8A3-42A4CA2C24FB}"/>
                  </a:ext>
                </a:extLst>
              </p:cNvPr>
              <p:cNvSpPr>
                <a:spLocks/>
              </p:cNvSpPr>
              <p:nvPr/>
            </p:nvSpPr>
            <p:spPr bwMode="auto">
              <a:xfrm>
                <a:off x="5901" y="2566"/>
                <a:ext cx="328" cy="177"/>
              </a:xfrm>
              <a:custGeom>
                <a:avLst/>
                <a:gdLst>
                  <a:gd name="T0" fmla="*/ 135 w 279"/>
                  <a:gd name="T1" fmla="*/ 69 h 150"/>
                  <a:gd name="T2" fmla="*/ 135 w 279"/>
                  <a:gd name="T3" fmla="*/ 69 h 150"/>
                  <a:gd name="T4" fmla="*/ 181 w 279"/>
                  <a:gd name="T5" fmla="*/ 97 h 150"/>
                  <a:gd name="T6" fmla="*/ 279 w 279"/>
                  <a:gd name="T7" fmla="*/ 0 h 150"/>
                  <a:gd name="T8" fmla="*/ 0 w 279"/>
                  <a:gd name="T9" fmla="*/ 0 h 150"/>
                  <a:gd name="T10" fmla="*/ 0 w 279"/>
                  <a:gd name="T11" fmla="*/ 150 h 150"/>
                  <a:gd name="T12" fmla="*/ 63 w 279"/>
                  <a:gd name="T13" fmla="*/ 150 h 150"/>
                  <a:gd name="T14" fmla="*/ 135 w 279"/>
                  <a:gd name="T15" fmla="*/ 69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9" h="150">
                    <a:moveTo>
                      <a:pt x="135" y="69"/>
                    </a:moveTo>
                    <a:lnTo>
                      <a:pt x="135" y="69"/>
                    </a:lnTo>
                    <a:lnTo>
                      <a:pt x="181" y="97"/>
                    </a:lnTo>
                    <a:lnTo>
                      <a:pt x="279" y="0"/>
                    </a:lnTo>
                    <a:lnTo>
                      <a:pt x="0" y="0"/>
                    </a:lnTo>
                    <a:lnTo>
                      <a:pt x="0" y="150"/>
                    </a:lnTo>
                    <a:lnTo>
                      <a:pt x="63" y="150"/>
                    </a:lnTo>
                    <a:lnTo>
                      <a:pt x="135" y="69"/>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5" name="Freeform 13">
                <a:extLst>
                  <a:ext uri="{FF2B5EF4-FFF2-40B4-BE49-F238E27FC236}">
                    <a16:creationId xmlns:a16="http://schemas.microsoft.com/office/drawing/2014/main" id="{7CD0E5C2-6684-446D-BEEC-058506AED852}"/>
                  </a:ext>
                </a:extLst>
              </p:cNvPr>
              <p:cNvSpPr>
                <a:spLocks/>
              </p:cNvSpPr>
              <p:nvPr/>
            </p:nvSpPr>
            <p:spPr bwMode="auto">
              <a:xfrm>
                <a:off x="6204" y="2723"/>
                <a:ext cx="128" cy="126"/>
              </a:xfrm>
              <a:custGeom>
                <a:avLst/>
                <a:gdLst>
                  <a:gd name="T0" fmla="*/ 34 w 109"/>
                  <a:gd name="T1" fmla="*/ 104 h 107"/>
                  <a:gd name="T2" fmla="*/ 34 w 109"/>
                  <a:gd name="T3" fmla="*/ 104 h 107"/>
                  <a:gd name="T4" fmla="*/ 42 w 109"/>
                  <a:gd name="T5" fmla="*/ 107 h 107"/>
                  <a:gd name="T6" fmla="*/ 67 w 109"/>
                  <a:gd name="T7" fmla="*/ 107 h 107"/>
                  <a:gd name="T8" fmla="*/ 76 w 109"/>
                  <a:gd name="T9" fmla="*/ 104 h 107"/>
                  <a:gd name="T10" fmla="*/ 93 w 109"/>
                  <a:gd name="T11" fmla="*/ 92 h 107"/>
                  <a:gd name="T12" fmla="*/ 104 w 109"/>
                  <a:gd name="T13" fmla="*/ 75 h 107"/>
                  <a:gd name="T14" fmla="*/ 109 w 109"/>
                  <a:gd name="T15" fmla="*/ 54 h 107"/>
                  <a:gd name="T16" fmla="*/ 104 w 109"/>
                  <a:gd name="T17" fmla="*/ 33 h 107"/>
                  <a:gd name="T18" fmla="*/ 93 w 109"/>
                  <a:gd name="T19" fmla="*/ 16 h 107"/>
                  <a:gd name="T20" fmla="*/ 76 w 109"/>
                  <a:gd name="T21" fmla="*/ 4 h 107"/>
                  <a:gd name="T22" fmla="*/ 55 w 109"/>
                  <a:gd name="T23" fmla="*/ 0 h 107"/>
                  <a:gd name="T24" fmla="*/ 34 w 109"/>
                  <a:gd name="T25" fmla="*/ 4 h 107"/>
                  <a:gd name="T26" fmla="*/ 16 w 109"/>
                  <a:gd name="T27" fmla="*/ 16 h 107"/>
                  <a:gd name="T28" fmla="*/ 5 w 109"/>
                  <a:gd name="T29" fmla="*/ 33 h 107"/>
                  <a:gd name="T30" fmla="*/ 0 w 109"/>
                  <a:gd name="T31" fmla="*/ 54 h 107"/>
                  <a:gd name="T32" fmla="*/ 5 w 109"/>
                  <a:gd name="T33" fmla="*/ 75 h 107"/>
                  <a:gd name="T34" fmla="*/ 16 w 109"/>
                  <a:gd name="T35" fmla="*/ 92 h 107"/>
                  <a:gd name="T36" fmla="*/ 34 w 109"/>
                  <a:gd name="T37" fmla="*/ 10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107">
                    <a:moveTo>
                      <a:pt x="34" y="104"/>
                    </a:moveTo>
                    <a:lnTo>
                      <a:pt x="34" y="104"/>
                    </a:lnTo>
                    <a:cubicBezTo>
                      <a:pt x="36" y="105"/>
                      <a:pt x="39" y="106"/>
                      <a:pt x="42" y="107"/>
                    </a:cubicBezTo>
                    <a:lnTo>
                      <a:pt x="67" y="107"/>
                    </a:lnTo>
                    <a:cubicBezTo>
                      <a:pt x="70" y="106"/>
                      <a:pt x="73" y="105"/>
                      <a:pt x="76" y="104"/>
                    </a:cubicBezTo>
                    <a:cubicBezTo>
                      <a:pt x="82" y="101"/>
                      <a:pt x="88" y="97"/>
                      <a:pt x="93" y="92"/>
                    </a:cubicBezTo>
                    <a:cubicBezTo>
                      <a:pt x="98" y="87"/>
                      <a:pt x="102" y="81"/>
                      <a:pt x="104" y="75"/>
                    </a:cubicBezTo>
                    <a:cubicBezTo>
                      <a:pt x="107" y="68"/>
                      <a:pt x="109" y="61"/>
                      <a:pt x="109" y="54"/>
                    </a:cubicBezTo>
                    <a:cubicBezTo>
                      <a:pt x="109" y="47"/>
                      <a:pt x="107" y="40"/>
                      <a:pt x="104" y="33"/>
                    </a:cubicBezTo>
                    <a:cubicBezTo>
                      <a:pt x="102" y="26"/>
                      <a:pt x="98" y="21"/>
                      <a:pt x="93" y="16"/>
                    </a:cubicBezTo>
                    <a:cubicBezTo>
                      <a:pt x="88" y="11"/>
                      <a:pt x="82" y="7"/>
                      <a:pt x="76" y="4"/>
                    </a:cubicBezTo>
                    <a:cubicBezTo>
                      <a:pt x="69" y="1"/>
                      <a:pt x="62" y="0"/>
                      <a:pt x="55" y="0"/>
                    </a:cubicBezTo>
                    <a:cubicBezTo>
                      <a:pt x="47" y="0"/>
                      <a:pt x="40" y="1"/>
                      <a:pt x="34" y="4"/>
                    </a:cubicBezTo>
                    <a:cubicBezTo>
                      <a:pt x="27" y="7"/>
                      <a:pt x="21" y="11"/>
                      <a:pt x="16" y="16"/>
                    </a:cubicBezTo>
                    <a:cubicBezTo>
                      <a:pt x="12" y="21"/>
                      <a:pt x="8" y="26"/>
                      <a:pt x="5" y="33"/>
                    </a:cubicBezTo>
                    <a:cubicBezTo>
                      <a:pt x="2" y="40"/>
                      <a:pt x="0" y="47"/>
                      <a:pt x="0" y="54"/>
                    </a:cubicBezTo>
                    <a:cubicBezTo>
                      <a:pt x="0" y="61"/>
                      <a:pt x="2" y="68"/>
                      <a:pt x="5" y="75"/>
                    </a:cubicBezTo>
                    <a:cubicBezTo>
                      <a:pt x="8" y="81"/>
                      <a:pt x="12" y="87"/>
                      <a:pt x="16" y="92"/>
                    </a:cubicBezTo>
                    <a:cubicBezTo>
                      <a:pt x="21" y="97"/>
                      <a:pt x="27" y="101"/>
                      <a:pt x="34" y="104"/>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6" name="Freeform 14">
                <a:extLst>
                  <a:ext uri="{FF2B5EF4-FFF2-40B4-BE49-F238E27FC236}">
                    <a16:creationId xmlns:a16="http://schemas.microsoft.com/office/drawing/2014/main" id="{8C944195-B42F-4AAB-B921-3F9375AFE51A}"/>
                  </a:ext>
                </a:extLst>
              </p:cNvPr>
              <p:cNvSpPr>
                <a:spLocks/>
              </p:cNvSpPr>
              <p:nvPr/>
            </p:nvSpPr>
            <p:spPr bwMode="auto">
              <a:xfrm>
                <a:off x="6174" y="2882"/>
                <a:ext cx="190" cy="90"/>
              </a:xfrm>
              <a:custGeom>
                <a:avLst/>
                <a:gdLst>
                  <a:gd name="T0" fmla="*/ 113 w 162"/>
                  <a:gd name="T1" fmla="*/ 6 h 77"/>
                  <a:gd name="T2" fmla="*/ 113 w 162"/>
                  <a:gd name="T3" fmla="*/ 6 h 77"/>
                  <a:gd name="T4" fmla="*/ 81 w 162"/>
                  <a:gd name="T5" fmla="*/ 0 h 77"/>
                  <a:gd name="T6" fmla="*/ 49 w 162"/>
                  <a:gd name="T7" fmla="*/ 6 h 77"/>
                  <a:gd name="T8" fmla="*/ 23 w 162"/>
                  <a:gd name="T9" fmla="*/ 24 h 77"/>
                  <a:gd name="T10" fmla="*/ 6 w 162"/>
                  <a:gd name="T11" fmla="*/ 49 h 77"/>
                  <a:gd name="T12" fmla="*/ 0 w 162"/>
                  <a:gd name="T13" fmla="*/ 77 h 77"/>
                  <a:gd name="T14" fmla="*/ 162 w 162"/>
                  <a:gd name="T15" fmla="*/ 77 h 77"/>
                  <a:gd name="T16" fmla="*/ 156 w 162"/>
                  <a:gd name="T17" fmla="*/ 49 h 77"/>
                  <a:gd name="T18" fmla="*/ 138 w 162"/>
                  <a:gd name="T19" fmla="*/ 23 h 77"/>
                  <a:gd name="T20" fmla="*/ 113 w 162"/>
                  <a:gd name="T21" fmla="*/ 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113" y="6"/>
                    </a:moveTo>
                    <a:lnTo>
                      <a:pt x="113" y="6"/>
                    </a:lnTo>
                    <a:cubicBezTo>
                      <a:pt x="103" y="2"/>
                      <a:pt x="92" y="0"/>
                      <a:pt x="81" y="0"/>
                    </a:cubicBezTo>
                    <a:cubicBezTo>
                      <a:pt x="69" y="0"/>
                      <a:pt x="59" y="2"/>
                      <a:pt x="49" y="6"/>
                    </a:cubicBezTo>
                    <a:cubicBezTo>
                      <a:pt x="39" y="11"/>
                      <a:pt x="30" y="16"/>
                      <a:pt x="23" y="24"/>
                    </a:cubicBezTo>
                    <a:cubicBezTo>
                      <a:pt x="16" y="31"/>
                      <a:pt x="10" y="40"/>
                      <a:pt x="6" y="49"/>
                    </a:cubicBezTo>
                    <a:cubicBezTo>
                      <a:pt x="2" y="58"/>
                      <a:pt x="0" y="67"/>
                      <a:pt x="0" y="77"/>
                    </a:cubicBezTo>
                    <a:lnTo>
                      <a:pt x="162" y="77"/>
                    </a:lnTo>
                    <a:cubicBezTo>
                      <a:pt x="161" y="67"/>
                      <a:pt x="159" y="58"/>
                      <a:pt x="156" y="49"/>
                    </a:cubicBezTo>
                    <a:cubicBezTo>
                      <a:pt x="151" y="39"/>
                      <a:pt x="146" y="31"/>
                      <a:pt x="138" y="23"/>
                    </a:cubicBezTo>
                    <a:cubicBezTo>
                      <a:pt x="131" y="16"/>
                      <a:pt x="123" y="10"/>
                      <a:pt x="113" y="6"/>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71" name="Group 4">
              <a:extLst>
                <a:ext uri="{FF2B5EF4-FFF2-40B4-BE49-F238E27FC236}">
                  <a16:creationId xmlns:a16="http://schemas.microsoft.com/office/drawing/2014/main" id="{5C9F7702-69EF-4C06-B36A-420CEDE0F7DF}"/>
                </a:ext>
              </a:extLst>
            </p:cNvPr>
            <p:cNvGrpSpPr>
              <a:grpSpLocks noChangeAspect="1"/>
            </p:cNvGrpSpPr>
            <p:nvPr/>
          </p:nvGrpSpPr>
          <p:grpSpPr bwMode="auto">
            <a:xfrm>
              <a:off x="2426713" y="5527306"/>
              <a:ext cx="319659" cy="325829"/>
              <a:chOff x="2406" y="2083"/>
              <a:chExt cx="259" cy="264"/>
            </a:xfrm>
          </p:grpSpPr>
          <p:sp>
            <p:nvSpPr>
              <p:cNvPr id="73" name="Freeform 5">
                <a:extLst>
                  <a:ext uri="{FF2B5EF4-FFF2-40B4-BE49-F238E27FC236}">
                    <a16:creationId xmlns:a16="http://schemas.microsoft.com/office/drawing/2014/main" id="{94A29132-EC6D-422B-8C3E-B2995D374222}"/>
                  </a:ext>
                </a:extLst>
              </p:cNvPr>
              <p:cNvSpPr>
                <a:spLocks/>
              </p:cNvSpPr>
              <p:nvPr/>
            </p:nvSpPr>
            <p:spPr bwMode="auto">
              <a:xfrm>
                <a:off x="2406" y="2137"/>
                <a:ext cx="160" cy="210"/>
              </a:xfrm>
              <a:custGeom>
                <a:avLst/>
                <a:gdLst>
                  <a:gd name="T0" fmla="*/ 26 w 258"/>
                  <a:gd name="T1" fmla="*/ 57 h 338"/>
                  <a:gd name="T2" fmla="*/ 26 w 258"/>
                  <a:gd name="T3" fmla="*/ 57 h 338"/>
                  <a:gd name="T4" fmla="*/ 13 w 258"/>
                  <a:gd name="T5" fmla="*/ 72 h 338"/>
                  <a:gd name="T6" fmla="*/ 4 w 258"/>
                  <a:gd name="T7" fmla="*/ 83 h 338"/>
                  <a:gd name="T8" fmla="*/ 0 w 258"/>
                  <a:gd name="T9" fmla="*/ 89 h 338"/>
                  <a:gd name="T10" fmla="*/ 2 w 258"/>
                  <a:gd name="T11" fmla="*/ 95 h 338"/>
                  <a:gd name="T12" fmla="*/ 8 w 258"/>
                  <a:gd name="T13" fmla="*/ 98 h 338"/>
                  <a:gd name="T14" fmla="*/ 14 w 258"/>
                  <a:gd name="T15" fmla="*/ 98 h 338"/>
                  <a:gd name="T16" fmla="*/ 24 w 258"/>
                  <a:gd name="T17" fmla="*/ 96 h 338"/>
                  <a:gd name="T18" fmla="*/ 34 w 258"/>
                  <a:gd name="T19" fmla="*/ 93 h 338"/>
                  <a:gd name="T20" fmla="*/ 45 w 258"/>
                  <a:gd name="T21" fmla="*/ 90 h 338"/>
                  <a:gd name="T22" fmla="*/ 55 w 258"/>
                  <a:gd name="T23" fmla="*/ 87 h 338"/>
                  <a:gd name="T24" fmla="*/ 62 w 258"/>
                  <a:gd name="T25" fmla="*/ 86 h 338"/>
                  <a:gd name="T26" fmla="*/ 70 w 258"/>
                  <a:gd name="T27" fmla="*/ 144 h 338"/>
                  <a:gd name="T28" fmla="*/ 95 w 258"/>
                  <a:gd name="T29" fmla="*/ 194 h 338"/>
                  <a:gd name="T30" fmla="*/ 134 w 258"/>
                  <a:gd name="T31" fmla="*/ 233 h 338"/>
                  <a:gd name="T32" fmla="*/ 186 w 258"/>
                  <a:gd name="T33" fmla="*/ 260 h 338"/>
                  <a:gd name="T34" fmla="*/ 199 w 258"/>
                  <a:gd name="T35" fmla="*/ 269 h 338"/>
                  <a:gd name="T36" fmla="*/ 204 w 258"/>
                  <a:gd name="T37" fmla="*/ 285 h 338"/>
                  <a:gd name="T38" fmla="*/ 204 w 258"/>
                  <a:gd name="T39" fmla="*/ 338 h 338"/>
                  <a:gd name="T40" fmla="*/ 258 w 258"/>
                  <a:gd name="T41" fmla="*/ 338 h 338"/>
                  <a:gd name="T42" fmla="*/ 258 w 258"/>
                  <a:gd name="T43" fmla="*/ 285 h 338"/>
                  <a:gd name="T44" fmla="*/ 254 w 258"/>
                  <a:gd name="T45" fmla="*/ 260 h 338"/>
                  <a:gd name="T46" fmla="*/ 242 w 258"/>
                  <a:gd name="T47" fmla="*/ 238 h 338"/>
                  <a:gd name="T48" fmla="*/ 224 w 258"/>
                  <a:gd name="T49" fmla="*/ 220 h 338"/>
                  <a:gd name="T50" fmla="*/ 201 w 258"/>
                  <a:gd name="T51" fmla="*/ 209 h 338"/>
                  <a:gd name="T52" fmla="*/ 165 w 258"/>
                  <a:gd name="T53" fmla="*/ 191 h 338"/>
                  <a:gd name="T54" fmla="*/ 138 w 258"/>
                  <a:gd name="T55" fmla="*/ 163 h 338"/>
                  <a:gd name="T56" fmla="*/ 121 w 258"/>
                  <a:gd name="T57" fmla="*/ 128 h 338"/>
                  <a:gd name="T58" fmla="*/ 115 w 258"/>
                  <a:gd name="T59" fmla="*/ 88 h 338"/>
                  <a:gd name="T60" fmla="*/ 115 w 258"/>
                  <a:gd name="T61" fmla="*/ 86 h 338"/>
                  <a:gd name="T62" fmla="*/ 127 w 258"/>
                  <a:gd name="T63" fmla="*/ 89 h 338"/>
                  <a:gd name="T64" fmla="*/ 143 w 258"/>
                  <a:gd name="T65" fmla="*/ 93 h 338"/>
                  <a:gd name="T66" fmla="*/ 159 w 258"/>
                  <a:gd name="T67" fmla="*/ 97 h 338"/>
                  <a:gd name="T68" fmla="*/ 169 w 258"/>
                  <a:gd name="T69" fmla="*/ 98 h 338"/>
                  <a:gd name="T70" fmla="*/ 175 w 258"/>
                  <a:gd name="T71" fmla="*/ 95 h 338"/>
                  <a:gd name="T72" fmla="*/ 178 w 258"/>
                  <a:gd name="T73" fmla="*/ 89 h 338"/>
                  <a:gd name="T74" fmla="*/ 174 w 258"/>
                  <a:gd name="T75" fmla="*/ 83 h 338"/>
                  <a:gd name="T76" fmla="*/ 165 w 258"/>
                  <a:gd name="T77" fmla="*/ 72 h 338"/>
                  <a:gd name="T78" fmla="*/ 151 w 258"/>
                  <a:gd name="T79" fmla="*/ 57 h 338"/>
                  <a:gd name="T80" fmla="*/ 136 w 258"/>
                  <a:gd name="T81" fmla="*/ 42 h 338"/>
                  <a:gd name="T82" fmla="*/ 120 w 258"/>
                  <a:gd name="T83" fmla="*/ 26 h 338"/>
                  <a:gd name="T84" fmla="*/ 106 w 258"/>
                  <a:gd name="T85" fmla="*/ 13 h 338"/>
                  <a:gd name="T86" fmla="*/ 95 w 258"/>
                  <a:gd name="T87" fmla="*/ 3 h 338"/>
                  <a:gd name="T88" fmla="*/ 89 w 258"/>
                  <a:gd name="T89" fmla="*/ 0 h 338"/>
                  <a:gd name="T90" fmla="*/ 83 w 258"/>
                  <a:gd name="T91" fmla="*/ 3 h 338"/>
                  <a:gd name="T92" fmla="*/ 72 w 258"/>
                  <a:gd name="T93" fmla="*/ 13 h 338"/>
                  <a:gd name="T94" fmla="*/ 57 w 258"/>
                  <a:gd name="T95" fmla="*/ 26 h 338"/>
                  <a:gd name="T96" fmla="*/ 42 w 258"/>
                  <a:gd name="T97" fmla="*/ 42 h 338"/>
                  <a:gd name="T98" fmla="*/ 26 w 258"/>
                  <a:gd name="T99" fmla="*/ 57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 h="338">
                    <a:moveTo>
                      <a:pt x="26" y="57"/>
                    </a:moveTo>
                    <a:lnTo>
                      <a:pt x="26" y="57"/>
                    </a:lnTo>
                    <a:cubicBezTo>
                      <a:pt x="21" y="63"/>
                      <a:pt x="17" y="67"/>
                      <a:pt x="13" y="72"/>
                    </a:cubicBezTo>
                    <a:cubicBezTo>
                      <a:pt x="9" y="76"/>
                      <a:pt x="6" y="80"/>
                      <a:pt x="4" y="83"/>
                    </a:cubicBezTo>
                    <a:cubicBezTo>
                      <a:pt x="1" y="86"/>
                      <a:pt x="0" y="88"/>
                      <a:pt x="0" y="89"/>
                    </a:cubicBezTo>
                    <a:cubicBezTo>
                      <a:pt x="0" y="91"/>
                      <a:pt x="1" y="93"/>
                      <a:pt x="2" y="95"/>
                    </a:cubicBezTo>
                    <a:cubicBezTo>
                      <a:pt x="4" y="97"/>
                      <a:pt x="6" y="98"/>
                      <a:pt x="8" y="98"/>
                    </a:cubicBezTo>
                    <a:cubicBezTo>
                      <a:pt x="9" y="98"/>
                      <a:pt x="12" y="98"/>
                      <a:pt x="14" y="98"/>
                    </a:cubicBezTo>
                    <a:cubicBezTo>
                      <a:pt x="17" y="97"/>
                      <a:pt x="20" y="96"/>
                      <a:pt x="24" y="96"/>
                    </a:cubicBezTo>
                    <a:cubicBezTo>
                      <a:pt x="27" y="95"/>
                      <a:pt x="31" y="94"/>
                      <a:pt x="34" y="93"/>
                    </a:cubicBezTo>
                    <a:cubicBezTo>
                      <a:pt x="38" y="92"/>
                      <a:pt x="42" y="91"/>
                      <a:pt x="45" y="90"/>
                    </a:cubicBezTo>
                    <a:cubicBezTo>
                      <a:pt x="49" y="89"/>
                      <a:pt x="52" y="88"/>
                      <a:pt x="55" y="87"/>
                    </a:cubicBezTo>
                    <a:cubicBezTo>
                      <a:pt x="58" y="87"/>
                      <a:pt x="60" y="86"/>
                      <a:pt x="62" y="86"/>
                    </a:cubicBezTo>
                    <a:cubicBezTo>
                      <a:pt x="62" y="106"/>
                      <a:pt x="65" y="125"/>
                      <a:pt x="70" y="144"/>
                    </a:cubicBezTo>
                    <a:cubicBezTo>
                      <a:pt x="76" y="162"/>
                      <a:pt x="84" y="179"/>
                      <a:pt x="95" y="194"/>
                    </a:cubicBezTo>
                    <a:cubicBezTo>
                      <a:pt x="105" y="209"/>
                      <a:pt x="118" y="222"/>
                      <a:pt x="134" y="233"/>
                    </a:cubicBezTo>
                    <a:cubicBezTo>
                      <a:pt x="149" y="244"/>
                      <a:pt x="167" y="253"/>
                      <a:pt x="186" y="260"/>
                    </a:cubicBezTo>
                    <a:cubicBezTo>
                      <a:pt x="191" y="262"/>
                      <a:pt x="196" y="265"/>
                      <a:pt x="199" y="269"/>
                    </a:cubicBezTo>
                    <a:cubicBezTo>
                      <a:pt x="203" y="274"/>
                      <a:pt x="204" y="279"/>
                      <a:pt x="204" y="285"/>
                    </a:cubicBezTo>
                    <a:lnTo>
                      <a:pt x="204" y="338"/>
                    </a:lnTo>
                    <a:lnTo>
                      <a:pt x="258" y="338"/>
                    </a:lnTo>
                    <a:lnTo>
                      <a:pt x="258" y="285"/>
                    </a:lnTo>
                    <a:cubicBezTo>
                      <a:pt x="258" y="276"/>
                      <a:pt x="256" y="268"/>
                      <a:pt x="254" y="260"/>
                    </a:cubicBezTo>
                    <a:cubicBezTo>
                      <a:pt x="251" y="252"/>
                      <a:pt x="247" y="244"/>
                      <a:pt x="242" y="238"/>
                    </a:cubicBezTo>
                    <a:cubicBezTo>
                      <a:pt x="237" y="231"/>
                      <a:pt x="231" y="225"/>
                      <a:pt x="224" y="220"/>
                    </a:cubicBezTo>
                    <a:cubicBezTo>
                      <a:pt x="217" y="215"/>
                      <a:pt x="209" y="212"/>
                      <a:pt x="201" y="209"/>
                    </a:cubicBezTo>
                    <a:cubicBezTo>
                      <a:pt x="188" y="205"/>
                      <a:pt x="176" y="199"/>
                      <a:pt x="165" y="191"/>
                    </a:cubicBezTo>
                    <a:cubicBezTo>
                      <a:pt x="155" y="183"/>
                      <a:pt x="146" y="173"/>
                      <a:pt x="138" y="163"/>
                    </a:cubicBezTo>
                    <a:cubicBezTo>
                      <a:pt x="131" y="152"/>
                      <a:pt x="125" y="141"/>
                      <a:pt x="121" y="128"/>
                    </a:cubicBezTo>
                    <a:cubicBezTo>
                      <a:pt x="117" y="115"/>
                      <a:pt x="115" y="102"/>
                      <a:pt x="115" y="88"/>
                    </a:cubicBezTo>
                    <a:lnTo>
                      <a:pt x="115" y="86"/>
                    </a:lnTo>
                    <a:cubicBezTo>
                      <a:pt x="118" y="86"/>
                      <a:pt x="122" y="87"/>
                      <a:pt x="127" y="89"/>
                    </a:cubicBezTo>
                    <a:cubicBezTo>
                      <a:pt x="132" y="90"/>
                      <a:pt x="138" y="92"/>
                      <a:pt x="143" y="93"/>
                    </a:cubicBezTo>
                    <a:cubicBezTo>
                      <a:pt x="149" y="94"/>
                      <a:pt x="154" y="96"/>
                      <a:pt x="159" y="97"/>
                    </a:cubicBezTo>
                    <a:cubicBezTo>
                      <a:pt x="164" y="98"/>
                      <a:pt x="167" y="98"/>
                      <a:pt x="169" y="98"/>
                    </a:cubicBezTo>
                    <a:cubicBezTo>
                      <a:pt x="172" y="98"/>
                      <a:pt x="174" y="97"/>
                      <a:pt x="175" y="95"/>
                    </a:cubicBezTo>
                    <a:cubicBezTo>
                      <a:pt x="177" y="93"/>
                      <a:pt x="178" y="91"/>
                      <a:pt x="178" y="89"/>
                    </a:cubicBezTo>
                    <a:cubicBezTo>
                      <a:pt x="178" y="88"/>
                      <a:pt x="177" y="86"/>
                      <a:pt x="174" y="83"/>
                    </a:cubicBezTo>
                    <a:cubicBezTo>
                      <a:pt x="172" y="80"/>
                      <a:pt x="169" y="76"/>
                      <a:pt x="165" y="72"/>
                    </a:cubicBezTo>
                    <a:cubicBezTo>
                      <a:pt x="161" y="67"/>
                      <a:pt x="156" y="63"/>
                      <a:pt x="151" y="57"/>
                    </a:cubicBezTo>
                    <a:cubicBezTo>
                      <a:pt x="146" y="52"/>
                      <a:pt x="141" y="47"/>
                      <a:pt x="136" y="42"/>
                    </a:cubicBezTo>
                    <a:cubicBezTo>
                      <a:pt x="131" y="36"/>
                      <a:pt x="125" y="31"/>
                      <a:pt x="120" y="26"/>
                    </a:cubicBezTo>
                    <a:cubicBezTo>
                      <a:pt x="115" y="21"/>
                      <a:pt x="110" y="17"/>
                      <a:pt x="106" y="13"/>
                    </a:cubicBezTo>
                    <a:cubicBezTo>
                      <a:pt x="102" y="9"/>
                      <a:pt x="98" y="6"/>
                      <a:pt x="95" y="3"/>
                    </a:cubicBezTo>
                    <a:cubicBezTo>
                      <a:pt x="92" y="1"/>
                      <a:pt x="90" y="0"/>
                      <a:pt x="89" y="0"/>
                    </a:cubicBezTo>
                    <a:cubicBezTo>
                      <a:pt x="88" y="0"/>
                      <a:pt x="86" y="1"/>
                      <a:pt x="83" y="3"/>
                    </a:cubicBezTo>
                    <a:cubicBezTo>
                      <a:pt x="80" y="6"/>
                      <a:pt x="76" y="9"/>
                      <a:pt x="72" y="13"/>
                    </a:cubicBezTo>
                    <a:cubicBezTo>
                      <a:pt x="67" y="17"/>
                      <a:pt x="63" y="21"/>
                      <a:pt x="57" y="26"/>
                    </a:cubicBezTo>
                    <a:cubicBezTo>
                      <a:pt x="52" y="31"/>
                      <a:pt x="47" y="36"/>
                      <a:pt x="42" y="42"/>
                    </a:cubicBezTo>
                    <a:cubicBezTo>
                      <a:pt x="36" y="47"/>
                      <a:pt x="31" y="52"/>
                      <a:pt x="26" y="57"/>
                    </a:cubicBez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74" name="Freeform 6">
                <a:extLst>
                  <a:ext uri="{FF2B5EF4-FFF2-40B4-BE49-F238E27FC236}">
                    <a16:creationId xmlns:a16="http://schemas.microsoft.com/office/drawing/2014/main" id="{D49813C6-7809-4192-B7EF-80975750CEBC}"/>
                  </a:ext>
                </a:extLst>
              </p:cNvPr>
              <p:cNvSpPr>
                <a:spLocks/>
              </p:cNvSpPr>
              <p:nvPr/>
            </p:nvSpPr>
            <p:spPr bwMode="auto">
              <a:xfrm>
                <a:off x="2473" y="2083"/>
                <a:ext cx="192" cy="215"/>
              </a:xfrm>
              <a:custGeom>
                <a:avLst/>
                <a:gdLst>
                  <a:gd name="T0" fmla="*/ 310 w 310"/>
                  <a:gd name="T1" fmla="*/ 177 h 347"/>
                  <a:gd name="T2" fmla="*/ 310 w 310"/>
                  <a:gd name="T3" fmla="*/ 177 h 347"/>
                  <a:gd name="T4" fmla="*/ 303 w 310"/>
                  <a:gd name="T5" fmla="*/ 129 h 347"/>
                  <a:gd name="T6" fmla="*/ 285 w 310"/>
                  <a:gd name="T7" fmla="*/ 87 h 347"/>
                  <a:gd name="T8" fmla="*/ 257 w 310"/>
                  <a:gd name="T9" fmla="*/ 51 h 347"/>
                  <a:gd name="T10" fmla="*/ 221 w 310"/>
                  <a:gd name="T11" fmla="*/ 23 h 347"/>
                  <a:gd name="T12" fmla="*/ 179 w 310"/>
                  <a:gd name="T13" fmla="*/ 5 h 347"/>
                  <a:gd name="T14" fmla="*/ 132 w 310"/>
                  <a:gd name="T15" fmla="*/ 0 h 347"/>
                  <a:gd name="T16" fmla="*/ 95 w 310"/>
                  <a:gd name="T17" fmla="*/ 4 h 347"/>
                  <a:gd name="T18" fmla="*/ 60 w 310"/>
                  <a:gd name="T19" fmla="*/ 14 h 347"/>
                  <a:gd name="T20" fmla="*/ 28 w 310"/>
                  <a:gd name="T21" fmla="*/ 33 h 347"/>
                  <a:gd name="T22" fmla="*/ 0 w 310"/>
                  <a:gd name="T23" fmla="*/ 58 h 347"/>
                  <a:gd name="T24" fmla="*/ 38 w 310"/>
                  <a:gd name="T25" fmla="*/ 96 h 347"/>
                  <a:gd name="T26" fmla="*/ 57 w 310"/>
                  <a:gd name="T27" fmla="*/ 77 h 347"/>
                  <a:gd name="T28" fmla="*/ 80 w 310"/>
                  <a:gd name="T29" fmla="*/ 64 h 347"/>
                  <a:gd name="T30" fmla="*/ 105 w 310"/>
                  <a:gd name="T31" fmla="*/ 55 h 347"/>
                  <a:gd name="T32" fmla="*/ 132 w 310"/>
                  <a:gd name="T33" fmla="*/ 52 h 347"/>
                  <a:gd name="T34" fmla="*/ 180 w 310"/>
                  <a:gd name="T35" fmla="*/ 62 h 347"/>
                  <a:gd name="T36" fmla="*/ 220 w 310"/>
                  <a:gd name="T37" fmla="*/ 89 h 347"/>
                  <a:gd name="T38" fmla="*/ 247 w 310"/>
                  <a:gd name="T39" fmla="*/ 128 h 347"/>
                  <a:gd name="T40" fmla="*/ 256 w 310"/>
                  <a:gd name="T41" fmla="*/ 177 h 347"/>
                  <a:gd name="T42" fmla="*/ 249 w 310"/>
                  <a:gd name="T43" fmla="*/ 219 h 347"/>
                  <a:gd name="T44" fmla="*/ 228 w 310"/>
                  <a:gd name="T45" fmla="*/ 256 h 347"/>
                  <a:gd name="T46" fmla="*/ 195 w 310"/>
                  <a:gd name="T47" fmla="*/ 283 h 347"/>
                  <a:gd name="T48" fmla="*/ 155 w 310"/>
                  <a:gd name="T49" fmla="*/ 299 h 347"/>
                  <a:gd name="T50" fmla="*/ 172 w 310"/>
                  <a:gd name="T51" fmla="*/ 321 h 347"/>
                  <a:gd name="T52" fmla="*/ 182 w 310"/>
                  <a:gd name="T53" fmla="*/ 347 h 347"/>
                  <a:gd name="T54" fmla="*/ 234 w 310"/>
                  <a:gd name="T55" fmla="*/ 322 h 347"/>
                  <a:gd name="T56" fmla="*/ 274 w 310"/>
                  <a:gd name="T57" fmla="*/ 283 h 347"/>
                  <a:gd name="T58" fmla="*/ 300 w 310"/>
                  <a:gd name="T59" fmla="*/ 233 h 347"/>
                  <a:gd name="T60" fmla="*/ 310 w 310"/>
                  <a:gd name="T61" fmla="*/ 17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0" h="347">
                    <a:moveTo>
                      <a:pt x="310" y="177"/>
                    </a:moveTo>
                    <a:lnTo>
                      <a:pt x="310" y="177"/>
                    </a:lnTo>
                    <a:cubicBezTo>
                      <a:pt x="310" y="160"/>
                      <a:pt x="308" y="145"/>
                      <a:pt x="303" y="129"/>
                    </a:cubicBezTo>
                    <a:cubicBezTo>
                      <a:pt x="299" y="114"/>
                      <a:pt x="293" y="100"/>
                      <a:pt x="285" y="87"/>
                    </a:cubicBezTo>
                    <a:cubicBezTo>
                      <a:pt x="278" y="74"/>
                      <a:pt x="268" y="62"/>
                      <a:pt x="257" y="51"/>
                    </a:cubicBezTo>
                    <a:cubicBezTo>
                      <a:pt x="247" y="40"/>
                      <a:pt x="235" y="31"/>
                      <a:pt x="221" y="23"/>
                    </a:cubicBezTo>
                    <a:cubicBezTo>
                      <a:pt x="208" y="15"/>
                      <a:pt x="194" y="9"/>
                      <a:pt x="179" y="5"/>
                    </a:cubicBezTo>
                    <a:cubicBezTo>
                      <a:pt x="164" y="2"/>
                      <a:pt x="148" y="0"/>
                      <a:pt x="132" y="0"/>
                    </a:cubicBezTo>
                    <a:cubicBezTo>
                      <a:pt x="119" y="0"/>
                      <a:pt x="107" y="1"/>
                      <a:pt x="95" y="4"/>
                    </a:cubicBezTo>
                    <a:cubicBezTo>
                      <a:pt x="83" y="5"/>
                      <a:pt x="71" y="9"/>
                      <a:pt x="60" y="14"/>
                    </a:cubicBezTo>
                    <a:cubicBezTo>
                      <a:pt x="49" y="19"/>
                      <a:pt x="38" y="25"/>
                      <a:pt x="28" y="33"/>
                    </a:cubicBezTo>
                    <a:cubicBezTo>
                      <a:pt x="18" y="40"/>
                      <a:pt x="8" y="48"/>
                      <a:pt x="0" y="58"/>
                    </a:cubicBezTo>
                    <a:lnTo>
                      <a:pt x="38" y="96"/>
                    </a:lnTo>
                    <a:cubicBezTo>
                      <a:pt x="44" y="89"/>
                      <a:pt x="50" y="83"/>
                      <a:pt x="57" y="77"/>
                    </a:cubicBezTo>
                    <a:cubicBezTo>
                      <a:pt x="65" y="72"/>
                      <a:pt x="72" y="67"/>
                      <a:pt x="80" y="64"/>
                    </a:cubicBezTo>
                    <a:cubicBezTo>
                      <a:pt x="88" y="60"/>
                      <a:pt x="97" y="57"/>
                      <a:pt x="105" y="55"/>
                    </a:cubicBezTo>
                    <a:cubicBezTo>
                      <a:pt x="114" y="53"/>
                      <a:pt x="123" y="52"/>
                      <a:pt x="132" y="52"/>
                    </a:cubicBezTo>
                    <a:cubicBezTo>
                      <a:pt x="149" y="52"/>
                      <a:pt x="165" y="55"/>
                      <a:pt x="180" y="62"/>
                    </a:cubicBezTo>
                    <a:cubicBezTo>
                      <a:pt x="195" y="68"/>
                      <a:pt x="209" y="77"/>
                      <a:pt x="220" y="89"/>
                    </a:cubicBezTo>
                    <a:cubicBezTo>
                      <a:pt x="231" y="100"/>
                      <a:pt x="240" y="113"/>
                      <a:pt x="247" y="128"/>
                    </a:cubicBezTo>
                    <a:cubicBezTo>
                      <a:pt x="253" y="143"/>
                      <a:pt x="256" y="159"/>
                      <a:pt x="256" y="177"/>
                    </a:cubicBezTo>
                    <a:cubicBezTo>
                      <a:pt x="256" y="192"/>
                      <a:pt x="254" y="206"/>
                      <a:pt x="249" y="219"/>
                    </a:cubicBezTo>
                    <a:cubicBezTo>
                      <a:pt x="244" y="233"/>
                      <a:pt x="237" y="245"/>
                      <a:pt x="228" y="256"/>
                    </a:cubicBezTo>
                    <a:cubicBezTo>
                      <a:pt x="219" y="267"/>
                      <a:pt x="208" y="276"/>
                      <a:pt x="195" y="283"/>
                    </a:cubicBezTo>
                    <a:cubicBezTo>
                      <a:pt x="183" y="291"/>
                      <a:pt x="169" y="296"/>
                      <a:pt x="155" y="299"/>
                    </a:cubicBezTo>
                    <a:cubicBezTo>
                      <a:pt x="161" y="305"/>
                      <a:pt x="167" y="313"/>
                      <a:pt x="172" y="321"/>
                    </a:cubicBezTo>
                    <a:cubicBezTo>
                      <a:pt x="176" y="329"/>
                      <a:pt x="180" y="338"/>
                      <a:pt x="182" y="347"/>
                    </a:cubicBezTo>
                    <a:cubicBezTo>
                      <a:pt x="201" y="342"/>
                      <a:pt x="218" y="333"/>
                      <a:pt x="234" y="322"/>
                    </a:cubicBezTo>
                    <a:cubicBezTo>
                      <a:pt x="250" y="311"/>
                      <a:pt x="263" y="298"/>
                      <a:pt x="274" y="283"/>
                    </a:cubicBezTo>
                    <a:cubicBezTo>
                      <a:pt x="286" y="268"/>
                      <a:pt x="294" y="251"/>
                      <a:pt x="300" y="233"/>
                    </a:cubicBezTo>
                    <a:cubicBezTo>
                      <a:pt x="307" y="215"/>
                      <a:pt x="310" y="196"/>
                      <a:pt x="310" y="177"/>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76" name="Group 9">
              <a:extLst>
                <a:ext uri="{FF2B5EF4-FFF2-40B4-BE49-F238E27FC236}">
                  <a16:creationId xmlns:a16="http://schemas.microsoft.com/office/drawing/2014/main" id="{45444B8D-6529-4446-8E33-69512E2423D7}"/>
                </a:ext>
              </a:extLst>
            </p:cNvPr>
            <p:cNvGrpSpPr>
              <a:grpSpLocks noChangeAspect="1"/>
            </p:cNvGrpSpPr>
            <p:nvPr/>
          </p:nvGrpSpPr>
          <p:grpSpPr bwMode="auto">
            <a:xfrm>
              <a:off x="2441286" y="2738284"/>
              <a:ext cx="290513" cy="288925"/>
              <a:chOff x="4185" y="1483"/>
              <a:chExt cx="183" cy="182"/>
            </a:xfrm>
          </p:grpSpPr>
          <p:sp>
            <p:nvSpPr>
              <p:cNvPr id="78" name="Freeform 10">
                <a:extLst>
                  <a:ext uri="{FF2B5EF4-FFF2-40B4-BE49-F238E27FC236}">
                    <a16:creationId xmlns:a16="http://schemas.microsoft.com/office/drawing/2014/main" id="{C745FB6C-E102-4B1A-82F2-A21F2CEB253E}"/>
                  </a:ext>
                </a:extLst>
              </p:cNvPr>
              <p:cNvSpPr>
                <a:spLocks/>
              </p:cNvSpPr>
              <p:nvPr/>
            </p:nvSpPr>
            <p:spPr bwMode="auto">
              <a:xfrm>
                <a:off x="4185" y="1500"/>
                <a:ext cx="166" cy="165"/>
              </a:xfrm>
              <a:custGeom>
                <a:avLst/>
                <a:gdLst>
                  <a:gd name="T0" fmla="*/ 0 w 267"/>
                  <a:gd name="T1" fmla="*/ 267 h 267"/>
                  <a:gd name="T2" fmla="*/ 0 w 267"/>
                  <a:gd name="T3" fmla="*/ 267 h 267"/>
                  <a:gd name="T4" fmla="*/ 267 w 267"/>
                  <a:gd name="T5" fmla="*/ 267 h 267"/>
                  <a:gd name="T6" fmla="*/ 267 w 267"/>
                  <a:gd name="T7" fmla="*/ 59 h 267"/>
                  <a:gd name="T8" fmla="*/ 105 w 267"/>
                  <a:gd name="T9" fmla="*/ 221 h 267"/>
                  <a:gd name="T10" fmla="*/ 27 w 267"/>
                  <a:gd name="T11" fmla="*/ 240 h 267"/>
                  <a:gd name="T12" fmla="*/ 46 w 267"/>
                  <a:gd name="T13" fmla="*/ 162 h 267"/>
                  <a:gd name="T14" fmla="*/ 208 w 267"/>
                  <a:gd name="T15" fmla="*/ 0 h 267"/>
                  <a:gd name="T16" fmla="*/ 0 w 267"/>
                  <a:gd name="T17" fmla="*/ 0 h 267"/>
                  <a:gd name="T18" fmla="*/ 0 w 267"/>
                  <a:gd name="T19"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7" h="267">
                    <a:moveTo>
                      <a:pt x="0" y="267"/>
                    </a:moveTo>
                    <a:lnTo>
                      <a:pt x="0" y="267"/>
                    </a:lnTo>
                    <a:lnTo>
                      <a:pt x="267" y="267"/>
                    </a:lnTo>
                    <a:lnTo>
                      <a:pt x="267" y="59"/>
                    </a:lnTo>
                    <a:lnTo>
                      <a:pt x="105" y="221"/>
                    </a:lnTo>
                    <a:lnTo>
                      <a:pt x="27" y="240"/>
                    </a:lnTo>
                    <a:lnTo>
                      <a:pt x="46" y="162"/>
                    </a:lnTo>
                    <a:lnTo>
                      <a:pt x="208" y="0"/>
                    </a:lnTo>
                    <a:lnTo>
                      <a:pt x="0" y="0"/>
                    </a:lnTo>
                    <a:lnTo>
                      <a:pt x="0" y="267"/>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79" name="Freeform 11">
                <a:extLst>
                  <a:ext uri="{FF2B5EF4-FFF2-40B4-BE49-F238E27FC236}">
                    <a16:creationId xmlns:a16="http://schemas.microsoft.com/office/drawing/2014/main" id="{1B63F122-99CA-4D77-8FB0-00FD13F45C24}"/>
                  </a:ext>
                </a:extLst>
              </p:cNvPr>
              <p:cNvSpPr>
                <a:spLocks/>
              </p:cNvSpPr>
              <p:nvPr/>
            </p:nvSpPr>
            <p:spPr bwMode="auto">
              <a:xfrm>
                <a:off x="4225" y="1483"/>
                <a:ext cx="143" cy="143"/>
              </a:xfrm>
              <a:custGeom>
                <a:avLst/>
                <a:gdLst>
                  <a:gd name="T0" fmla="*/ 28 w 230"/>
                  <a:gd name="T1" fmla="*/ 223 h 230"/>
                  <a:gd name="T2" fmla="*/ 28 w 230"/>
                  <a:gd name="T3" fmla="*/ 223 h 230"/>
                  <a:gd name="T4" fmla="*/ 225 w 230"/>
                  <a:gd name="T5" fmla="*/ 26 h 230"/>
                  <a:gd name="T6" fmla="*/ 230 w 230"/>
                  <a:gd name="T7" fmla="*/ 15 h 230"/>
                  <a:gd name="T8" fmla="*/ 225 w 230"/>
                  <a:gd name="T9" fmla="*/ 5 h 230"/>
                  <a:gd name="T10" fmla="*/ 215 w 230"/>
                  <a:gd name="T11" fmla="*/ 0 h 230"/>
                  <a:gd name="T12" fmla="*/ 204 w 230"/>
                  <a:gd name="T13" fmla="*/ 5 h 230"/>
                  <a:gd name="T14" fmla="*/ 7 w 230"/>
                  <a:gd name="T15" fmla="*/ 202 h 230"/>
                  <a:gd name="T16" fmla="*/ 0 w 230"/>
                  <a:gd name="T17" fmla="*/ 230 h 230"/>
                  <a:gd name="T18" fmla="*/ 28 w 230"/>
                  <a:gd name="T19" fmla="*/ 22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28" y="223"/>
                    </a:moveTo>
                    <a:lnTo>
                      <a:pt x="28" y="223"/>
                    </a:lnTo>
                    <a:lnTo>
                      <a:pt x="225" y="26"/>
                    </a:lnTo>
                    <a:cubicBezTo>
                      <a:pt x="228" y="23"/>
                      <a:pt x="230" y="20"/>
                      <a:pt x="230" y="15"/>
                    </a:cubicBezTo>
                    <a:cubicBezTo>
                      <a:pt x="230" y="11"/>
                      <a:pt x="228" y="8"/>
                      <a:pt x="225" y="5"/>
                    </a:cubicBezTo>
                    <a:cubicBezTo>
                      <a:pt x="222" y="2"/>
                      <a:pt x="219" y="0"/>
                      <a:pt x="215" y="0"/>
                    </a:cubicBezTo>
                    <a:cubicBezTo>
                      <a:pt x="210" y="0"/>
                      <a:pt x="207" y="2"/>
                      <a:pt x="204" y="5"/>
                    </a:cubicBezTo>
                    <a:lnTo>
                      <a:pt x="7" y="202"/>
                    </a:lnTo>
                    <a:lnTo>
                      <a:pt x="0" y="230"/>
                    </a:lnTo>
                    <a:lnTo>
                      <a:pt x="28" y="223"/>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pic>
          <p:nvPicPr>
            <p:cNvPr id="81" name="Graphic 80">
              <a:extLst>
                <a:ext uri="{FF2B5EF4-FFF2-40B4-BE49-F238E27FC236}">
                  <a16:creationId xmlns:a16="http://schemas.microsoft.com/office/drawing/2014/main" id="{4121FFF1-800A-4BAF-944E-8FB58E1427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8226" y="6094515"/>
              <a:ext cx="356633" cy="356633"/>
            </a:xfrm>
            <a:prstGeom prst="rect">
              <a:avLst/>
            </a:prstGeom>
          </p:spPr>
        </p:pic>
      </p:grpSp>
    </p:spTree>
    <p:extLst>
      <p:ext uri="{BB962C8B-B14F-4D97-AF65-F5344CB8AC3E}">
        <p14:creationId xmlns:p14="http://schemas.microsoft.com/office/powerpoint/2010/main" val="2071219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a:defPPr>
      </a:lstStyle>
    </a:txDef>
  </a:objectDefaults>
  <a:extraClrSchemeLst/>
  <a:extLst>
    <a:ext uri="{05A4C25C-085E-4340-85A3-A5531E510DB2}">
      <thm15:themeFamily xmlns:thm15="http://schemas.microsoft.com/office/thememl/2012/main" name="Dynamics 365 Product Template 2020 v06 COMPRESSED.potx" id="{6C9E57BC-CC5F-467D-812F-9B7AAB82C522}" vid="{93F3D524-A202-44F5-9EC3-C27CB8767C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æ¸¸ã‚´ã‚·ãƒƒã‚¯ Light"/>
        <a:font script="Hang" typeface="ë§‘ì�€ ê³ ë”•"/>
        <a:font script="Hans" typeface="ç­‰çº¿ Light"/>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æ¸¸ã‚´ã‚·ãƒƒã‚¯"/>
        <a:font script="Hang" typeface="ë§‘ì�€ ê³ ë”•"/>
        <a:font script="Hans" typeface="ç­‰çº¿"/>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VariableListDefinition name="AD_HOC" displayName="AD_HOC" id="e97550b5-1b12-4edf-8341-d78e046fda4a" isdomainofvalue="False" dataSourceId="18ac195c-bc59-4348-a64d-3176949d3fda"/>
</file>

<file path=customXml/item2.xml><?xml version="1.0" encoding="utf-8"?>
<VariableListDefinition name="Computed" displayName="Computed" id="afd6f535-02b3-4941-b263-8e61382778ae" isdomainofvalue="False" dataSourceId="e9c24e7a-97d1-4807-b6a1-2b258e5fc55e"/>
</file>

<file path=customXml/item3.xml><?xml version="1.0" encoding="utf-8"?>
<VariableList UniqueId="ed92e72f-9402-478a-9895-2282e36a0ed9" Name="System" ContentType="XML" MajorVersion="0" MinorVersion="1" isLocalCopy="False" IsBaseObject="False" DataSourceId="586d5599-5a8b-4d7e-a929-0990095400fc" DataSourceMajorVersion="0" DataSourceMinorVersion="1"/>
</file>

<file path=customXml/item4.xml><?xml version="1.0" encoding="utf-8"?>
<ct:contentTypeSchema xmlns:ct="http://schemas.microsoft.com/office/2006/metadata/contentType" xmlns:ma="http://schemas.microsoft.com/office/2006/metadata/properties/metaAttributes" ct:_="" ma:_="" ma:contentTypeName="Document" ma:contentTypeID="0x010100DE172F73C1143D44BBDE73337703D711" ma:contentTypeVersion="10" ma:contentTypeDescription="Create a new document." ma:contentTypeScope="" ma:versionID="62f732499212d0c29650c452dca65868">
  <xsd:schema xmlns:xsd="http://www.w3.org/2001/XMLSchema" xmlns:xs="http://www.w3.org/2001/XMLSchema" xmlns:p="http://schemas.microsoft.com/office/2006/metadata/properties" xmlns:ns1="http://schemas.microsoft.com/sharepoint/v3" xmlns:ns2="7384b94d-22b8-4104-8f75-dc619a11ad0a" xmlns:ns3="92f52333-967b-42c0-9807-ef5e3c0b73ea" targetNamespace="http://schemas.microsoft.com/office/2006/metadata/properties" ma:root="true" ma:fieldsID="06a6b316d9338c48779d1f5863777c2e" ns1:_="" ns2:_="" ns3:_="">
    <xsd:import namespace="http://schemas.microsoft.com/sharepoint/v3"/>
    <xsd:import namespace="7384b94d-22b8-4104-8f75-dc619a11ad0a"/>
    <xsd:import namespace="92f52333-967b-42c0-9807-ef5e3c0b73ea"/>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84b94d-22b8-4104-8f75-dc619a11ad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2f52333-967b-42c0-9807-ef5e3c0b73e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VariableList UniqueId="afd6f535-02b3-4941-b263-8e61382778ae" Name="Computed" ContentType="XML" MajorVersion="0" MinorVersion="1" isLocalCopy="False" IsBaseObject="False" DataSourceId="e9c24e7a-97d1-4807-b6a1-2b258e5fc55e" DataSourceMajorVersion="0" DataSourceMinorVersion="1"/>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AllExternalAdhocVariableMappings/>
</file>

<file path=customXml/item8.xml><?xml version="1.0" encoding="utf-8"?>
<VariableListDefinition name="System" displayName="System" id="ed92e72f-9402-478a-9895-2282e36a0ed9" isdomainofvalue="False" dataSourceId="586d5599-5a8b-4d7e-a929-0990095400fc"/>
</file>

<file path=customXml/item9.xml><?xml version="1.0" encoding="utf-8"?>
<VariableList UniqueId="e97550b5-1b12-4edf-8341-d78e046fda4a" Name="AD_HOC" ContentType="XML" MajorVersion="0" MinorVersion="1" isLocalCopy="False" IsBaseObject="False" DataSourceId="18ac195c-bc59-4348-a64d-3176949d3fda" DataSourceMajorVersion="0" DataSourceMinorVersion="1"/>
</file>

<file path=customXml/item10.xml><?xml version="1.0" encoding="utf-8"?>
<p:properties xmlns:p="http://schemas.microsoft.com/office/2006/metadata/properties" xmlns:xsi="http://www.w3.org/2001/XMLSchema-instance" xmlns:pc="http://schemas.microsoft.com/office/infopath/2007/PartnerControls">
  <documentManagement>
    <MediaServiceKeyPoints xmlns="7384b94d-22b8-4104-8f75-dc619a11ad0a"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B030073-95A2-4CD8-9413-9F5AC98C1C37}">
  <ds:schemaRefs/>
</ds:datastoreItem>
</file>

<file path=customXml/itemProps2.xml><?xml version="1.0" encoding="utf-8"?>
<ds:datastoreItem xmlns:ds="http://schemas.openxmlformats.org/officeDocument/2006/customXml" ds:itemID="{166CF3D4-0664-411B-8A10-A53D41D75692}">
  <ds:schemaRefs/>
</ds:datastoreItem>
</file>

<file path=customXml/itemProps3.xml><?xml version="1.0" encoding="utf-8"?>
<ds:datastoreItem xmlns:ds="http://schemas.openxmlformats.org/officeDocument/2006/customXml" ds:itemID="{1C1DF4CF-0633-4C43-B14E-A7653BFBC4DC}">
  <ds:schemaRefs/>
</ds:datastoreItem>
</file>

<file path=customXml/itemProps4.xml><?xml version="1.0" encoding="utf-8"?>
<ds:datastoreItem xmlns:ds="http://schemas.openxmlformats.org/officeDocument/2006/customXml" ds:itemID="{D2DE9611-2D8C-42C7-88F6-EDE8A1A9B3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84b94d-22b8-4104-8f75-dc619a11ad0a"/>
    <ds:schemaRef ds:uri="92f52333-967b-42c0-9807-ef5e3c0b73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C852E20D-AE8D-4B12-AA5E-6E1D172EBE2B}">
  <ds:schemaRefs/>
</ds:datastoreItem>
</file>

<file path=customXml/itemProps6.xml><?xml version="1.0" encoding="utf-8"?>
<ds:datastoreItem xmlns:ds="http://schemas.openxmlformats.org/officeDocument/2006/customXml" ds:itemID="{A73B984D-CB8C-4320-A2A0-A2AFD272758C}">
  <ds:schemaRefs>
    <ds:schemaRef ds:uri="http://schemas.microsoft.com/sharepoint/v3/contenttype/forms"/>
  </ds:schemaRefs>
</ds:datastoreItem>
</file>

<file path=customXml/itemProps7.xml><?xml version="1.0" encoding="utf-8"?>
<ds:datastoreItem xmlns:ds="http://schemas.openxmlformats.org/officeDocument/2006/customXml" ds:itemID="{66171B20-F560-468B-8772-1972463955A4}">
  <ds:schemaRefs/>
</ds:datastoreItem>
</file>

<file path=customXml/itemProps8.xml><?xml version="1.0" encoding="utf-8"?>
<ds:datastoreItem xmlns:ds="http://schemas.openxmlformats.org/officeDocument/2006/customXml" ds:itemID="{40580169-05D7-4D02-A8EE-168DE266B849}">
  <ds:schemaRefs/>
</ds:datastoreItem>
</file>

<file path=customXml/itemProps9.xml><?xml version="1.0" encoding="utf-8"?>
<ds:datastoreItem xmlns:ds="http://schemas.openxmlformats.org/officeDocument/2006/customXml" ds:itemID="{AA6E3D0F-D96B-4809-8A15-8ED9120C1A3D}">
  <ds:schemaRefs/>
</ds:datastoreItem>
</file>

<file path=customXml/itemProps10.xml><?xml version="1.0" encoding="utf-8"?>
<ds:datastoreItem xmlns:ds="http://schemas.openxmlformats.org/officeDocument/2006/customXml" ds:itemID="{FBBD80A7-5A82-4568-BF60-274BF6EF55FA}">
  <ds:schemaRefs>
    <ds:schemaRef ds:uri="http://schemas.microsoft.com/office/2006/metadata/properties"/>
    <ds:schemaRef ds:uri="http://schemas.microsoft.com/office/infopath/2007/PartnerControls"/>
    <ds:schemaRef ds:uri="b3bc04a5-d503-43b1-b98c-a8cf663329d9"/>
    <ds:schemaRef ds:uri="230e9df3-be65-4c73-a93b-d1236ebd677e"/>
    <ds:schemaRef ds:uri="230E9DF3-BE65-4C73-A93B-D1236EBD677E"/>
    <ds:schemaRef ds:uri="http://schemas.microsoft.com/sharepoint/v3"/>
    <ds:schemaRef ds:uri="http://schemas.microsoft.com/sharepoint/v4"/>
    <ds:schemaRef ds:uri="7384b94d-22b8-4104-8f75-dc619a11ad0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573</Words>
  <Application>Microsoft Office PowerPoint</Application>
  <PresentationFormat>Widescreen</PresentationFormat>
  <Paragraphs>80</Paragraphs>
  <Slides>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vt:i4>
      </vt:variant>
    </vt:vector>
  </HeadingPairs>
  <TitlesOfParts>
    <vt:vector size="13" baseType="lpstr">
      <vt:lpstr>SegoeUI</vt:lpstr>
      <vt:lpstr>Arial</vt:lpstr>
      <vt:lpstr>Calibri</vt:lpstr>
      <vt:lpstr>Consolas</vt:lpstr>
      <vt:lpstr>Raleway</vt:lpstr>
      <vt:lpstr>Segoe UI</vt:lpstr>
      <vt:lpstr>Segoe UI Semibold</vt:lpstr>
      <vt:lpstr>Segoe UI Semilight</vt:lpstr>
      <vt:lpstr>Wingdings</vt:lpstr>
      <vt:lpstr>White Template</vt:lpstr>
      <vt:lpstr>TCO Comparison: On-Premises vs Cloud</vt:lpstr>
      <vt:lpstr>ERP business trends – cloud as the new standard</vt:lpstr>
      <vt:lpstr>Optimize workforce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 OP2OL DMP BVI - $1000M Company Size</dc:title>
  <dc:creator/>
  <cp:lastModifiedBy/>
  <cp:revision>7</cp:revision>
  <dcterms:created xsi:type="dcterms:W3CDTF">2019-06-21T10:12:22Z</dcterms:created>
  <dcterms:modified xsi:type="dcterms:W3CDTF">2021-09-22T03:14:25Z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0x010100DE172F73C1143D44BBDE73337703D711</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byates@microsoft.com</vt:lpwstr>
  </property>
  <property fmtid="{D5CDD505-2E9C-101B-9397-08002B2CF9AE}" pid="6" name="MSIP_Label_f42aa342-8706-4288-bd11-ebb85995028c_SetDate">
    <vt:lpwstr>2019-08-21T12:41:16.1913362Z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ActionId">
    <vt:lpwstr>894757b5-a69b-4f9f-8ec7-894cf19ec16e</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y fmtid="{D5CDD505-2E9C-101B-9397-08002B2CF9AE}" pid="12" name="NewsType">
    <vt:lpwstr/>
  </property>
  <property fmtid="{D5CDD505-2E9C-101B-9397-08002B2CF9AE}" pid="13" name="TaxKeyword">
    <vt:lpwstr/>
  </property>
  <property fmtid="{D5CDD505-2E9C-101B-9397-08002B2CF9AE}" pid="14" name="_dlc_policyId">
    <vt:lpwstr>0x0101000E4CB7077FEE4FF7AE86D4A500EEC780030016C849C62B10EB41ACA8C7EEDEF40BB20099ECF64382448D48A56095091C66B1A9|-661092312</vt:lpwstr>
  </property>
  <property fmtid="{D5CDD505-2E9C-101B-9397-08002B2CF9AE}" pid="15" name="Region">
    <vt:lpwstr/>
  </property>
  <property fmtid="{D5CDD505-2E9C-101B-9397-08002B2CF9AE}" pid="16" name="Confidentiality">
    <vt:lpwstr>14;#customer ready|8986c41d-21c5-4f8f-8a12-ea4625b46858</vt:lpwstr>
  </property>
  <property fmtid="{D5CDD505-2E9C-101B-9397-08002B2CF9AE}" pid="17" name="ItemType">
    <vt:lpwstr>3075;#documents|e037ed84-7d8e-4cbb-9c8f-61e80301a44f</vt:lpwstr>
  </property>
  <property fmtid="{D5CDD505-2E9C-101B-9397-08002B2CF9AE}" pid="18" name="Industries">
    <vt:lpwstr/>
  </property>
  <property fmtid="{D5CDD505-2E9C-101B-9397-08002B2CF9AE}" pid="19" name="MSProducts">
    <vt:lpwstr/>
  </property>
  <property fmtid="{D5CDD505-2E9C-101B-9397-08002B2CF9AE}" pid="20" name="Competitors">
    <vt:lpwstr/>
  </property>
  <property fmtid="{D5CDD505-2E9C-101B-9397-08002B2CF9AE}" pid="21" name="ExperienceContentType">
    <vt:lpwstr/>
  </property>
  <property fmtid="{D5CDD505-2E9C-101B-9397-08002B2CF9AE}" pid="22" name="SMSGDomain">
    <vt:lpwstr>2548;#Business Applications Domain|610af3f5-b43d-455a-97a7-f917993f5652</vt:lpwstr>
  </property>
  <property fmtid="{D5CDD505-2E9C-101B-9397-08002B2CF9AE}" pid="23" name="BusinessArchitecture">
    <vt:lpwstr/>
  </property>
  <property fmtid="{D5CDD505-2E9C-101B-9397-08002B2CF9AE}" pid="24" name="Products">
    <vt:lpwstr>1914;#Dynamics 365|c2a9df9f-196f-4107-bcef-47e3624d0e98</vt:lpwstr>
  </property>
  <property fmtid="{D5CDD505-2E9C-101B-9397-08002B2CF9AE}" pid="25" name="l6f004f21209409da86a713c0f24627d">
    <vt:lpwstr/>
  </property>
  <property fmtid="{D5CDD505-2E9C-101B-9397-08002B2CF9AE}" pid="26" name="MSProductsTaxHTField0">
    <vt:lpwstr/>
  </property>
  <property fmtid="{D5CDD505-2E9C-101B-9397-08002B2CF9AE}" pid="27" name="_docset_NoMedatataSyncRequired">
    <vt:lpwstr>False</vt:lpwstr>
  </property>
  <property fmtid="{D5CDD505-2E9C-101B-9397-08002B2CF9AE}" pid="28" name="e8080b0481964c759b2c36ae49591b31">
    <vt:lpwstr/>
  </property>
  <property fmtid="{D5CDD505-2E9C-101B-9397-08002B2CF9AE}" pid="29" name="TechnicalLevel">
    <vt:lpwstr/>
  </property>
  <property fmtid="{D5CDD505-2E9C-101B-9397-08002B2CF9AE}" pid="30" name="Audiences">
    <vt:lpwstr/>
  </property>
  <property fmtid="{D5CDD505-2E9C-101B-9397-08002B2CF9AE}" pid="31" name="SMSG Items">
    <vt:lpwstr/>
  </property>
  <property fmtid="{D5CDD505-2E9C-101B-9397-08002B2CF9AE}" pid="32" name="Solution Areas">
    <vt:lpwstr>3477;#Business Applications|bc6a3471-5036-4c6f-8724-05bc21271c2e</vt:lpwstr>
  </property>
  <property fmtid="{D5CDD505-2E9C-101B-9397-08002B2CF9AE}" pid="33" name="ldac8aee9d1f469e8cd8c3f8d6a615f2">
    <vt:lpwstr/>
  </property>
  <property fmtid="{D5CDD505-2E9C-101B-9397-08002B2CF9AE}" pid="34" name="EmployeeRole">
    <vt:lpwstr/>
  </property>
  <property fmtid="{D5CDD505-2E9C-101B-9397-08002B2CF9AE}" pid="35" name="NewsTopic">
    <vt:lpwstr/>
  </property>
  <property fmtid="{D5CDD505-2E9C-101B-9397-08002B2CF9AE}" pid="36" name="Roles">
    <vt:lpwstr/>
  </property>
  <property fmtid="{D5CDD505-2E9C-101B-9397-08002B2CF9AE}" pid="37" name="ItemRetentionFormula">
    <vt:lpwstr>&lt;formula id="Microsoft.Office.RecordsManagement.PolicyFeatures.Expiration.Formula.BuiltIn"&gt;&lt;number&gt;0&lt;/number&gt;&lt;property&gt;Expire_x005f_x0020_Review&lt;/property&gt;&lt;propertyId&gt;4efb7b69-53dd-4711-a372-96a7c80c7a38&lt;/propertyId&gt;&lt;period&gt;days&lt;/period&gt;&lt;/formula&gt;</vt:lpwstr>
  </property>
  <property fmtid="{D5CDD505-2E9C-101B-9397-08002B2CF9AE}" pid="38" name="NewsSource">
    <vt:lpwstr/>
  </property>
  <property fmtid="{D5CDD505-2E9C-101B-9397-08002B2CF9AE}" pid="39" name="MSProfessions">
    <vt:lpwstr/>
  </property>
  <property fmtid="{D5CDD505-2E9C-101B-9397-08002B2CF9AE}" pid="40" name="SMSGTags">
    <vt:lpwstr/>
  </property>
  <property fmtid="{D5CDD505-2E9C-101B-9397-08002B2CF9AE}" pid="41" name="_dlc_DocIdItemGuid">
    <vt:lpwstr>8ea7c45d-45f4-4b39-96ae-5fba5afc311a</vt:lpwstr>
  </property>
  <property fmtid="{D5CDD505-2E9C-101B-9397-08002B2CF9AE}" pid="42" name="MSPhysicalGeography">
    <vt:lpwstr/>
  </property>
  <property fmtid="{D5CDD505-2E9C-101B-9397-08002B2CF9AE}" pid="43" name="j3562c58ee414e028925bc902cfc01a1">
    <vt:lpwstr/>
  </property>
  <property fmtid="{D5CDD505-2E9C-101B-9397-08002B2CF9AE}" pid="44" name="EnterpriseDomainTags">
    <vt:lpwstr/>
  </property>
  <property fmtid="{D5CDD505-2E9C-101B-9397-08002B2CF9AE}" pid="45" name="Segments">
    <vt:lpwstr/>
  </property>
  <property fmtid="{D5CDD505-2E9C-101B-9397-08002B2CF9AE}" pid="46" name="la4444b61d19467597d63190b69ac227">
    <vt:lpwstr/>
  </property>
  <property fmtid="{D5CDD505-2E9C-101B-9397-08002B2CF9AE}" pid="47" name="Partners">
    <vt:lpwstr/>
  </property>
  <property fmtid="{D5CDD505-2E9C-101B-9397-08002B2CF9AE}" pid="48" name="ActivitiesAndPrograms">
    <vt:lpwstr/>
  </property>
  <property fmtid="{D5CDD505-2E9C-101B-9397-08002B2CF9AE}" pid="49" name="Groups">
    <vt:lpwstr/>
  </property>
  <property fmtid="{D5CDD505-2E9C-101B-9397-08002B2CF9AE}" pid="50" name="Topics">
    <vt:lpwstr/>
  </property>
  <property fmtid="{D5CDD505-2E9C-101B-9397-08002B2CF9AE}" pid="51" name="Languages">
    <vt:lpwstr/>
  </property>
  <property fmtid="{D5CDD505-2E9C-101B-9397-08002B2CF9AE}" pid="52" name="of67e5d4b76f4a9db8769983fda9cec0">
    <vt:lpwstr/>
  </property>
</Properties>
</file>